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81"/>
  </p:notesMasterIdLst>
  <p:handoutMasterIdLst>
    <p:handoutMasterId r:id="rId82"/>
  </p:handoutMasterIdLst>
  <p:sldIdLst>
    <p:sldId id="256" r:id="rId2"/>
    <p:sldId id="387" r:id="rId3"/>
    <p:sldId id="388" r:id="rId4"/>
    <p:sldId id="389" r:id="rId5"/>
    <p:sldId id="390" r:id="rId6"/>
    <p:sldId id="391" r:id="rId7"/>
    <p:sldId id="392" r:id="rId8"/>
    <p:sldId id="393" r:id="rId9"/>
    <p:sldId id="394" r:id="rId10"/>
    <p:sldId id="395" r:id="rId11"/>
    <p:sldId id="396" r:id="rId12"/>
    <p:sldId id="397" r:id="rId13"/>
    <p:sldId id="398" r:id="rId14"/>
    <p:sldId id="399" r:id="rId15"/>
    <p:sldId id="400" r:id="rId16"/>
    <p:sldId id="459" r:id="rId17"/>
    <p:sldId id="460" r:id="rId18"/>
    <p:sldId id="461" r:id="rId19"/>
    <p:sldId id="462" r:id="rId20"/>
    <p:sldId id="469" r:id="rId21"/>
    <p:sldId id="463" r:id="rId22"/>
    <p:sldId id="464" r:id="rId23"/>
    <p:sldId id="401" r:id="rId24"/>
    <p:sldId id="465" r:id="rId25"/>
    <p:sldId id="466" r:id="rId26"/>
    <p:sldId id="402" r:id="rId27"/>
    <p:sldId id="403" r:id="rId28"/>
    <p:sldId id="404" r:id="rId29"/>
    <p:sldId id="405" r:id="rId30"/>
    <p:sldId id="406" r:id="rId31"/>
    <p:sldId id="407" r:id="rId32"/>
    <p:sldId id="408" r:id="rId33"/>
    <p:sldId id="409" r:id="rId34"/>
    <p:sldId id="410" r:id="rId35"/>
    <p:sldId id="458" r:id="rId36"/>
    <p:sldId id="411" r:id="rId37"/>
    <p:sldId id="414" r:id="rId38"/>
    <p:sldId id="415" r:id="rId39"/>
    <p:sldId id="417" r:id="rId40"/>
    <p:sldId id="418" r:id="rId41"/>
    <p:sldId id="419" r:id="rId42"/>
    <p:sldId id="421" r:id="rId43"/>
    <p:sldId id="422" r:id="rId44"/>
    <p:sldId id="423" r:id="rId45"/>
    <p:sldId id="424" r:id="rId46"/>
    <p:sldId id="426" r:id="rId47"/>
    <p:sldId id="427" r:id="rId48"/>
    <p:sldId id="428" r:id="rId49"/>
    <p:sldId id="429" r:id="rId50"/>
    <p:sldId id="430" r:id="rId51"/>
    <p:sldId id="431" r:id="rId52"/>
    <p:sldId id="433" r:id="rId53"/>
    <p:sldId id="434" r:id="rId54"/>
    <p:sldId id="435" r:id="rId55"/>
    <p:sldId id="436" r:id="rId56"/>
    <p:sldId id="437" r:id="rId57"/>
    <p:sldId id="438" r:id="rId58"/>
    <p:sldId id="439" r:id="rId59"/>
    <p:sldId id="440" r:id="rId60"/>
    <p:sldId id="441" r:id="rId61"/>
    <p:sldId id="442" r:id="rId62"/>
    <p:sldId id="443" r:id="rId63"/>
    <p:sldId id="444" r:id="rId64"/>
    <p:sldId id="445" r:id="rId65"/>
    <p:sldId id="446" r:id="rId66"/>
    <p:sldId id="447" r:id="rId67"/>
    <p:sldId id="467" r:id="rId68"/>
    <p:sldId id="468" r:id="rId69"/>
    <p:sldId id="448" r:id="rId70"/>
    <p:sldId id="449" r:id="rId71"/>
    <p:sldId id="450" r:id="rId72"/>
    <p:sldId id="451" r:id="rId73"/>
    <p:sldId id="452" r:id="rId74"/>
    <p:sldId id="453" r:id="rId75"/>
    <p:sldId id="454" r:id="rId76"/>
    <p:sldId id="455" r:id="rId77"/>
    <p:sldId id="457" r:id="rId78"/>
    <p:sldId id="456" r:id="rId79"/>
    <p:sldId id="384" r:id="rId80"/>
  </p:sldIdLst>
  <p:sldSz cx="9144000" cy="5143500" type="screen16x9"/>
  <p:notesSz cx="6858000" cy="9144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seCell>
      <a:tcStyle>
        <a:tcBdr/>
      </a:tcStyle>
    </a:seCell>
    <a:swCell>
      <a:tcStyle>
        <a:tcBdr/>
      </a:tcStyle>
    </a:swCell>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neCell>
      <a:tcStyle>
        <a:tcBdr/>
      </a:tcStyle>
    </a:neCell>
    <a:nwCell>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seCell>
      <a:tcStyle>
        <a:tcBdr/>
      </a:tcStyle>
    </a:seCell>
    <a:swCell>
      <a:tcStyle>
        <a:tcBdr/>
      </a:tcStyle>
    </a:swCell>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neCell>
      <a:tcStyle>
        <a:tcBdr/>
      </a:tcStyle>
    </a:neCell>
    <a:nwCell>
      <a:tcStyle>
        <a:tcBdr/>
      </a:tcStyle>
    </a:nw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2H>
      <a:tcStyle>
        <a:tcBdr/>
      </a:tcStyle>
    </a:band2H>
    <a:band1V>
      <a:tcStyle>
        <a:tcBdr/>
        <a:fill>
          <a:solidFill>
            <a:schemeClr val="lt1">
              <a:alpha val="20000"/>
            </a:schemeClr>
          </a:solidFill>
        </a:fill>
      </a:tcStyle>
    </a:band1V>
    <a:band2V>
      <a:tcStyle>
        <a:tcBdr/>
      </a:tcStyle>
    </a:band2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nwCell>
      <a:tcStyle>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2H>
      <a:tcStyle>
        <a:tcBdr/>
      </a:tcStyle>
    </a:band2H>
    <a:band1V>
      <a:tcStyle>
        <a:tcBdr/>
        <a:fill>
          <a:solidFill>
            <a:schemeClr val="lt1">
              <a:alpha val="20000"/>
            </a:schemeClr>
          </a:solidFill>
        </a:fill>
      </a:tcStyle>
    </a:band1V>
    <a:band2V>
      <a:tcStyle>
        <a:tcBdr/>
      </a:tcStyle>
    </a:band2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nwCell>
      <a:tcStyle>
        <a:tcBdr/>
      </a:tcStyle>
    </a:nwCell>
  </a:tblStyle>
  <a:tblStyle styleId="{5C22544A-7EE6-4342-B048-85BDC9FD1C3A}" styleName="Medium Style 2 - Accent 1">
    <a:wholeTbl>
      <a:tcTxStyle>
        <a:fontRef idx="minor">
          <a:scrgbClr r="0" g="0" b="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fontRef idx="minor">
          <a:scrgbClr r="0" g="0" b="0"/>
        </a:fontRef>
        <a:schemeClr val="lt1"/>
      </a:tcTxStyle>
      <a:tcStyle>
        <a:tcBdr>
          <a:top>
            <a:ln w="38100" cmpd="sng">
              <a:solidFill>
                <a:schemeClr val="lt1"/>
              </a:solidFill>
            </a:ln>
          </a:top>
        </a:tcBdr>
        <a:fill>
          <a:solidFill>
            <a:schemeClr val="accent1"/>
          </a:solidFill>
        </a:fill>
      </a:tcStyle>
    </a:lastRow>
    <a:seCell>
      <a:tcStyle>
        <a:tcBdr/>
      </a:tcStyle>
    </a:seCell>
    <a:swCell>
      <a:tcStyle>
        <a:tcBdr/>
      </a:tcStyle>
    </a:swCell>
    <a:firstRow>
      <a:tcTxStyle b="on">
        <a:fontRef idx="minor">
          <a:scrgbClr r="0" g="0" b="0"/>
        </a:fontRef>
        <a:schemeClr val="lt1"/>
      </a:tcTxStyle>
      <a:tcStyle>
        <a:tcBdr>
          <a:bottom>
            <a:ln w="38100" cmpd="sng">
              <a:solidFill>
                <a:schemeClr val="lt1"/>
              </a:solidFill>
            </a:ln>
          </a:bottom>
        </a:tcBdr>
        <a:fill>
          <a:solidFill>
            <a:schemeClr val="accent1"/>
          </a:solidFill>
        </a:fill>
      </a:tcStyle>
    </a:firstRow>
    <a:neCell>
      <a:tcStyle>
        <a:tcBdr/>
      </a:tcStyle>
    </a:neCell>
    <a:nwCell>
      <a:tcStyle>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2H>
      <a:tcStyle>
        <a:tcBdr/>
      </a:tcStyle>
    </a:band2H>
    <a:band1V>
      <a:tcStyle>
        <a:tcBdr/>
        <a:fill>
          <a:solidFill>
            <a:schemeClr val="lt1">
              <a:alpha val="20000"/>
            </a:schemeClr>
          </a:solidFill>
        </a:fill>
      </a:tcStyle>
    </a:band1V>
    <a:band2V>
      <a:tcStyle>
        <a:tcBdr/>
      </a:tcStyle>
    </a:band2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nwCell>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seCell>
      <a:tcStyle>
        <a:tcBdr/>
      </a:tcStyle>
    </a:seCell>
    <a:swCell>
      <a:tcStyle>
        <a:tcBdr/>
      </a:tcStyle>
    </a:swCell>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82" autoAdjust="0"/>
    <p:restoredTop sz="94660"/>
  </p:normalViewPr>
  <p:slideViewPr>
    <p:cSldViewPr>
      <p:cViewPr varScale="1">
        <p:scale>
          <a:sx n="84" d="100"/>
          <a:sy n="84" d="100"/>
        </p:scale>
        <p:origin x="920" y="44"/>
      </p:cViewPr>
      <p:guideLst>
        <p:guide orient="horz" pos="1620"/>
        <p:guide pos="2880"/>
      </p:guideLst>
    </p:cSldViewPr>
  </p:slideViewPr>
  <p:notesTextViewPr>
    <p:cViewPr>
      <p:scale>
        <a:sx n="100" d="100"/>
        <a:sy n="100" d="100"/>
      </p:scale>
      <p:origin x="0" y="0"/>
    </p:cViewPr>
  </p:notesTextViewPr>
  <p:sorterViewPr>
    <p:cViewPr>
      <p:scale>
        <a:sx n="66" d="100"/>
        <a:sy n="66" d="100"/>
      </p:scale>
      <p:origin x="0" y="1194"/>
    </p:cViewPr>
  </p:sorterViewPr>
  <p:notesViewPr>
    <p:cSldViewPr>
      <p:cViewPr varScale="1">
        <p:scale>
          <a:sx n="85" d="100"/>
          <a:sy n="85" d="100"/>
        </p:scale>
        <p:origin x="-383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B6F3811-3886-461B-BA9A-433F64E2E23C}" type="datetimeFigureOut">
              <a:rPr lang="en-CA" smtClean="0"/>
              <a:pPr/>
              <a:t>2025-07-10</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08431A1-7979-419F-9025-DB938923247C}" type="slidenum">
              <a:rPr lang="en-CA" smtClean="0"/>
              <a:pPr/>
              <a:t>‹#›</a:t>
            </a:fld>
            <a:endParaRPr lang="en-CA"/>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extLst/>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extLst/>
          </a:lstStyle>
          <a:p>
            <a:fld id="{C238408C-6839-46EE-8131-EDA75C487F2E}" type="datetimeFigureOut">
              <a:rPr lang="en-US" smtClean="0"/>
              <a:pPr/>
              <a:t>7/10/2025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extLst/>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extLst/>
          </a:lstStyle>
          <a:p>
            <a:fld id="{87D77045-401A-4D5E-BFE3-54C21A8A6634}" type="slidenum">
              <a:rPr lang="en-US" smtClean="0"/>
              <a:pPr/>
              <a:t>‹#›</a:t>
            </a:fld>
            <a:endParaRPr lang="en-US"/>
          </a:p>
        </p:txBody>
      </p:sp>
    </p:spTree>
    <p:extLst>
      <p:ext uri="{BB962C8B-B14F-4D97-AF65-F5344CB8AC3E}">
        <p14:creationId xmlns:p14="http://schemas.microsoft.com/office/powerpoint/2010/main" val="2068132026"/>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7D77045-401A-4D5E-BFE3-54C21A8A663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Rot="1" noChangeAspect="1" noChangeArrowheads="1" noTextEdit="1"/>
          </p:cNvSpPr>
          <p:nvPr>
            <p:ph type="sldImg"/>
          </p:nvPr>
        </p:nvSpPr>
        <p:spPr>
          <a:xfrm>
            <a:off x="2428875" y="695325"/>
            <a:ext cx="0" cy="0"/>
          </a:xfrm>
        </p:spPr>
      </p:sp>
      <p:sp>
        <p:nvSpPr>
          <p:cNvPr id="232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Rot="1" noChangeAspect="1" noChangeArrowheads="1" noTextEdit="1"/>
          </p:cNvSpPr>
          <p:nvPr>
            <p:ph type="sldImg"/>
          </p:nvPr>
        </p:nvSpPr>
        <p:spPr>
          <a:xfrm>
            <a:off x="2428875" y="695325"/>
            <a:ext cx="0" cy="0"/>
          </a:xfrm>
        </p:spPr>
      </p:sp>
      <p:sp>
        <p:nvSpPr>
          <p:cNvPr id="233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spect="1" noChangeArrowheads="1" noTextEdit="1"/>
          </p:cNvSpPr>
          <p:nvPr>
            <p:ph type="sldImg"/>
          </p:nvPr>
        </p:nvSpPr>
        <p:spPr>
          <a:xfrm>
            <a:off x="2428875" y="695325"/>
            <a:ext cx="0" cy="0"/>
          </a:xfrm>
        </p:spPr>
      </p:sp>
      <p:sp>
        <p:nvSpPr>
          <p:cNvPr id="234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Rot="1" noChangeAspect="1" noChangeArrowheads="1" noTextEdit="1"/>
          </p:cNvSpPr>
          <p:nvPr>
            <p:ph type="sldImg"/>
          </p:nvPr>
        </p:nvSpPr>
        <p:spPr>
          <a:xfrm>
            <a:off x="2428875" y="695325"/>
            <a:ext cx="0" cy="0"/>
          </a:xfrm>
        </p:spPr>
      </p:sp>
      <p:sp>
        <p:nvSpPr>
          <p:cNvPr id="235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Rot="1" noChangeAspect="1" noChangeArrowheads="1" noTextEdit="1"/>
          </p:cNvSpPr>
          <p:nvPr>
            <p:ph type="sldImg"/>
          </p:nvPr>
        </p:nvSpPr>
        <p:spPr>
          <a:xfrm>
            <a:off x="2428875" y="695325"/>
            <a:ext cx="0" cy="0"/>
          </a:xfrm>
        </p:spPr>
      </p:sp>
      <p:sp>
        <p:nvSpPr>
          <p:cNvPr id="236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a:xfrm>
            <a:off x="2428875" y="695325"/>
            <a:ext cx="0" cy="0"/>
          </a:xfrm>
        </p:spPr>
      </p:sp>
      <p:sp>
        <p:nvSpPr>
          <p:cNvPr id="237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Rot="1" noChangeAspect="1" noChangeArrowheads="1" noTextEdit="1"/>
          </p:cNvSpPr>
          <p:nvPr>
            <p:ph type="sldImg"/>
          </p:nvPr>
        </p:nvSpPr>
        <p:spPr>
          <a:xfrm>
            <a:off x="2428875" y="695325"/>
            <a:ext cx="0" cy="0"/>
          </a:xfrm>
        </p:spPr>
      </p:sp>
      <p:sp>
        <p:nvSpPr>
          <p:cNvPr id="261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ChangeArrowheads="1" noTextEdit="1"/>
          </p:cNvSpPr>
          <p:nvPr>
            <p:ph type="sldImg"/>
          </p:nvPr>
        </p:nvSpPr>
        <p:spPr>
          <a:xfrm>
            <a:off x="2428875" y="695325"/>
            <a:ext cx="0" cy="0"/>
          </a:xfrm>
        </p:spPr>
      </p:sp>
      <p:sp>
        <p:nvSpPr>
          <p:cNvPr id="264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Rot="1" noChangeAspect="1" noChangeArrowheads="1" noTextEdit="1"/>
          </p:cNvSpPr>
          <p:nvPr>
            <p:ph type="sldImg"/>
          </p:nvPr>
        </p:nvSpPr>
        <p:spPr>
          <a:xfrm>
            <a:off x="2428875" y="695325"/>
            <a:ext cx="0" cy="0"/>
          </a:xfrm>
        </p:spPr>
      </p:sp>
      <p:sp>
        <p:nvSpPr>
          <p:cNvPr id="266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Rot="1" noChangeAspect="1" noChangeArrowheads="1" noTextEdit="1"/>
          </p:cNvSpPr>
          <p:nvPr>
            <p:ph type="sldImg"/>
          </p:nvPr>
        </p:nvSpPr>
        <p:spPr>
          <a:xfrm>
            <a:off x="2428875" y="695325"/>
            <a:ext cx="0" cy="0"/>
          </a:xfrm>
        </p:spPr>
      </p:sp>
      <p:sp>
        <p:nvSpPr>
          <p:cNvPr id="268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Rot="1" noChangeAspect="1" noChangeArrowheads="1" noTextEdit="1"/>
          </p:cNvSpPr>
          <p:nvPr>
            <p:ph type="sldImg"/>
          </p:nvPr>
        </p:nvSpPr>
        <p:spPr>
          <a:xfrm>
            <a:off x="2428875" y="695325"/>
            <a:ext cx="0" cy="0"/>
          </a:xfrm>
        </p:spPr>
      </p:sp>
      <p:sp>
        <p:nvSpPr>
          <p:cNvPr id="270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Rot="1" noChangeAspect="1" noChangeArrowheads="1" noTextEdit="1"/>
          </p:cNvSpPr>
          <p:nvPr>
            <p:ph type="sldImg"/>
          </p:nvPr>
        </p:nvSpPr>
        <p:spPr>
          <a:xfrm>
            <a:off x="2428875" y="695325"/>
            <a:ext cx="0" cy="0"/>
          </a:xfrm>
        </p:spPr>
      </p:sp>
      <p:sp>
        <p:nvSpPr>
          <p:cNvPr id="275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spect="1" noChangeArrowheads="1" noTextEdit="1"/>
          </p:cNvSpPr>
          <p:nvPr>
            <p:ph type="sldImg"/>
          </p:nvPr>
        </p:nvSpPr>
        <p:spPr>
          <a:xfrm>
            <a:off x="2428875" y="695325"/>
            <a:ext cx="0" cy="0"/>
          </a:xfrm>
        </p:spPr>
      </p:sp>
      <p:sp>
        <p:nvSpPr>
          <p:cNvPr id="273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a:xfrm>
            <a:off x="2428875" y="695325"/>
            <a:ext cx="0" cy="0"/>
          </a:xfrm>
        </p:spPr>
      </p:sp>
      <p:sp>
        <p:nvSpPr>
          <p:cNvPr id="27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Rot="1" noChangeAspect="1" noChangeArrowheads="1" noTextEdit="1"/>
          </p:cNvSpPr>
          <p:nvPr>
            <p:ph type="sldImg"/>
          </p:nvPr>
        </p:nvSpPr>
        <p:spPr>
          <a:xfrm>
            <a:off x="2428875" y="695325"/>
            <a:ext cx="0" cy="0"/>
          </a:xfrm>
        </p:spPr>
      </p:sp>
      <p:sp>
        <p:nvSpPr>
          <p:cNvPr id="282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Rot="1" noChangeAspect="1" noChangeArrowheads="1" noTextEdit="1"/>
          </p:cNvSpPr>
          <p:nvPr>
            <p:ph type="sldImg"/>
          </p:nvPr>
        </p:nvSpPr>
        <p:spPr>
          <a:xfrm>
            <a:off x="2428875" y="695325"/>
            <a:ext cx="0" cy="0"/>
          </a:xfrm>
        </p:spPr>
      </p:sp>
      <p:sp>
        <p:nvSpPr>
          <p:cNvPr id="280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spect="1" noChangeArrowheads="1" noTextEdit="1"/>
          </p:cNvSpPr>
          <p:nvPr>
            <p:ph type="sldImg"/>
          </p:nvPr>
        </p:nvSpPr>
        <p:spPr>
          <a:xfrm>
            <a:off x="2428875" y="695325"/>
            <a:ext cx="0" cy="0"/>
          </a:xfrm>
        </p:spPr>
      </p:sp>
      <p:sp>
        <p:nvSpPr>
          <p:cNvPr id="284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Rot="1" noChangeAspect="1" noChangeArrowheads="1" noTextEdit="1"/>
          </p:cNvSpPr>
          <p:nvPr>
            <p:ph type="sldImg"/>
          </p:nvPr>
        </p:nvSpPr>
        <p:spPr>
          <a:xfrm>
            <a:off x="2428875" y="695325"/>
            <a:ext cx="0" cy="0"/>
          </a:xfrm>
        </p:spPr>
      </p:sp>
      <p:sp>
        <p:nvSpPr>
          <p:cNvPr id="286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Rot="1" noChangeAspect="1" noChangeArrowheads="1" noTextEdit="1"/>
          </p:cNvSpPr>
          <p:nvPr>
            <p:ph type="sldImg"/>
          </p:nvPr>
        </p:nvSpPr>
        <p:spPr>
          <a:xfrm>
            <a:off x="2428875" y="695325"/>
            <a:ext cx="0" cy="0"/>
          </a:xfrm>
        </p:spPr>
      </p:sp>
      <p:sp>
        <p:nvSpPr>
          <p:cNvPr id="288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spect="1" noChangeArrowheads="1" noTextEdit="1"/>
          </p:cNvSpPr>
          <p:nvPr>
            <p:ph type="sldImg"/>
          </p:nvPr>
        </p:nvSpPr>
        <p:spPr>
          <a:xfrm>
            <a:off x="2428875" y="695325"/>
            <a:ext cx="0" cy="0"/>
          </a:xfrm>
        </p:spPr>
      </p:sp>
      <p:sp>
        <p:nvSpPr>
          <p:cNvPr id="29081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28" name="Date Placeholder 27"/>
          <p:cNvSpPr>
            <a:spLocks noGrp="1"/>
          </p:cNvSpPr>
          <p:nvPr>
            <p:ph type="dt" sz="half" idx="10"/>
          </p:nvPr>
        </p:nvSpPr>
        <p:spPr>
          <a:xfrm>
            <a:off x="6477000" y="4812507"/>
            <a:ext cx="2133600" cy="273844"/>
          </a:xfrm>
        </p:spPr>
        <p:txBody>
          <a:bodyPr/>
          <a:lstStyle/>
          <a:p>
            <a:fld id="{743653DA-8BF4-4869-96FE-9BCF43372D46}" type="datetimeFigureOut">
              <a:rPr lang="en-US" smtClean="0"/>
              <a:pPr/>
              <a:t>7/10/2025</a:t>
            </a:fld>
            <a:endParaRPr lang="en-US"/>
          </a:p>
        </p:txBody>
      </p:sp>
      <p:sp>
        <p:nvSpPr>
          <p:cNvPr id="17" name="Footer Placeholder 16"/>
          <p:cNvSpPr>
            <a:spLocks noGrp="1"/>
          </p:cNvSpPr>
          <p:nvPr>
            <p:ph type="ftr" sz="quarter" idx="11"/>
          </p:nvPr>
        </p:nvSpPr>
        <p:spPr>
          <a:xfrm>
            <a:off x="914400" y="4812507"/>
            <a:ext cx="5562600" cy="273844"/>
          </a:xfrm>
        </p:spPr>
        <p:txBody>
          <a:bodyPr/>
          <a:lstStyle/>
          <a:p>
            <a:endParaRPr lang="en-US" dirty="0"/>
          </a:p>
        </p:txBody>
      </p:sp>
      <p:sp>
        <p:nvSpPr>
          <p:cNvPr id="29" name="Slide Number Placeholder 28"/>
          <p:cNvSpPr>
            <a:spLocks noGrp="1"/>
          </p:cNvSpPr>
          <p:nvPr>
            <p:ph type="sldNum" sz="quarter" idx="12"/>
          </p:nvPr>
        </p:nvSpPr>
        <p:spPr>
          <a:xfrm>
            <a:off x="8610600" y="4812507"/>
            <a:ext cx="457200" cy="273844"/>
          </a:xfrm>
        </p:spPr>
        <p:txBody>
          <a:bodyPr/>
          <a:lstStyle/>
          <a:p>
            <a:fld id="{72AC53DF-4216-466D-99A7-94400E6C2A25}" type="slidenum">
              <a:rPr lang="en-US" smtClean="0"/>
              <a:pPr/>
              <a:t>‹#›</a:t>
            </a:fld>
            <a:endParaRPr lang="en-US"/>
          </a:p>
        </p:txBody>
      </p:sp>
      <p:sp>
        <p:nvSpPr>
          <p:cNvPr id="8" name="Title 7"/>
          <p:cNvSpPr>
            <a:spLocks noGrp="1"/>
          </p:cNvSpPr>
          <p:nvPr>
            <p:ph type="ctrTitle"/>
          </p:nvPr>
        </p:nvSpPr>
        <p:spPr>
          <a:xfrm>
            <a:off x="179512" y="348378"/>
            <a:ext cx="8507288" cy="580644"/>
          </a:xfrm>
        </p:spPr>
        <p:txBody>
          <a:bodyPr/>
          <a:lstStyle>
            <a:lvl1pPr marR="9144" algn="r">
              <a:defRPr sz="3800"/>
            </a:lvl1pPr>
            <a:extLst/>
          </a:lstStyle>
          <a:p>
            <a:r>
              <a:rPr lang="en-US"/>
              <a:t>Click to edit Master title style</a:t>
            </a:r>
            <a:endParaRPr lang="en-US" dirty="0"/>
          </a:p>
        </p:txBody>
      </p:sp>
      <p:sp>
        <p:nvSpPr>
          <p:cNvPr id="9" name="Subtitle 8"/>
          <p:cNvSpPr>
            <a:spLocks noGrp="1"/>
          </p:cNvSpPr>
          <p:nvPr>
            <p:ph type="subTitle" idx="1"/>
          </p:nvPr>
        </p:nvSpPr>
        <p:spPr>
          <a:xfrm>
            <a:off x="4838382" y="1028700"/>
            <a:ext cx="3848419" cy="342900"/>
          </a:xfrm>
        </p:spPr>
        <p:txBody>
          <a:bodyPr tIns="0"/>
          <a:lstStyle>
            <a:lvl1pPr marL="0" indent="0" algn="r">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30" name="TextBox 29"/>
          <p:cNvSpPr txBox="1"/>
          <p:nvPr userDrawn="1"/>
        </p:nvSpPr>
        <p:spPr>
          <a:xfrm>
            <a:off x="179512" y="4840003"/>
            <a:ext cx="4464496" cy="276999"/>
          </a:xfrm>
          <a:prstGeom prst="rect">
            <a:avLst/>
          </a:prstGeom>
          <a:noFill/>
        </p:spPr>
        <p:txBody>
          <a:bodyPr wrap="square" rtlCol="0">
            <a:spAutoFit/>
          </a:bodyPr>
          <a:lstStyle/>
          <a:p>
            <a:pPr algn="l"/>
            <a:r>
              <a:rPr lang="en-CA" sz="1200" dirty="0"/>
              <a:t>INFO3111 mfeeney@fanshawec.ca</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7129108-AC8D-4212-9283-60D9E99BF07A}" type="datetimeFigureOut">
              <a:rPr lang="en-US" smtClean="0"/>
              <a:pPr/>
              <a:t>7/10/2025</a:t>
            </a:fld>
            <a:endParaRPr lang="en-US"/>
          </a:p>
        </p:txBody>
      </p:sp>
      <p:sp>
        <p:nvSpPr>
          <p:cNvPr id="5" name="Footer Placeholder 4"/>
          <p:cNvSpPr>
            <a:spLocks noGrp="1"/>
          </p:cNvSpPr>
          <p:nvPr>
            <p:ph type="ftr" sz="quarter" idx="11"/>
          </p:nvPr>
        </p:nvSpPr>
        <p:spPr>
          <a:xfrm>
            <a:off x="899592" y="4407954"/>
            <a:ext cx="5562600" cy="273844"/>
          </a:xfrm>
        </p:spPr>
        <p:txBody>
          <a:bodyPr/>
          <a:lstStyle/>
          <a:p>
            <a:endParaRPr lang="en-US" dirty="0"/>
          </a:p>
        </p:txBody>
      </p:sp>
      <p:sp>
        <p:nvSpPr>
          <p:cNvPr id="6" name="Slide Number Placeholder 5"/>
          <p:cNvSpPr>
            <a:spLocks noGrp="1"/>
          </p:cNvSpPr>
          <p:nvPr>
            <p:ph type="sldNum" sz="quarter" idx="12"/>
          </p:nvPr>
        </p:nvSpPr>
        <p:spPr/>
        <p:txBody>
          <a:bodyPr/>
          <a:lstStyle/>
          <a:p>
            <a:fld id="{1AD93096-5B34-4342-9326-69289CEAE4C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2514600"/>
            <a:ext cx="7772400" cy="1480544"/>
          </a:xfrm>
        </p:spPr>
        <p:txBody>
          <a:bodyPr anchor="b">
            <a:scene3d>
              <a:camera prst="orthographicFront">
                <a:rot lat="0" lon="0" rev="0"/>
              </a:camera>
              <a:lightRig rig="contrasting" dir="t">
                <a:rot lat="0" lon="0" rev="7500000"/>
              </a:lightRig>
            </a:scene3d>
            <a:sp3d contourW="6350" prstMaterial="metal">
              <a:bevelT w="130810" h="31750" prst="relaxedInset"/>
              <a:contourClr>
                <a:schemeClr val="accent1">
                  <a:shade val="75000"/>
                </a:schemeClr>
              </a:contourClr>
            </a:sp3d>
          </a:bodyPr>
          <a:lstStyle>
            <a:lvl1pPr algn="l">
              <a:buNone/>
              <a:defRPr lang="en-US" sz="4000" b="1" cap="all" dirty="0">
                <a:ln/>
                <a:solidFill>
                  <a:schemeClr val="tx1"/>
                </a:solidFill>
                <a:effectLst>
                  <a:reflection blurRad="12700" stA="50000" endPos="50000" dir="5400000" sy="-100000" rotWithShape="0"/>
                </a:effectLst>
              </a:defRPr>
            </a:lvl1pPr>
            <a:extLst/>
          </a:lstStyle>
          <a:p>
            <a:r>
              <a:rPr lang="en-US"/>
              <a:t>Click to edit Master title style</a:t>
            </a:r>
            <a:endParaRPr lang="en-US" dirty="0"/>
          </a:p>
        </p:txBody>
      </p:sp>
      <p:sp>
        <p:nvSpPr>
          <p:cNvPr id="3" name="Text Placeholder 2"/>
          <p:cNvSpPr>
            <a:spLocks noGrp="1"/>
          </p:cNvSpPr>
          <p:nvPr>
            <p:ph type="body" idx="1"/>
          </p:nvPr>
        </p:nvSpPr>
        <p:spPr>
          <a:xfrm>
            <a:off x="914400" y="4000500"/>
            <a:ext cx="7772400" cy="789384"/>
          </a:xfrm>
        </p:spPr>
        <p:txBody>
          <a:bodyPr anchor="t"/>
          <a:lstStyle>
            <a:lvl1pPr marL="374904">
              <a:buNone/>
              <a:defRPr sz="20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4" name="Date Placeholder 3"/>
          <p:cNvSpPr>
            <a:spLocks noGrp="1"/>
          </p:cNvSpPr>
          <p:nvPr>
            <p:ph type="dt" sz="half" idx="10"/>
          </p:nvPr>
        </p:nvSpPr>
        <p:spPr/>
        <p:txBody>
          <a:bodyPr/>
          <a:lstStyle/>
          <a:p>
            <a:fld id="{B6DED3D3-6235-4F4C-B439-DF277FB555A7}" type="datetimeFigureOut">
              <a:rPr lang="en-US" smtClean="0"/>
              <a:pPr/>
              <a:t>7/10/2025</a:t>
            </a:fld>
            <a:endParaRPr lang="en-US"/>
          </a:p>
        </p:txBody>
      </p:sp>
      <p:sp>
        <p:nvSpPr>
          <p:cNvPr id="5" name="Footer Placeholder 4"/>
          <p:cNvSpPr>
            <a:spLocks noGrp="1"/>
          </p:cNvSpPr>
          <p:nvPr>
            <p:ph type="ftr" sz="quarter" idx="11"/>
          </p:nvPr>
        </p:nvSpPr>
        <p:spPr>
          <a:xfrm>
            <a:off x="914400" y="4812507"/>
            <a:ext cx="5562600" cy="273844"/>
          </a:xfrm>
        </p:spPr>
        <p:txBody>
          <a:bodyPr/>
          <a:lstStyle/>
          <a:p>
            <a:endParaRPr lang="en-US"/>
          </a:p>
        </p:txBody>
      </p:sp>
      <p:sp>
        <p:nvSpPr>
          <p:cNvPr id="6" name="Slide Number Placeholder 5"/>
          <p:cNvSpPr>
            <a:spLocks noGrp="1"/>
          </p:cNvSpPr>
          <p:nvPr>
            <p:ph type="sldNum" sz="quarter" idx="12"/>
          </p:nvPr>
        </p:nvSpPr>
        <p:spPr/>
        <p:txBody>
          <a:bodyPr/>
          <a:lstStyle/>
          <a:p>
            <a:fld id="{1AD93096-5B34-4342-9326-69289CEAE4C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7163"/>
            <a:ext cx="8229600" cy="971550"/>
          </a:xfrm>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464344" y="1200151"/>
            <a:ext cx="4038600" cy="3394472"/>
          </a:xfrm>
        </p:spPr>
        <p:txBody>
          <a:bodyPr/>
          <a:lstStyle>
            <a:lvl1pPr marL="0" indent="0">
              <a:buFontTx/>
              <a:buNone/>
              <a:defRPr sz="2000"/>
            </a:lvl1pPr>
            <a:lvl2pPr>
              <a:defRPr sz="2400"/>
            </a:lvl2pPr>
            <a:lvl3pPr>
              <a:defRPr sz="2000"/>
            </a:lvl3pPr>
            <a:lvl4pPr>
              <a:defRPr sz="1800"/>
            </a:lvl4pPr>
            <a:lvl5pPr>
              <a:defRPr sz="1800"/>
            </a:lvl5pPr>
            <a:extLst/>
          </a:lstStyle>
          <a:p>
            <a:pPr lvl="0"/>
            <a:r>
              <a:rPr lang="en-US"/>
              <a:t>Click to edit Master text styles</a:t>
            </a:r>
          </a:p>
        </p:txBody>
      </p:sp>
      <p:sp>
        <p:nvSpPr>
          <p:cNvPr id="4" name="Content Placeholder 3"/>
          <p:cNvSpPr>
            <a:spLocks noGrp="1"/>
          </p:cNvSpPr>
          <p:nvPr>
            <p:ph sz="half" idx="2"/>
          </p:nvPr>
        </p:nvSpPr>
        <p:spPr>
          <a:xfrm>
            <a:off x="4655344" y="1200151"/>
            <a:ext cx="4038600" cy="3394472"/>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5F1E3E-4B2F-4895-B65E-28B2E64F39F6}" type="datetimeFigureOut">
              <a:rPr lang="en-US" smtClean="0"/>
              <a:pPr/>
              <a:t>7/10/2025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D93096-5B34-4342-9326-69289CEAE4C2}" type="slidenum">
              <a:rPr lang="en-US" smtClean="0"/>
              <a:pPr/>
              <a:t>‹#›</a:t>
            </a:fld>
            <a:endParaRPr lang="en-US"/>
          </a:p>
        </p:txBody>
      </p:sp>
      <p:cxnSp>
        <p:nvCxnSpPr>
          <p:cNvPr id="9" name="Straight Connector 8"/>
          <p:cNvCxnSpPr/>
          <p:nvPr/>
        </p:nvCxnSpPr>
        <p:spPr>
          <a:xfrm rot="5400000">
            <a:off x="2871782" y="2900158"/>
            <a:ext cx="3400425" cy="1601"/>
          </a:xfrm>
          <a:prstGeom prst="line">
            <a:avLst/>
          </a:prstGeom>
          <a:ln/>
        </p:spPr>
        <p:style>
          <a:lnRef idx="1">
            <a:schemeClr val="accent2"/>
          </a:lnRef>
          <a:fillRef idx="0">
            <a:schemeClr val="accent2"/>
          </a:fillRef>
          <a:effectRef idx="0">
            <a:schemeClr val="accent2"/>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04824" y="384048"/>
            <a:ext cx="7772400" cy="685800"/>
          </a:xfrm>
        </p:spPr>
        <p:txBody>
          <a:bodyPr anchor="t"/>
          <a:lstStyle>
            <a:lvl1pPr>
              <a:defRPr sz="4000"/>
            </a:lvl1pPr>
            <a:extLst/>
          </a:lstStyle>
          <a:p>
            <a:r>
              <a:rPr lang="en-US"/>
              <a:t>Click to edit Master title style</a:t>
            </a:r>
            <a:endParaRPr lang="en-US" dirty="0"/>
          </a:p>
        </p:txBody>
      </p:sp>
      <p:sp>
        <p:nvSpPr>
          <p:cNvPr id="3" name="Text Placeholder 2"/>
          <p:cNvSpPr>
            <a:spLocks noGrp="1"/>
          </p:cNvSpPr>
          <p:nvPr>
            <p:ph type="body" idx="1"/>
          </p:nvPr>
        </p:nvSpPr>
        <p:spPr>
          <a:xfrm>
            <a:off x="457200" y="1357312"/>
            <a:ext cx="4040188" cy="47982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2"/>
          </p:nvPr>
        </p:nvSpPr>
        <p:spPr>
          <a:xfrm>
            <a:off x="4645026" y="1357312"/>
            <a:ext cx="4041775" cy="47982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3"/>
          </p:nvPr>
        </p:nvSpPr>
        <p:spPr>
          <a:xfrm>
            <a:off x="457200" y="1844278"/>
            <a:ext cx="4040188" cy="2969514"/>
          </a:xfrm>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6" y="1844278"/>
            <a:ext cx="4041775" cy="2969514"/>
          </a:xfrm>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085435-8225-4333-BFFA-0096413F0D76}" type="datetimeFigureOut">
              <a:rPr lang="en-US" smtClean="0"/>
              <a:pPr/>
              <a:t>7/10/2025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D93096-5B34-4342-9326-69289CEAE4C2}" type="slidenum">
              <a:rPr lang="en-US" smtClean="0"/>
              <a:pPr/>
              <a:t>‹#›</a:t>
            </a:fld>
            <a:endParaRPr lang="en-US"/>
          </a:p>
        </p:txBody>
      </p:sp>
      <p:sp>
        <p:nvSpPr>
          <p:cNvPr id="24" name="TextBox 23"/>
          <p:cNvSpPr txBox="1"/>
          <p:nvPr userDrawn="1"/>
        </p:nvSpPr>
        <p:spPr>
          <a:xfrm>
            <a:off x="899592" y="4840003"/>
            <a:ext cx="3744416" cy="276999"/>
          </a:xfrm>
          <a:prstGeom prst="rect">
            <a:avLst/>
          </a:prstGeom>
          <a:noFill/>
        </p:spPr>
        <p:txBody>
          <a:bodyPr wrap="square" rtlCol="0">
            <a:spAutoFit/>
          </a:bodyPr>
          <a:lstStyle/>
          <a:p>
            <a:pPr algn="l"/>
            <a:r>
              <a:rPr lang="en-CA" sz="1200" dirty="0"/>
              <a:t>INFO3111 mfeeney@fanshawec.ca</a:t>
            </a:r>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384048"/>
            <a:ext cx="7772400" cy="685800"/>
          </a:xfrm>
        </p:spPr>
        <p:txBody>
          <a:bodyPr/>
          <a:lstStyle>
            <a:lvl1pPr>
              <a:defRPr sz="4000" cap="none" baseline="0"/>
            </a:lvl1pPr>
            <a:extLst/>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83C494-2A87-468C-A21B-CB14FB9ABB00}" type="datetimeFigureOut">
              <a:rPr lang="en-US" smtClean="0"/>
              <a:pPr/>
              <a:t>7/10/2025</a:t>
            </a:fld>
            <a:endParaRPr lang="en-US"/>
          </a:p>
        </p:txBody>
      </p:sp>
      <p:sp>
        <p:nvSpPr>
          <p:cNvPr id="5" name="Slide Number Placeholder 4"/>
          <p:cNvSpPr>
            <a:spLocks noGrp="1"/>
          </p:cNvSpPr>
          <p:nvPr>
            <p:ph type="sldNum" sz="quarter" idx="12"/>
          </p:nvPr>
        </p:nvSpPr>
        <p:spPr/>
        <p:txBody>
          <a:bodyPr/>
          <a:lstStyle/>
          <a:p>
            <a:fld id="{1AD93096-5B34-4342-9326-69289CEAE4C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180FA0-5B31-4864-A2BB-719EA5A679C6}" type="datetimeFigureOut">
              <a:rPr lang="en-US" smtClean="0"/>
              <a:pPr/>
              <a:t>7/10/2025</a:t>
            </a:fld>
            <a:endParaRPr lang="en-US"/>
          </a:p>
        </p:txBody>
      </p:sp>
      <p:sp>
        <p:nvSpPr>
          <p:cNvPr id="4" name="Slide Number Placeholder 3"/>
          <p:cNvSpPr>
            <a:spLocks noGrp="1"/>
          </p:cNvSpPr>
          <p:nvPr>
            <p:ph type="sldNum" sz="quarter" idx="12"/>
          </p:nvPr>
        </p:nvSpPr>
        <p:spPr/>
        <p:txBody>
          <a:bodyPr/>
          <a:lstStyle/>
          <a:p>
            <a:fld id="{1AD93096-5B34-4342-9326-69289CEAE4C2}" type="slidenum">
              <a:rPr lang="en-US" smtClean="0"/>
              <a:pPr/>
              <a:t>‹#›</a:t>
            </a:fld>
            <a:endParaRPr lang="en-US"/>
          </a:p>
        </p:txBody>
      </p:sp>
      <p:sp>
        <p:nvSpPr>
          <p:cNvPr id="5" name="TextBox 4"/>
          <p:cNvSpPr txBox="1"/>
          <p:nvPr userDrawn="1"/>
        </p:nvSpPr>
        <p:spPr>
          <a:xfrm>
            <a:off x="899592" y="4840003"/>
            <a:ext cx="3744416" cy="276999"/>
          </a:xfrm>
          <a:prstGeom prst="rect">
            <a:avLst/>
          </a:prstGeom>
          <a:noFill/>
        </p:spPr>
        <p:txBody>
          <a:bodyPr wrap="square" rtlCol="0">
            <a:spAutoFit/>
          </a:bodyPr>
          <a:lstStyle/>
          <a:p>
            <a:pPr algn="l"/>
            <a:r>
              <a:rPr lang="en-CA" sz="1200" dirty="0"/>
              <a:t>INFO3111 mfeeney@fanshawec.ca</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04787"/>
            <a:ext cx="8229600" cy="871538"/>
          </a:xfrm>
        </p:spPr>
        <p:txBody>
          <a:bodyPr anchor="ctr"/>
          <a:lstStyle>
            <a:lvl1pPr algn="l">
              <a:buNone/>
              <a:defRPr sz="3600" b="0"/>
            </a:lvl1pPr>
            <a:extLst/>
          </a:lstStyle>
          <a:p>
            <a:r>
              <a:rPr lang="en-US"/>
              <a:t>Click to edit Master title style</a:t>
            </a:r>
            <a:endParaRPr lang="en-US" dirty="0"/>
          </a:p>
        </p:txBody>
      </p:sp>
      <p:sp>
        <p:nvSpPr>
          <p:cNvPr id="3" name="Text Placeholder 2"/>
          <p:cNvSpPr>
            <a:spLocks noGrp="1"/>
          </p:cNvSpPr>
          <p:nvPr>
            <p:ph type="body" idx="1"/>
          </p:nvPr>
        </p:nvSpPr>
        <p:spPr>
          <a:xfrm>
            <a:off x="685800" y="1076325"/>
            <a:ext cx="2514600" cy="3429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2"/>
          </p:nvPr>
        </p:nvSpPr>
        <p:spPr>
          <a:xfrm>
            <a:off x="3429000" y="1076325"/>
            <a:ext cx="5486400" cy="3429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ECC0C8-36B8-442A-833D-B6AACE86BB77}" type="datetimeFigureOut">
              <a:rPr lang="en-US" smtClean="0"/>
              <a:pPr/>
              <a:t>7/10/2025</a:t>
            </a:fld>
            <a:endParaRPr lang="en-US"/>
          </a:p>
        </p:txBody>
      </p:sp>
      <p:sp>
        <p:nvSpPr>
          <p:cNvPr id="7" name="Slide Number Placeholder 6"/>
          <p:cNvSpPr>
            <a:spLocks noGrp="1"/>
          </p:cNvSpPr>
          <p:nvPr>
            <p:ph type="sldNum" sz="quarter" idx="12"/>
          </p:nvPr>
        </p:nvSpPr>
        <p:spPr/>
        <p:txBody>
          <a:bodyPr/>
          <a:lstStyle/>
          <a:p>
            <a:fld id="{1AD93096-5B34-4342-9326-69289CEAE4C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368032" y="0"/>
            <a:ext cx="8778240" cy="1408528"/>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cxnSp>
        <p:nvCxnSpPr>
          <p:cNvPr id="9" name="Straight Connector 8"/>
          <p:cNvCxnSpPr/>
          <p:nvPr/>
        </p:nvCxnSpPr>
        <p:spPr>
          <a:xfrm flipV="1">
            <a:off x="363195" y="1413771"/>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28" name="Group 17"/>
          <p:cNvGrpSpPr/>
          <p:nvPr/>
        </p:nvGrpSpPr>
        <p:grpSpPr>
          <a:xfrm rot="5400000">
            <a:off x="8531177" y="898342"/>
            <a:ext cx="99572"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914400" y="171450"/>
            <a:ext cx="6858000" cy="685800"/>
          </a:xfrm>
        </p:spPr>
        <p:txBody>
          <a:bodyPr anchor="b"/>
          <a:lstStyle>
            <a:lvl1pPr algn="l">
              <a:buNone/>
              <a:defRPr sz="2100" b="0"/>
            </a:lvl1pPr>
            <a:extLst/>
          </a:lstStyle>
          <a:p>
            <a:r>
              <a:rPr lang="en-US"/>
              <a:t>Click to edit Master title style</a:t>
            </a:r>
            <a:endParaRPr lang="en-US" dirty="0"/>
          </a:p>
        </p:txBody>
      </p:sp>
      <p:sp>
        <p:nvSpPr>
          <p:cNvPr id="3" name="Picture Placeholder 2"/>
          <p:cNvSpPr>
            <a:spLocks noGrp="1"/>
          </p:cNvSpPr>
          <p:nvPr>
            <p:ph type="pic" idx="1"/>
          </p:nvPr>
        </p:nvSpPr>
        <p:spPr>
          <a:xfrm>
            <a:off x="366712" y="1428750"/>
            <a:ext cx="8778240" cy="3720108"/>
          </a:xfrm>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914400" y="862608"/>
            <a:ext cx="6858000" cy="51435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a:r>
              <a:rPr lang="en-US"/>
              <a:t>Click to edit Master text styles</a:t>
            </a:r>
          </a:p>
        </p:txBody>
      </p:sp>
      <p:grpSp>
        <p:nvGrpSpPr>
          <p:cNvPr id="14" name="Group 17"/>
          <p:cNvGrpSpPr/>
          <p:nvPr/>
        </p:nvGrpSpPr>
        <p:grpSpPr>
          <a:xfrm rot="5400000">
            <a:off x="8683577" y="1012642"/>
            <a:ext cx="99572"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36684" y="1090014"/>
            <a:ext cx="99572"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p:txBody>
          <a:bodyPr/>
          <a:lstStyle/>
          <a:p>
            <a:fld id="{51E20EC5-AC53-4169-941E-EDF10CD23748}" type="datetimeFigureOut">
              <a:rPr lang="en-US" smtClean="0"/>
              <a:pPr/>
              <a:t>7/10/2025</a:t>
            </a:fld>
            <a:endParaRPr lang="en-US"/>
          </a:p>
        </p:txBody>
      </p:sp>
      <p:sp>
        <p:nvSpPr>
          <p:cNvPr id="7" name="Slide Number Placeholder 6"/>
          <p:cNvSpPr>
            <a:spLocks noGrp="1"/>
          </p:cNvSpPr>
          <p:nvPr>
            <p:ph type="sldNum" sz="quarter" idx="12"/>
          </p:nvPr>
        </p:nvSpPr>
        <p:spPr/>
        <p:txBody>
          <a:bodyPr/>
          <a:lstStyle/>
          <a:p>
            <a:fld id="{1AD93096-5B34-4342-9326-69289CEAE4C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2" name="Rectangle 11"/>
          <p:cNvSpPr/>
          <p:nvPr/>
        </p:nvSpPr>
        <p:spPr>
          <a:xfrm>
            <a:off x="309558" y="510358"/>
            <a:ext cx="45720" cy="27432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5" name="Rectangle 14"/>
          <p:cNvSpPr/>
          <p:nvPr/>
        </p:nvSpPr>
        <p:spPr>
          <a:xfrm>
            <a:off x="269073" y="510358"/>
            <a:ext cx="27432" cy="27432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6" name="Rectangle 15"/>
          <p:cNvSpPr/>
          <p:nvPr/>
        </p:nvSpPr>
        <p:spPr>
          <a:xfrm>
            <a:off x="250020" y="510358"/>
            <a:ext cx="9144" cy="27432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7" name="Rectangle 16"/>
          <p:cNvSpPr/>
          <p:nvPr/>
        </p:nvSpPr>
        <p:spPr>
          <a:xfrm>
            <a:off x="221768" y="510358"/>
            <a:ext cx="9144" cy="27432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2" name="Title Placeholder 21"/>
          <p:cNvSpPr>
            <a:spLocks noGrp="1"/>
          </p:cNvSpPr>
          <p:nvPr>
            <p:ph type="title"/>
          </p:nvPr>
        </p:nvSpPr>
        <p:spPr>
          <a:xfrm>
            <a:off x="179512" y="384048"/>
            <a:ext cx="8507288" cy="685800"/>
          </a:xfrm>
          <a:prstGeom prst="rect">
            <a:avLst/>
          </a:prstGeom>
        </p:spPr>
        <p:txBody>
          <a:bodyPr vert="horz" anchor="t">
            <a:noAutofit/>
          </a:bodyPr>
          <a:lstStyle/>
          <a:p>
            <a:r>
              <a:rPr lang="en-US"/>
              <a:t>Click to edit Master title style</a:t>
            </a:r>
            <a:endParaRPr lang="en-US" dirty="0"/>
          </a:p>
        </p:txBody>
      </p:sp>
      <p:sp>
        <p:nvSpPr>
          <p:cNvPr id="13" name="Text Placeholder 12"/>
          <p:cNvSpPr>
            <a:spLocks noGrp="1"/>
          </p:cNvSpPr>
          <p:nvPr>
            <p:ph type="body" idx="1"/>
          </p:nvPr>
        </p:nvSpPr>
        <p:spPr>
          <a:xfrm>
            <a:off x="179512" y="1337670"/>
            <a:ext cx="8507288" cy="342900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477000" y="4812507"/>
            <a:ext cx="2133600" cy="273844"/>
          </a:xfrm>
          <a:prstGeom prst="rect">
            <a:avLst/>
          </a:prstGeom>
        </p:spPr>
        <p:txBody>
          <a:bodyPr vert="horz" anchor="b"/>
          <a:lstStyle>
            <a:lvl1pPr algn="l">
              <a:defRPr sz="1100">
                <a:solidFill>
                  <a:schemeClr val="tx2"/>
                </a:solidFill>
              </a:defRPr>
            </a:lvl1pPr>
            <a:extLst/>
          </a:lstStyle>
          <a:p>
            <a:fld id="{8D3816DF-213E-421B-92D3-C068DBB023D6}" type="datetimeFigureOut">
              <a:rPr lang="en-US" smtClean="0">
                <a:solidFill>
                  <a:schemeClr val="tx2"/>
                </a:solidFill>
              </a:rPr>
              <a:pPr/>
              <a:t>7/10/2025</a:t>
            </a:fld>
            <a:endParaRPr lang="en-US" sz="1100" dirty="0">
              <a:solidFill>
                <a:schemeClr val="tx2"/>
              </a:solidFill>
            </a:endParaRPr>
          </a:p>
        </p:txBody>
      </p:sp>
      <p:sp>
        <p:nvSpPr>
          <p:cNvPr id="3" name="Footer Placeholder 2"/>
          <p:cNvSpPr>
            <a:spLocks noGrp="1"/>
          </p:cNvSpPr>
          <p:nvPr>
            <p:ph type="ftr" sz="quarter" idx="3"/>
          </p:nvPr>
        </p:nvSpPr>
        <p:spPr>
          <a:xfrm>
            <a:off x="179512" y="4812507"/>
            <a:ext cx="6297488" cy="273844"/>
          </a:xfrm>
          <a:prstGeom prst="rect">
            <a:avLst/>
          </a:prstGeom>
        </p:spPr>
        <p:txBody>
          <a:bodyPr vert="horz" anchor="b"/>
          <a:lstStyle>
            <a:lvl1pPr algn="r">
              <a:defRPr sz="1100">
                <a:solidFill>
                  <a:schemeClr val="tx2"/>
                </a:solidFill>
              </a:defRPr>
            </a:lvl1pPr>
            <a:extLst/>
          </a:lstStyle>
          <a:p>
            <a:pPr algn="r"/>
            <a:endParaRPr lang="en-US" sz="1100" dirty="0">
              <a:solidFill>
                <a:schemeClr val="tx2"/>
              </a:solidFill>
            </a:endParaRPr>
          </a:p>
        </p:txBody>
      </p:sp>
      <p:sp>
        <p:nvSpPr>
          <p:cNvPr id="23" name="Slide Number Placeholder 22"/>
          <p:cNvSpPr>
            <a:spLocks noGrp="1"/>
          </p:cNvSpPr>
          <p:nvPr>
            <p:ph type="sldNum" sz="quarter" idx="4"/>
          </p:nvPr>
        </p:nvSpPr>
        <p:spPr>
          <a:xfrm>
            <a:off x="8610600" y="4812507"/>
            <a:ext cx="457200" cy="273844"/>
          </a:xfrm>
          <a:prstGeom prst="rect">
            <a:avLst/>
          </a:prstGeom>
        </p:spPr>
        <p:txBody>
          <a:bodyPr vert="horz" anchor="b"/>
          <a:lstStyle>
            <a:lvl1pPr algn="l">
              <a:defRPr sz="1200">
                <a:solidFill>
                  <a:schemeClr val="tx2"/>
                </a:solidFill>
              </a:defRPr>
            </a:lvl1pPr>
            <a:extLst/>
          </a:lstStyle>
          <a:p>
            <a:pPr algn="l"/>
            <a:fld id="{72AC53DF-4216-466D-99A7-94400E6C2A25}" type="slidenum">
              <a:rPr lang="en-US" sz="1200" smtClean="0">
                <a:solidFill>
                  <a:schemeClr val="tx2"/>
                </a:solidFill>
              </a:rPr>
              <a:pPr algn="l"/>
              <a:t>‹#›</a:t>
            </a:fld>
            <a:endParaRPr lang="en-US" sz="1200">
              <a:solidFill>
                <a:schemeClr val="tx2"/>
              </a:solidFill>
            </a:endParaRPr>
          </a:p>
        </p:txBody>
      </p:sp>
      <p:sp>
        <p:nvSpPr>
          <p:cNvPr id="18" name="TextBox 17"/>
          <p:cNvSpPr txBox="1"/>
          <p:nvPr/>
        </p:nvSpPr>
        <p:spPr>
          <a:xfrm>
            <a:off x="179512" y="4866501"/>
            <a:ext cx="3744416" cy="276999"/>
          </a:xfrm>
          <a:prstGeom prst="rect">
            <a:avLst/>
          </a:prstGeom>
          <a:noFill/>
        </p:spPr>
        <p:txBody>
          <a:bodyPr wrap="square" rtlCol="0">
            <a:spAutoFit/>
          </a:bodyPr>
          <a:lstStyle/>
          <a:p>
            <a:pPr algn="l"/>
            <a:r>
              <a:rPr lang="en-CA" sz="1200" dirty="0"/>
              <a:t>INFO3111 mfeeney@fanshawec.ca</a:t>
            </a: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rtl="0" eaLnBrk="1" latinLnBrk="0" hangingPunct="1">
        <a:spcBef>
          <a:spcPct val="0"/>
        </a:spcBef>
        <a:buNone/>
        <a:defRPr sz="4000" kern="1200" spc="-150" baseline="0">
          <a:solidFill>
            <a:schemeClr val="tx2">
              <a:satMod val="200000"/>
            </a:schemeClr>
          </a:solidFill>
          <a:effectLst>
            <a:outerShdw blurRad="50800" dist="50800" dir="2700000" algn="tl" rotWithShape="0">
              <a:srgbClr val="000000">
                <a:alpha val="43137"/>
              </a:srgbClr>
            </a:outerShdw>
          </a:effectLst>
          <a:latin typeface="+mj-lt"/>
          <a:ea typeface="+mj-ea"/>
          <a:cs typeface="+mj-cs"/>
        </a:defRPr>
      </a:lvl1pPr>
      <a:extLst/>
    </p:titleStyle>
    <p:bodyStyle>
      <a:lvl1pPr marL="411480" indent="-342900" algn="l" rtl="0" eaLnBrk="1" latinLnBrk="0" hangingPunct="1">
        <a:spcBef>
          <a:spcPts val="700"/>
        </a:spcBef>
        <a:buSzPct val="95000"/>
        <a:buFont typeface="Wingdings"/>
        <a:buChar char=""/>
        <a:defRPr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sz="1600" kern="120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hyperlink" Target="http://www.lpi.usra.edu/publications/slidesets/hawaiivolcanoes/images/hawaii24.jpg" TargetMode="External"/><Relationship Id="rId7" Type="http://schemas.openxmlformats.org/officeDocument/2006/relationships/hyperlink" Target="http://artblart.files.wordpress.com/2009/05/neil-armstrong-astronaut-buzz-aldrin-lunar-module-pilot-walks-on-the-surface-of-the-moon-near-the-leg-of-the-lunar-module-lm-1969.jp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hyperlink" Target="http://www.indopia.in/resources/images/original/Moon-surface.jpg" TargetMode="Externa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8" Type="http://schemas.openxmlformats.org/officeDocument/2006/relationships/hyperlink" Target="http://www.flickr.com/photos/elephanttrunkz/3634779796/" TargetMode="External"/><Relationship Id="rId3" Type="http://schemas.openxmlformats.org/officeDocument/2006/relationships/hyperlink" Target="http://www.flickr.com/photos/peter_hasselbom/183617995/" TargetMode="External"/><Relationship Id="rId7"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1.jpeg"/></Relationships>
</file>

<file path=ppt/slides/_rels/slide10.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hyperlink" Target="http://images.google.ca/images?hl=en&amp;source=hp&amp;q=transformers&amp;um=1&amp;ie=UTF-8&amp;sa=N&amp;tab=wi" TargetMode="External"/><Relationship Id="rId7" Type="http://schemas.openxmlformats.org/officeDocument/2006/relationships/hyperlink" Target="http://store.apple.com/Catalog/US/Images/lm_altview_tl733.jp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hyperlink" Target="http://img.funtasticus.com/2008/apr/cars1448/cars001.jpg" TargetMode="External"/><Relationship Id="rId10" Type="http://schemas.openxmlformats.org/officeDocument/2006/relationships/image" Target="../media/image15.jpeg"/><Relationship Id="rId4" Type="http://schemas.openxmlformats.org/officeDocument/2006/relationships/image" Target="../media/image12.jpeg"/><Relationship Id="rId9" Type="http://schemas.openxmlformats.org/officeDocument/2006/relationships/hyperlink" Target="http://theignitionpoint.co.uk/wp-content/uploads/2009/08/Car-Advertisements-for-TV-thumbnail.jp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p:cNvSpPr>
          <p:nvPr>
            <p:ph type="title"/>
          </p:nvPr>
        </p:nvSpPr>
        <p:spPr>
          <a:xfrm>
            <a:off x="827584" y="1635646"/>
            <a:ext cx="7772400" cy="1480544"/>
          </a:xfrm>
        </p:spPr>
        <p:txBody>
          <a:bodyPr/>
          <a:lstStyle/>
          <a:p>
            <a:r>
              <a:rPr lang="en-CA" dirty="0"/>
              <a:t>INFO3111: </a:t>
            </a:r>
            <a:r>
              <a:rPr lang="en-CA" sz="3200" dirty="0"/>
              <a:t>C++ Graphics</a:t>
            </a:r>
            <a:endParaRPr lang="en-US" dirty="0"/>
          </a:p>
        </p:txBody>
      </p:sp>
      <p:sp>
        <p:nvSpPr>
          <p:cNvPr id="5" name="Rectangle 4"/>
          <p:cNvSpPr>
            <a:spLocks noGrp="1"/>
          </p:cNvSpPr>
          <p:nvPr>
            <p:ph type="body" idx="1"/>
          </p:nvPr>
        </p:nvSpPr>
        <p:spPr>
          <a:xfrm>
            <a:off x="971600" y="3543858"/>
            <a:ext cx="7776864" cy="1296144"/>
          </a:xfrm>
        </p:spPr>
        <p:txBody>
          <a:bodyPr>
            <a:normAutofit/>
          </a:bodyPr>
          <a:lstStyle/>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a:t>Day 5</a:t>
            </a:r>
            <a:endParaRPr lang="en-US" b="1" dirty="0"/>
          </a:p>
          <a:p>
            <a:pPr>
              <a:lnSpc>
                <a:spcPct val="90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dirty="0"/>
              <a:t>Lighting (part 1 of….)</a:t>
            </a:r>
          </a:p>
          <a:p>
            <a:pPr>
              <a:lnSpc>
                <a:spcPct val="90000"/>
              </a:lnSpc>
              <a:buFont typeface="Wingdings" pitchFamily="2" charset="2"/>
              <a:buChar char="n"/>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4" name="WordArt 4"/>
          <p:cNvSpPr>
            <a:spLocks noChangeArrowheads="1" noChangeShapeType="1" noTextEdit="1"/>
          </p:cNvSpPr>
          <p:nvPr/>
        </p:nvSpPr>
        <p:spPr bwMode="auto">
          <a:xfrm>
            <a:off x="609600" y="1428750"/>
            <a:ext cx="8077200" cy="2171700"/>
          </a:xfrm>
          <a:prstGeom prst="rect">
            <a:avLst/>
          </a:prstGeom>
        </p:spPr>
        <p:txBody>
          <a:bodyPr wrap="none" fromWordArt="1">
            <a:prstTxWarp prst="textPlain">
              <a:avLst>
                <a:gd name="adj" fmla="val 50000"/>
              </a:avLst>
            </a:prstTxWarp>
          </a:bodyPr>
          <a:lstStyle/>
          <a:p>
            <a:pPr algn="ctr"/>
            <a:r>
              <a:rPr lang="en-CA" sz="3600" kern="1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a:rPr>
              <a:t>The "Normal"</a:t>
            </a:r>
          </a:p>
        </p:txBody>
      </p:sp>
      <p:sp>
        <p:nvSpPr>
          <p:cNvPr id="215045"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15044"/>
                                        </p:tgtEl>
                                        <p:attrNameLst>
                                          <p:attrName>style.visibility</p:attrName>
                                        </p:attrNameLst>
                                      </p:cBhvr>
                                      <p:to>
                                        <p:strVal val="visible"/>
                                      </p:to>
                                    </p:set>
                                    <p:animEffect transition="in" filter="checkerboard(across)">
                                      <p:cBhvr>
                                        <p:cTn id="7" dur="500"/>
                                        <p:tgtEl>
                                          <p:spTgt spid="215044"/>
                                        </p:tgtEl>
                                      </p:cBhvr>
                                    </p:animEffect>
                                  </p:childTnLst>
                                </p:cTn>
                              </p:par>
                            </p:childTnLst>
                          </p:cTn>
                        </p:par>
                        <p:par>
                          <p:cTn id="8" fill="hold">
                            <p:stCondLst>
                              <p:cond delay="500"/>
                            </p:stCondLst>
                            <p:childTnLst>
                              <p:par>
                                <p:cTn id="9" presetID="27" presetClass="emph" presetSubtype="0" fill="hold" grpId="1" nodeType="afterEffect">
                                  <p:stCondLst>
                                    <p:cond delay="500"/>
                                  </p:stCondLst>
                                  <p:childTnLst>
                                    <p:animClr clrSpc="rgb" dir="cw">
                                      <p:cBhvr override="childStyle">
                                        <p:cTn id="10" dur="250" autoRev="1" fill="hold"/>
                                        <p:tgtEl>
                                          <p:spTgt spid="215044"/>
                                        </p:tgtEl>
                                        <p:attrNameLst>
                                          <p:attrName>style.color</p:attrName>
                                        </p:attrNameLst>
                                      </p:cBhvr>
                                      <p:to>
                                        <a:schemeClr val="bg1"/>
                                      </p:to>
                                    </p:animClr>
                                    <p:animClr clrSpc="rgb" dir="cw">
                                      <p:cBhvr>
                                        <p:cTn id="11" dur="250" autoRev="1" fill="hold"/>
                                        <p:tgtEl>
                                          <p:spTgt spid="215044"/>
                                        </p:tgtEl>
                                        <p:attrNameLst>
                                          <p:attrName>fillcolor</p:attrName>
                                        </p:attrNameLst>
                                      </p:cBhvr>
                                      <p:to>
                                        <a:schemeClr val="bg1"/>
                                      </p:to>
                                    </p:animClr>
                                    <p:set>
                                      <p:cBhvr>
                                        <p:cTn id="12" dur="250" autoRev="1" fill="hold"/>
                                        <p:tgtEl>
                                          <p:spTgt spid="215044"/>
                                        </p:tgtEl>
                                        <p:attrNameLst>
                                          <p:attrName>fill.type</p:attrName>
                                        </p:attrNameLst>
                                      </p:cBhvr>
                                      <p:to>
                                        <p:strVal val="solid"/>
                                      </p:to>
                                    </p:set>
                                    <p:set>
                                      <p:cBhvr>
                                        <p:cTn id="13" dur="250" autoRev="1" fill="hold"/>
                                        <p:tgtEl>
                                          <p:spTgt spid="215044"/>
                                        </p:tgtEl>
                                        <p:attrNameLst>
                                          <p:attrName>fill.on</p:attrName>
                                        </p:attrNameLst>
                                      </p:cBhvr>
                                      <p:to>
                                        <p:strVal val="true"/>
                                      </p:to>
                                    </p:set>
                                  </p:childTnLst>
                                </p:cTn>
                              </p:par>
                            </p:childTnLst>
                          </p:cTn>
                        </p:par>
                        <p:par>
                          <p:cTn id="14" fill="hold">
                            <p:stCondLst>
                              <p:cond delay="1500"/>
                            </p:stCondLst>
                            <p:childTnLst>
                              <p:par>
                                <p:cTn id="15" presetID="37" presetClass="exit" presetSubtype="0" fill="hold" grpId="2" nodeType="afterEffect">
                                  <p:stCondLst>
                                    <p:cond delay="500"/>
                                  </p:stCondLst>
                                  <p:childTnLst>
                                    <p:animEffect transition="out" filter="fade">
                                      <p:cBhvr>
                                        <p:cTn id="16" dur="1000"/>
                                        <p:tgtEl>
                                          <p:spTgt spid="215044"/>
                                        </p:tgtEl>
                                      </p:cBhvr>
                                    </p:animEffect>
                                    <p:anim calcmode="lin" valueType="num">
                                      <p:cBhvr>
                                        <p:cTn id="17" dur="1000"/>
                                        <p:tgtEl>
                                          <p:spTgt spid="215044"/>
                                        </p:tgtEl>
                                        <p:attrNameLst>
                                          <p:attrName>ppt_x</p:attrName>
                                        </p:attrNameLst>
                                      </p:cBhvr>
                                      <p:tavLst>
                                        <p:tav tm="0">
                                          <p:val>
                                            <p:strVal val="ppt_x"/>
                                          </p:val>
                                        </p:tav>
                                        <p:tav tm="100000">
                                          <p:val>
                                            <p:strVal val="ppt_x"/>
                                          </p:val>
                                        </p:tav>
                                      </p:tavLst>
                                    </p:anim>
                                    <p:anim calcmode="lin" valueType="num">
                                      <p:cBhvr>
                                        <p:cTn id="18" dur="100" decel="100000"/>
                                        <p:tgtEl>
                                          <p:spTgt spid="215044"/>
                                        </p:tgtEl>
                                        <p:attrNameLst>
                                          <p:attrName>ppt_y</p:attrName>
                                        </p:attrNameLst>
                                      </p:cBhvr>
                                      <p:tavLst>
                                        <p:tav tm="0">
                                          <p:val>
                                            <p:strVal val="ppt_y"/>
                                          </p:val>
                                        </p:tav>
                                        <p:tav tm="100000">
                                          <p:val>
                                            <p:strVal val="ppt_y-.03"/>
                                          </p:val>
                                        </p:tav>
                                      </p:tavLst>
                                    </p:anim>
                                    <p:anim calcmode="lin" valueType="num">
                                      <p:cBhvr>
                                        <p:cTn id="19" dur="900" accel="100000">
                                          <p:stCondLst>
                                            <p:cond delay="100"/>
                                          </p:stCondLst>
                                        </p:cTn>
                                        <p:tgtEl>
                                          <p:spTgt spid="215044"/>
                                        </p:tgtEl>
                                        <p:attrNameLst>
                                          <p:attrName>ppt_y</p:attrName>
                                        </p:attrNameLst>
                                      </p:cBhvr>
                                      <p:tavLst>
                                        <p:tav tm="0">
                                          <p:val>
                                            <p:strVal val="ppt_y"/>
                                          </p:val>
                                        </p:tav>
                                        <p:tav tm="100000">
                                          <p:val>
                                            <p:strVal val="ppt_y+1"/>
                                          </p:val>
                                        </p:tav>
                                      </p:tavLst>
                                    </p:anim>
                                    <p:set>
                                      <p:cBhvr>
                                        <p:cTn id="20" dur="1" fill="hold">
                                          <p:stCondLst>
                                            <p:cond delay="999"/>
                                          </p:stCondLst>
                                        </p:cTn>
                                        <p:tgtEl>
                                          <p:spTgt spid="215044"/>
                                        </p:tgtEl>
                                        <p:attrNameLst>
                                          <p:attrName>style.visibility</p:attrName>
                                        </p:attrNameLst>
                                      </p:cBhvr>
                                      <p:to>
                                        <p:strVal val="hidden"/>
                                      </p:to>
                                    </p:se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215045"/>
                                        </p:tgtEl>
                                        <p:attrNameLst>
                                          <p:attrName>style.visibility</p:attrName>
                                        </p:attrNameLst>
                                      </p:cBhvr>
                                      <p:to>
                                        <p:strVal val="visible"/>
                                      </p:to>
                                    </p:set>
                                    <p:animEffect transition="in" filter="fade">
                                      <p:cBhvr>
                                        <p:cTn id="24" dur="1000"/>
                                        <p:tgtEl>
                                          <p:spTgt spid="215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4" grpId="0" animBg="1"/>
      <p:bldP spid="215044" grpId="1" animBg="1"/>
      <p:bldP spid="215044" grpId="2" animBg="1"/>
      <p:bldP spid="2150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en-US" dirty="0"/>
              <a:t>Something to remember:</a:t>
            </a:r>
            <a:endParaRPr lang="en-CA" dirty="0"/>
          </a:p>
        </p:txBody>
      </p:sp>
      <p:sp>
        <p:nvSpPr>
          <p:cNvPr id="217091" name="Rectangle 3"/>
          <p:cNvSpPr>
            <a:spLocks noGrp="1" noChangeArrowheads="1"/>
          </p:cNvSpPr>
          <p:nvPr>
            <p:ph type="body" idx="1"/>
          </p:nvPr>
        </p:nvSpPr>
        <p:spPr>
          <a:xfrm>
            <a:off x="827584" y="1059582"/>
            <a:ext cx="7772400" cy="3744416"/>
          </a:xfrm>
        </p:spPr>
        <p:txBody>
          <a:bodyPr>
            <a:normAutofit/>
          </a:bodyPr>
          <a:lstStyle/>
          <a:p>
            <a:r>
              <a:rPr lang="en-US" dirty="0"/>
              <a:t>What you see on the screen is an </a:t>
            </a:r>
            <a:r>
              <a:rPr lang="en-US" u="sng" dirty="0"/>
              <a:t>illusion/simulation</a:t>
            </a:r>
            <a:r>
              <a:rPr lang="en-US" dirty="0"/>
              <a:t> of the ‘real’ world</a:t>
            </a:r>
          </a:p>
          <a:p>
            <a:r>
              <a:rPr lang="en-US" dirty="0"/>
              <a:t>It’s based on </a:t>
            </a:r>
            <a:r>
              <a:rPr lang="en-US" i="1" u="sng" dirty="0"/>
              <a:t>simplified mathematical calculations</a:t>
            </a:r>
            <a:r>
              <a:rPr lang="en-US" dirty="0"/>
              <a:t> on the effects of light on material surfaces and how humans see and perceive </a:t>
            </a:r>
          </a:p>
          <a:p>
            <a:r>
              <a:rPr lang="en-US" dirty="0"/>
              <a:t>It’s not perfect, but “good enough”</a:t>
            </a:r>
          </a:p>
          <a:p>
            <a:r>
              <a:rPr lang="en-US" dirty="0"/>
              <a:t>i.e. it’s ALL A LIE! A pretty, pretty lie!</a:t>
            </a:r>
            <a:endParaRPr lang="en-CA" dirty="0"/>
          </a:p>
        </p:txBody>
      </p:sp>
      <p:sp>
        <p:nvSpPr>
          <p:cNvPr id="21709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17091">
                                            <p:txEl>
                                              <p:pRg st="0" end="0"/>
                                            </p:txEl>
                                          </p:spTgt>
                                        </p:tgtEl>
                                        <p:attrNameLst>
                                          <p:attrName>style.visibility</p:attrName>
                                        </p:attrNameLst>
                                      </p:cBhvr>
                                      <p:to>
                                        <p:strVal val="visible"/>
                                      </p:to>
                                    </p:set>
                                    <p:anim calcmode="discrete" valueType="clr">
                                      <p:cBhvr override="childStyle">
                                        <p:cTn id="7" dur="80"/>
                                        <p:tgtEl>
                                          <p:spTgt spid="21709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1709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1709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17091">
                                            <p:txEl>
                                              <p:pRg st="1" end="1"/>
                                            </p:txEl>
                                          </p:spTgt>
                                        </p:tgtEl>
                                        <p:attrNameLst>
                                          <p:attrName>style.visibility</p:attrName>
                                        </p:attrNameLst>
                                      </p:cBhvr>
                                      <p:to>
                                        <p:strVal val="visible"/>
                                      </p:to>
                                    </p:set>
                                    <p:anim calcmode="discrete" valueType="clr">
                                      <p:cBhvr override="childStyle">
                                        <p:cTn id="14" dur="80"/>
                                        <p:tgtEl>
                                          <p:spTgt spid="21709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17091">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17091">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217091">
                                            <p:txEl>
                                              <p:pRg st="2" end="2"/>
                                            </p:txEl>
                                          </p:spTgt>
                                        </p:tgtEl>
                                        <p:attrNameLst>
                                          <p:attrName>style.visibility</p:attrName>
                                        </p:attrNameLst>
                                      </p:cBhvr>
                                      <p:to>
                                        <p:strVal val="visible"/>
                                      </p:to>
                                    </p:set>
                                    <p:anim calcmode="discrete" valueType="clr">
                                      <p:cBhvr override="childStyle">
                                        <p:cTn id="21" dur="80"/>
                                        <p:tgtEl>
                                          <p:spTgt spid="21709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17091">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17091">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217091">
                                            <p:txEl>
                                              <p:pRg st="3" end="3"/>
                                            </p:txEl>
                                          </p:spTgt>
                                        </p:tgtEl>
                                        <p:attrNameLst>
                                          <p:attrName>style.visibility</p:attrName>
                                        </p:attrNameLst>
                                      </p:cBhvr>
                                      <p:to>
                                        <p:strVal val="visible"/>
                                      </p:to>
                                    </p:set>
                                    <p:anim calcmode="discrete" valueType="clr">
                                      <p:cBhvr override="childStyle">
                                        <p:cTn id="28" dur="80"/>
                                        <p:tgtEl>
                                          <p:spTgt spid="21709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17091">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17091">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7092"/>
                                        </p:tgtEl>
                                        <p:attrNameLst>
                                          <p:attrName>style.visibility</p:attrName>
                                        </p:attrNameLst>
                                      </p:cBhvr>
                                      <p:to>
                                        <p:strVal val="visible"/>
                                      </p:to>
                                    </p:set>
                                    <p:animEffect transition="in" filter="fade">
                                      <p:cBhvr>
                                        <p:cTn id="35" dur="500"/>
                                        <p:tgtEl>
                                          <p:spTgt spid="217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p:bldP spid="21709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WordArt 2"/>
          <p:cNvSpPr>
            <a:spLocks noChangeArrowheads="1" noChangeShapeType="1" noTextEdit="1"/>
          </p:cNvSpPr>
          <p:nvPr/>
        </p:nvSpPr>
        <p:spPr bwMode="auto">
          <a:xfrm>
            <a:off x="609600" y="1028700"/>
            <a:ext cx="8077200" cy="2628900"/>
          </a:xfrm>
          <a:prstGeom prst="rect">
            <a:avLst/>
          </a:prstGeom>
        </p:spPr>
        <p:txBody>
          <a:bodyPr wrap="none" fromWordArt="1">
            <a:prstTxWarp prst="textPlain">
              <a:avLst>
                <a:gd name="adj" fmla="val 50000"/>
              </a:avLst>
            </a:prstTxWarp>
          </a:bodyPr>
          <a:lstStyle/>
          <a:p>
            <a:pPr algn="ctr"/>
            <a:r>
              <a:rPr lang="en-CA" sz="3600" kern="10" dirty="0">
                <a:ln w="12700">
                  <a:solidFill>
                    <a:srgbClr val="EAEAEA"/>
                  </a:solidFill>
                  <a:round/>
                  <a:headEnd/>
                  <a:tailE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Arial Black"/>
              </a:rPr>
              <a:t>The "Normal"</a:t>
            </a:r>
          </a:p>
        </p:txBody>
      </p:sp>
      <p:sp>
        <p:nvSpPr>
          <p:cNvPr id="216067" name="AutoShape 3"/>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216066"/>
                                        </p:tgtEl>
                                        <p:attrNameLst>
                                          <p:attrName>style.visibility</p:attrName>
                                        </p:attrNameLst>
                                      </p:cBhvr>
                                      <p:to>
                                        <p:strVal val="visible"/>
                                      </p:to>
                                    </p:set>
                                    <p:anim calcmode="lin" valueType="num">
                                      <p:cBhvr>
                                        <p:cTn id="7" dur="1000" fill="hold"/>
                                        <p:tgtEl>
                                          <p:spTgt spid="216066"/>
                                        </p:tgtEl>
                                        <p:attrNameLst>
                                          <p:attrName>ppt_w</p:attrName>
                                        </p:attrNameLst>
                                      </p:cBhvr>
                                      <p:tavLst>
                                        <p:tav tm="0">
                                          <p:val>
                                            <p:fltVal val="0"/>
                                          </p:val>
                                        </p:tav>
                                        <p:tav tm="100000">
                                          <p:val>
                                            <p:strVal val="#ppt_w"/>
                                          </p:val>
                                        </p:tav>
                                      </p:tavLst>
                                    </p:anim>
                                    <p:anim calcmode="lin" valueType="num">
                                      <p:cBhvr>
                                        <p:cTn id="8" dur="1000" fill="hold"/>
                                        <p:tgtEl>
                                          <p:spTgt spid="216066"/>
                                        </p:tgtEl>
                                        <p:attrNameLst>
                                          <p:attrName>ppt_h</p:attrName>
                                        </p:attrNameLst>
                                      </p:cBhvr>
                                      <p:tavLst>
                                        <p:tav tm="0">
                                          <p:val>
                                            <p:fltVal val="0"/>
                                          </p:val>
                                        </p:tav>
                                        <p:tav tm="100000">
                                          <p:val>
                                            <p:strVal val="#ppt_h"/>
                                          </p:val>
                                        </p:tav>
                                      </p:tavLst>
                                    </p:anim>
                                    <p:anim calcmode="lin" valueType="num">
                                      <p:cBhvr>
                                        <p:cTn id="9" dur="1000" fill="hold"/>
                                        <p:tgtEl>
                                          <p:spTgt spid="21606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1606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6" presetClass="emph" presetSubtype="0" fill="hold" grpId="1" nodeType="afterEffect">
                                  <p:stCondLst>
                                    <p:cond delay="500"/>
                                  </p:stCondLst>
                                  <p:childTnLst>
                                    <p:animEffect transition="out" filter="fade">
                                      <p:cBhvr>
                                        <p:cTn id="13" dur="500" tmFilter="0, 0; .2, .5; .8, .5; 1, 0"/>
                                        <p:tgtEl>
                                          <p:spTgt spid="216066"/>
                                        </p:tgtEl>
                                      </p:cBhvr>
                                    </p:animEffect>
                                    <p:animScale>
                                      <p:cBhvr>
                                        <p:cTn id="14" dur="250" autoRev="1" fill="hold"/>
                                        <p:tgtEl>
                                          <p:spTgt spid="216066"/>
                                        </p:tgtEl>
                                      </p:cBhvr>
                                      <p:by x="105000" y="105000"/>
                                    </p:animScale>
                                  </p:childTnLst>
                                </p:cTn>
                              </p:par>
                            </p:childTnLst>
                          </p:cTn>
                        </p:par>
                        <p:par>
                          <p:cTn id="15" fill="hold">
                            <p:stCondLst>
                              <p:cond delay="2000"/>
                            </p:stCondLst>
                            <p:childTnLst>
                              <p:par>
                                <p:cTn id="16" presetID="53" presetClass="exit" presetSubtype="0" fill="hold" grpId="2" nodeType="afterEffect">
                                  <p:stCondLst>
                                    <p:cond delay="500"/>
                                  </p:stCondLst>
                                  <p:childTnLst>
                                    <p:anim calcmode="lin" valueType="num">
                                      <p:cBhvr>
                                        <p:cTn id="17" dur="500"/>
                                        <p:tgtEl>
                                          <p:spTgt spid="216066"/>
                                        </p:tgtEl>
                                        <p:attrNameLst>
                                          <p:attrName>ppt_w</p:attrName>
                                        </p:attrNameLst>
                                      </p:cBhvr>
                                      <p:tavLst>
                                        <p:tav tm="0">
                                          <p:val>
                                            <p:strVal val="ppt_w"/>
                                          </p:val>
                                        </p:tav>
                                        <p:tav tm="100000">
                                          <p:val>
                                            <p:fltVal val="0"/>
                                          </p:val>
                                        </p:tav>
                                      </p:tavLst>
                                    </p:anim>
                                    <p:anim calcmode="lin" valueType="num">
                                      <p:cBhvr>
                                        <p:cTn id="18" dur="500"/>
                                        <p:tgtEl>
                                          <p:spTgt spid="216066"/>
                                        </p:tgtEl>
                                        <p:attrNameLst>
                                          <p:attrName>ppt_h</p:attrName>
                                        </p:attrNameLst>
                                      </p:cBhvr>
                                      <p:tavLst>
                                        <p:tav tm="0">
                                          <p:val>
                                            <p:strVal val="ppt_h"/>
                                          </p:val>
                                        </p:tav>
                                        <p:tav tm="100000">
                                          <p:val>
                                            <p:fltVal val="0"/>
                                          </p:val>
                                        </p:tav>
                                      </p:tavLst>
                                    </p:anim>
                                    <p:animEffect transition="out" filter="fade">
                                      <p:cBhvr>
                                        <p:cTn id="19" dur="500"/>
                                        <p:tgtEl>
                                          <p:spTgt spid="216066"/>
                                        </p:tgtEl>
                                      </p:cBhvr>
                                    </p:animEffect>
                                    <p:set>
                                      <p:cBhvr>
                                        <p:cTn id="20" dur="1" fill="hold">
                                          <p:stCondLst>
                                            <p:cond delay="499"/>
                                          </p:stCondLst>
                                        </p:cTn>
                                        <p:tgtEl>
                                          <p:spTgt spid="216066"/>
                                        </p:tgtEl>
                                        <p:attrNameLst>
                                          <p:attrName>style.visibility</p:attrName>
                                        </p:attrNameLst>
                                      </p:cBhvr>
                                      <p:to>
                                        <p:strVal val="hidden"/>
                                      </p:to>
                                    </p:se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216067"/>
                                        </p:tgtEl>
                                        <p:attrNameLst>
                                          <p:attrName>style.visibility</p:attrName>
                                        </p:attrNameLst>
                                      </p:cBhvr>
                                      <p:to>
                                        <p:strVal val="visible"/>
                                      </p:to>
                                    </p:set>
                                    <p:animEffect transition="in" filter="fade">
                                      <p:cBhvr>
                                        <p:cTn id="24" dur="1000"/>
                                        <p:tgtEl>
                                          <p:spTgt spid="216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animBg="1"/>
      <p:bldP spid="216066" grpId="1" animBg="1"/>
      <p:bldP spid="216066" grpId="2" animBg="1"/>
      <p:bldP spid="21606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en-US" dirty="0"/>
              <a:t>4 Types of lights*</a:t>
            </a:r>
            <a:endParaRPr lang="en-CA" dirty="0"/>
          </a:p>
        </p:txBody>
      </p:sp>
      <p:sp>
        <p:nvSpPr>
          <p:cNvPr id="218115" name="Rectangle 3"/>
          <p:cNvSpPr>
            <a:spLocks noGrp="1" noChangeArrowheads="1"/>
          </p:cNvSpPr>
          <p:nvPr>
            <p:ph type="body" idx="1"/>
          </p:nvPr>
        </p:nvSpPr>
        <p:spPr>
          <a:xfrm>
            <a:off x="838200" y="1371600"/>
            <a:ext cx="7772400" cy="3200400"/>
          </a:xfrm>
        </p:spPr>
        <p:txBody>
          <a:bodyPr>
            <a:normAutofit fontScale="92500" lnSpcReduction="20000"/>
          </a:bodyPr>
          <a:lstStyle/>
          <a:p>
            <a:r>
              <a:rPr lang="en-US" b="1"/>
              <a:t>Ambient</a:t>
            </a:r>
            <a:r>
              <a:rPr lang="en-US" sz="2800"/>
              <a:t> 	</a:t>
            </a:r>
          </a:p>
          <a:p>
            <a:pPr lvl="1"/>
            <a:r>
              <a:rPr lang="en-US" sz="2400"/>
              <a:t>Light all around</a:t>
            </a:r>
          </a:p>
          <a:p>
            <a:r>
              <a:rPr lang="en-US" b="1"/>
              <a:t>Diffuse</a:t>
            </a:r>
          </a:p>
          <a:p>
            <a:pPr lvl="1"/>
            <a:r>
              <a:rPr lang="en-US" sz="2400"/>
              <a:t>The ‘</a:t>
            </a:r>
            <a:r>
              <a:rPr lang="en-GB" sz="2400"/>
              <a:t>colour</a:t>
            </a:r>
            <a:r>
              <a:rPr lang="en-US" sz="2400"/>
              <a:t>’ of something</a:t>
            </a:r>
          </a:p>
          <a:p>
            <a:r>
              <a:rPr lang="en-US" b="1"/>
              <a:t>Specular</a:t>
            </a:r>
          </a:p>
          <a:p>
            <a:pPr lvl="1"/>
            <a:r>
              <a:rPr lang="en-US" sz="2400"/>
              <a:t>The ‘shininess’ of something</a:t>
            </a:r>
          </a:p>
          <a:p>
            <a:r>
              <a:rPr lang="en-US" b="1"/>
              <a:t>Emissive</a:t>
            </a:r>
            <a:r>
              <a:rPr lang="en-US" sz="2800"/>
              <a:t> (luminance)</a:t>
            </a:r>
          </a:p>
          <a:p>
            <a:pPr lvl="1"/>
            <a:r>
              <a:rPr lang="en-CA" sz="2400"/>
              <a:t>The ‘glow’ of a light source</a:t>
            </a:r>
          </a:p>
        </p:txBody>
      </p:sp>
      <p:sp>
        <p:nvSpPr>
          <p:cNvPr id="21811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5" name="TextBox 4"/>
          <p:cNvSpPr txBox="1"/>
          <p:nvPr/>
        </p:nvSpPr>
        <p:spPr>
          <a:xfrm>
            <a:off x="5327576" y="3723878"/>
            <a:ext cx="3816424" cy="1200329"/>
          </a:xfrm>
          <a:prstGeom prst="rect">
            <a:avLst/>
          </a:prstGeom>
          <a:noFill/>
        </p:spPr>
        <p:txBody>
          <a:bodyPr wrap="square" rtlCol="0">
            <a:spAutoFit/>
          </a:bodyPr>
          <a:lstStyle/>
          <a:p>
            <a:pPr algn="ctr"/>
            <a:r>
              <a:rPr lang="en-CA" i="1" dirty="0"/>
              <a:t>* This is a total lie. </a:t>
            </a:r>
            <a:br>
              <a:rPr lang="en-CA" i="1" dirty="0"/>
            </a:br>
            <a:r>
              <a:rPr lang="en-CA" i="1" dirty="0"/>
              <a:t>Remember, there are no actual lights… </a:t>
            </a:r>
            <a:br>
              <a:rPr lang="en-CA" i="1" dirty="0"/>
            </a:br>
            <a:r>
              <a:rPr lang="en-CA" i="1" dirty="0"/>
              <a:t>but these are typical conventions that we are going to use</a:t>
            </a:r>
          </a:p>
        </p:txBody>
      </p:sp>
      <p:pic>
        <p:nvPicPr>
          <p:cNvPr id="98306" name="Picture 2" descr="Image result for there is no spoon"/>
          <p:cNvPicPr>
            <a:picLocks noChangeAspect="1" noChangeArrowheads="1"/>
          </p:cNvPicPr>
          <p:nvPr/>
        </p:nvPicPr>
        <p:blipFill>
          <a:blip r:embed="rId3" cstate="print"/>
          <a:srcRect/>
          <a:stretch>
            <a:fillRect/>
          </a:stretch>
        </p:blipFill>
        <p:spPr bwMode="auto">
          <a:xfrm>
            <a:off x="5868144" y="1491630"/>
            <a:ext cx="3171741" cy="2160240"/>
          </a:xfrm>
          <a:prstGeom prst="rect">
            <a:avLst/>
          </a:prstGeom>
          <a:noFill/>
        </p:spPr>
      </p:pic>
      <p:sp>
        <p:nvSpPr>
          <p:cNvPr id="17" name="Freeform 16"/>
          <p:cNvSpPr/>
          <p:nvPr/>
        </p:nvSpPr>
        <p:spPr>
          <a:xfrm>
            <a:off x="3621024" y="699542"/>
            <a:ext cx="2607160" cy="3184829"/>
          </a:xfrm>
          <a:custGeom>
            <a:avLst/>
            <a:gdLst>
              <a:gd name="connsiteX0" fmla="*/ 0 w 2757830"/>
              <a:gd name="connsiteY0" fmla="*/ 0 h 3065069"/>
              <a:gd name="connsiteX1" fmla="*/ 892454 w 2757830"/>
              <a:gd name="connsiteY1" fmla="*/ 102413 h 3065069"/>
              <a:gd name="connsiteX2" fmla="*/ 2070202 w 2757830"/>
              <a:gd name="connsiteY2" fmla="*/ 3028493 h 3065069"/>
              <a:gd name="connsiteX3" fmla="*/ 2757830 w 2757830"/>
              <a:gd name="connsiteY3" fmla="*/ 3065069 h 3065069"/>
            </a:gdLst>
            <a:ahLst/>
            <a:cxnLst>
              <a:cxn ang="0">
                <a:pos x="connsiteX0" y="connsiteY0"/>
              </a:cxn>
              <a:cxn ang="0">
                <a:pos x="connsiteX1" y="connsiteY1"/>
              </a:cxn>
              <a:cxn ang="0">
                <a:pos x="connsiteX2" y="connsiteY2"/>
              </a:cxn>
              <a:cxn ang="0">
                <a:pos x="connsiteX3" y="connsiteY3"/>
              </a:cxn>
            </a:cxnLst>
            <a:rect l="l" t="t" r="r" b="b"/>
            <a:pathLst>
              <a:path w="2757830" h="3065069">
                <a:moveTo>
                  <a:pt x="0" y="0"/>
                </a:moveTo>
                <a:lnTo>
                  <a:pt x="892454" y="102413"/>
                </a:lnTo>
                <a:lnTo>
                  <a:pt x="2070202" y="3028493"/>
                </a:lnTo>
                <a:lnTo>
                  <a:pt x="2757830" y="3065069"/>
                </a:lnTo>
              </a:path>
            </a:pathLst>
          </a:custGeom>
          <a:ln w="69850">
            <a:solidFill>
              <a:srgbClr val="FFFF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18115">
                                            <p:txEl>
                                              <p:pRg st="0" end="0"/>
                                            </p:txEl>
                                          </p:spTgt>
                                        </p:tgtEl>
                                        <p:attrNameLst>
                                          <p:attrName>style.visibility</p:attrName>
                                        </p:attrNameLst>
                                      </p:cBhvr>
                                      <p:to>
                                        <p:strVal val="visible"/>
                                      </p:to>
                                    </p:set>
                                    <p:anim calcmode="discrete" valueType="clr">
                                      <p:cBhvr override="childStyle">
                                        <p:cTn id="7" dur="80"/>
                                        <p:tgtEl>
                                          <p:spTgt spid="21811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1811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18115">
                                            <p:txEl>
                                              <p:pRg st="0" end="0"/>
                                            </p:txEl>
                                          </p:spTgt>
                                        </p:tgtEl>
                                        <p:attrNameLst>
                                          <p:attrName>fill.type</p:attrName>
                                        </p:attrNameLst>
                                      </p:cBhvr>
                                      <p:to>
                                        <p:strVal val="solid"/>
                                      </p:to>
                                    </p:set>
                                  </p:childTnLst>
                                </p:cTn>
                              </p:par>
                            </p:childTnLst>
                          </p:cTn>
                        </p:par>
                        <p:par>
                          <p:cTn id="10" fill="hold">
                            <p:stCondLst>
                              <p:cond delay="32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218115">
                                            <p:txEl>
                                              <p:pRg st="1" end="1"/>
                                            </p:txEl>
                                          </p:spTgt>
                                        </p:tgtEl>
                                        <p:attrNameLst>
                                          <p:attrName>style.visibility</p:attrName>
                                        </p:attrNameLst>
                                      </p:cBhvr>
                                      <p:to>
                                        <p:strVal val="visible"/>
                                      </p:to>
                                    </p:set>
                                    <p:anim calcmode="discrete" valueType="clr">
                                      <p:cBhvr override="childStyle">
                                        <p:cTn id="13" dur="80"/>
                                        <p:tgtEl>
                                          <p:spTgt spid="21811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218115">
                                            <p:txEl>
                                              <p:pRg st="1" end="1"/>
                                            </p:txEl>
                                          </p:spTgt>
                                        </p:tgtEl>
                                        <p:attrNameLst>
                                          <p:attrName>fillcolor</p:attrName>
                                        </p:attrNameLst>
                                      </p:cBhvr>
                                      <p:tavLst>
                                        <p:tav tm="0">
                                          <p:val>
                                            <p:clrVal>
                                              <a:schemeClr val="accent2"/>
                                            </p:clrVal>
                                          </p:val>
                                        </p:tav>
                                        <p:tav tm="50000">
                                          <p:val>
                                            <p:clrVal>
                                              <a:schemeClr val="hlink"/>
                                            </p:clrVal>
                                          </p:val>
                                        </p:tav>
                                      </p:tavLst>
                                    </p:anim>
                                    <p:set>
                                      <p:cBhvr>
                                        <p:cTn id="15" dur="80"/>
                                        <p:tgtEl>
                                          <p:spTgt spid="218115">
                                            <p:txEl>
                                              <p:pRg st="1" end="1"/>
                                            </p:txEl>
                                          </p:spTgt>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218115">
                                            <p:txEl>
                                              <p:pRg st="2" end="2"/>
                                            </p:txEl>
                                          </p:spTgt>
                                        </p:tgtEl>
                                        <p:attrNameLst>
                                          <p:attrName>style.visibility</p:attrName>
                                        </p:attrNameLst>
                                      </p:cBhvr>
                                      <p:to>
                                        <p:strVal val="visible"/>
                                      </p:to>
                                    </p:set>
                                    <p:anim calcmode="discrete" valueType="clr">
                                      <p:cBhvr override="childStyle">
                                        <p:cTn id="20" dur="80"/>
                                        <p:tgtEl>
                                          <p:spTgt spid="21811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218115">
                                            <p:txEl>
                                              <p:pRg st="2" end="2"/>
                                            </p:txEl>
                                          </p:spTgt>
                                        </p:tgtEl>
                                        <p:attrNameLst>
                                          <p:attrName>fillcolor</p:attrName>
                                        </p:attrNameLst>
                                      </p:cBhvr>
                                      <p:tavLst>
                                        <p:tav tm="0">
                                          <p:val>
                                            <p:clrVal>
                                              <a:schemeClr val="accent2"/>
                                            </p:clrVal>
                                          </p:val>
                                        </p:tav>
                                        <p:tav tm="50000">
                                          <p:val>
                                            <p:clrVal>
                                              <a:schemeClr val="hlink"/>
                                            </p:clrVal>
                                          </p:val>
                                        </p:tav>
                                      </p:tavLst>
                                    </p:anim>
                                    <p:set>
                                      <p:cBhvr>
                                        <p:cTn id="22" dur="80"/>
                                        <p:tgtEl>
                                          <p:spTgt spid="218115">
                                            <p:txEl>
                                              <p:pRg st="2" end="2"/>
                                            </p:txEl>
                                          </p:spTgt>
                                        </p:tgtEl>
                                        <p:attrNameLst>
                                          <p:attrName>fill.type</p:attrName>
                                        </p:attrNameLst>
                                      </p:cBhvr>
                                      <p:to>
                                        <p:strVal val="solid"/>
                                      </p:to>
                                    </p:set>
                                  </p:childTnLst>
                                </p:cTn>
                              </p:par>
                            </p:childTnLst>
                          </p:cTn>
                        </p:par>
                        <p:par>
                          <p:cTn id="23" fill="hold">
                            <p:stCondLst>
                              <p:cond delay="320"/>
                            </p:stCondLst>
                            <p:childTnLst>
                              <p:par>
                                <p:cTn id="24" presetID="27" presetClass="entr" presetSubtype="0" fill="hold" grpId="0" nodeType="afterEffect">
                                  <p:stCondLst>
                                    <p:cond delay="0"/>
                                  </p:stCondLst>
                                  <p:iterate type="lt">
                                    <p:tmPct val="50000"/>
                                  </p:iterate>
                                  <p:childTnLst>
                                    <p:set>
                                      <p:cBhvr>
                                        <p:cTn id="25" dur="1" fill="hold">
                                          <p:stCondLst>
                                            <p:cond delay="0"/>
                                          </p:stCondLst>
                                        </p:cTn>
                                        <p:tgtEl>
                                          <p:spTgt spid="218115">
                                            <p:txEl>
                                              <p:pRg st="3" end="3"/>
                                            </p:txEl>
                                          </p:spTgt>
                                        </p:tgtEl>
                                        <p:attrNameLst>
                                          <p:attrName>style.visibility</p:attrName>
                                        </p:attrNameLst>
                                      </p:cBhvr>
                                      <p:to>
                                        <p:strVal val="visible"/>
                                      </p:to>
                                    </p:set>
                                    <p:anim calcmode="discrete" valueType="clr">
                                      <p:cBhvr override="childStyle">
                                        <p:cTn id="26" dur="80"/>
                                        <p:tgtEl>
                                          <p:spTgt spid="21811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18115">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218115">
                                            <p:txEl>
                                              <p:pRg st="3" end="3"/>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218115">
                                            <p:txEl>
                                              <p:pRg st="4" end="4"/>
                                            </p:txEl>
                                          </p:spTgt>
                                        </p:tgtEl>
                                        <p:attrNameLst>
                                          <p:attrName>style.visibility</p:attrName>
                                        </p:attrNameLst>
                                      </p:cBhvr>
                                      <p:to>
                                        <p:strVal val="visible"/>
                                      </p:to>
                                    </p:set>
                                    <p:anim calcmode="discrete" valueType="clr">
                                      <p:cBhvr override="childStyle">
                                        <p:cTn id="33" dur="80"/>
                                        <p:tgtEl>
                                          <p:spTgt spid="21811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18115">
                                            <p:txEl>
                                              <p:pRg st="4" end="4"/>
                                            </p:txEl>
                                          </p:spTgt>
                                        </p:tgtEl>
                                        <p:attrNameLst>
                                          <p:attrName>fillcolor</p:attrName>
                                        </p:attrNameLst>
                                      </p:cBhvr>
                                      <p:tavLst>
                                        <p:tav tm="0">
                                          <p:val>
                                            <p:clrVal>
                                              <a:schemeClr val="accent2"/>
                                            </p:clrVal>
                                          </p:val>
                                        </p:tav>
                                        <p:tav tm="50000">
                                          <p:val>
                                            <p:clrVal>
                                              <a:schemeClr val="hlink"/>
                                            </p:clrVal>
                                          </p:val>
                                        </p:tav>
                                      </p:tavLst>
                                    </p:anim>
                                    <p:set>
                                      <p:cBhvr>
                                        <p:cTn id="35" dur="80"/>
                                        <p:tgtEl>
                                          <p:spTgt spid="218115">
                                            <p:txEl>
                                              <p:pRg st="4" end="4"/>
                                            </p:txEl>
                                          </p:spTgt>
                                        </p:tgtEl>
                                        <p:attrNameLst>
                                          <p:attrName>fill.type</p:attrName>
                                        </p:attrNameLst>
                                      </p:cBhvr>
                                      <p:to>
                                        <p:strVal val="solid"/>
                                      </p:to>
                                    </p:set>
                                  </p:childTnLst>
                                </p:cTn>
                              </p:par>
                            </p:childTnLst>
                          </p:cTn>
                        </p:par>
                        <p:par>
                          <p:cTn id="36" fill="hold">
                            <p:stCondLst>
                              <p:cond delay="360"/>
                            </p:stCondLst>
                            <p:childTnLst>
                              <p:par>
                                <p:cTn id="37" presetID="27" presetClass="entr" presetSubtype="0" fill="hold" grpId="0" nodeType="afterEffect">
                                  <p:stCondLst>
                                    <p:cond delay="0"/>
                                  </p:stCondLst>
                                  <p:iterate type="lt">
                                    <p:tmPct val="50000"/>
                                  </p:iterate>
                                  <p:childTnLst>
                                    <p:set>
                                      <p:cBhvr>
                                        <p:cTn id="38" dur="1" fill="hold">
                                          <p:stCondLst>
                                            <p:cond delay="0"/>
                                          </p:stCondLst>
                                        </p:cTn>
                                        <p:tgtEl>
                                          <p:spTgt spid="218115">
                                            <p:txEl>
                                              <p:pRg st="5" end="5"/>
                                            </p:txEl>
                                          </p:spTgt>
                                        </p:tgtEl>
                                        <p:attrNameLst>
                                          <p:attrName>style.visibility</p:attrName>
                                        </p:attrNameLst>
                                      </p:cBhvr>
                                      <p:to>
                                        <p:strVal val="visible"/>
                                      </p:to>
                                    </p:set>
                                    <p:anim calcmode="discrete" valueType="clr">
                                      <p:cBhvr override="childStyle">
                                        <p:cTn id="39" dur="80"/>
                                        <p:tgtEl>
                                          <p:spTgt spid="218115">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218115">
                                            <p:txEl>
                                              <p:pRg st="5" end="5"/>
                                            </p:txEl>
                                          </p:spTgt>
                                        </p:tgtEl>
                                        <p:attrNameLst>
                                          <p:attrName>fillcolor</p:attrName>
                                        </p:attrNameLst>
                                      </p:cBhvr>
                                      <p:tavLst>
                                        <p:tav tm="0">
                                          <p:val>
                                            <p:clrVal>
                                              <a:schemeClr val="accent2"/>
                                            </p:clrVal>
                                          </p:val>
                                        </p:tav>
                                        <p:tav tm="50000">
                                          <p:val>
                                            <p:clrVal>
                                              <a:schemeClr val="hlink"/>
                                            </p:clrVal>
                                          </p:val>
                                        </p:tav>
                                      </p:tavLst>
                                    </p:anim>
                                    <p:set>
                                      <p:cBhvr>
                                        <p:cTn id="41" dur="80"/>
                                        <p:tgtEl>
                                          <p:spTgt spid="218115">
                                            <p:txEl>
                                              <p:pRg st="5" end="5"/>
                                            </p:txEl>
                                          </p:spTgt>
                                        </p:tgtEl>
                                        <p:attrNameLst>
                                          <p:attrName>fill.type</p:attrName>
                                        </p:attrNameLst>
                                      </p:cBhvr>
                                      <p:to>
                                        <p:strVal val="solid"/>
                                      </p:to>
                                    </p:set>
                                  </p:childTnLst>
                                </p:cTn>
                              </p:par>
                            </p:childTnLst>
                          </p:cTn>
                        </p:par>
                      </p:childTnLst>
                    </p:cTn>
                  </p:par>
                  <p:par>
                    <p:cTn id="42" fill="hold">
                      <p:stCondLst>
                        <p:cond delay="indefinite"/>
                      </p:stCondLst>
                      <p:childTnLst>
                        <p:par>
                          <p:cTn id="43" fill="hold">
                            <p:stCondLst>
                              <p:cond delay="0"/>
                            </p:stCondLst>
                            <p:childTnLst>
                              <p:par>
                                <p:cTn id="44" presetID="27" presetClass="entr" presetSubtype="0" fill="hold" grpId="0" nodeType="clickEffect">
                                  <p:stCondLst>
                                    <p:cond delay="0"/>
                                  </p:stCondLst>
                                  <p:iterate type="lt">
                                    <p:tmPct val="50000"/>
                                  </p:iterate>
                                  <p:childTnLst>
                                    <p:set>
                                      <p:cBhvr>
                                        <p:cTn id="45" dur="1" fill="hold">
                                          <p:stCondLst>
                                            <p:cond delay="0"/>
                                          </p:stCondLst>
                                        </p:cTn>
                                        <p:tgtEl>
                                          <p:spTgt spid="218115">
                                            <p:txEl>
                                              <p:pRg st="6" end="6"/>
                                            </p:txEl>
                                          </p:spTgt>
                                        </p:tgtEl>
                                        <p:attrNameLst>
                                          <p:attrName>style.visibility</p:attrName>
                                        </p:attrNameLst>
                                      </p:cBhvr>
                                      <p:to>
                                        <p:strVal val="visible"/>
                                      </p:to>
                                    </p:set>
                                    <p:anim calcmode="discrete" valueType="clr">
                                      <p:cBhvr override="childStyle">
                                        <p:cTn id="46" dur="80"/>
                                        <p:tgtEl>
                                          <p:spTgt spid="218115">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218115">
                                            <p:txEl>
                                              <p:pRg st="6" end="6"/>
                                            </p:txEl>
                                          </p:spTgt>
                                        </p:tgtEl>
                                        <p:attrNameLst>
                                          <p:attrName>fillcolor</p:attrName>
                                        </p:attrNameLst>
                                      </p:cBhvr>
                                      <p:tavLst>
                                        <p:tav tm="0">
                                          <p:val>
                                            <p:clrVal>
                                              <a:schemeClr val="accent2"/>
                                            </p:clrVal>
                                          </p:val>
                                        </p:tav>
                                        <p:tav tm="50000">
                                          <p:val>
                                            <p:clrVal>
                                              <a:schemeClr val="hlink"/>
                                            </p:clrVal>
                                          </p:val>
                                        </p:tav>
                                      </p:tavLst>
                                    </p:anim>
                                    <p:set>
                                      <p:cBhvr>
                                        <p:cTn id="48" dur="80"/>
                                        <p:tgtEl>
                                          <p:spTgt spid="218115">
                                            <p:txEl>
                                              <p:pRg st="6" end="6"/>
                                            </p:txEl>
                                          </p:spTgt>
                                        </p:tgtEl>
                                        <p:attrNameLst>
                                          <p:attrName>fill.type</p:attrName>
                                        </p:attrNameLst>
                                      </p:cBhvr>
                                      <p:to>
                                        <p:strVal val="solid"/>
                                      </p:to>
                                    </p:set>
                                  </p:childTnLst>
                                </p:cTn>
                              </p:par>
                            </p:childTnLst>
                          </p:cTn>
                        </p:par>
                        <p:par>
                          <p:cTn id="49" fill="hold">
                            <p:stCondLst>
                              <p:cond delay="800"/>
                            </p:stCondLst>
                            <p:childTnLst>
                              <p:par>
                                <p:cTn id="50" presetID="27" presetClass="entr" presetSubtype="0" fill="hold" grpId="0" nodeType="afterEffect">
                                  <p:stCondLst>
                                    <p:cond delay="0"/>
                                  </p:stCondLst>
                                  <p:iterate type="lt">
                                    <p:tmPct val="50000"/>
                                  </p:iterate>
                                  <p:childTnLst>
                                    <p:set>
                                      <p:cBhvr>
                                        <p:cTn id="51" dur="1" fill="hold">
                                          <p:stCondLst>
                                            <p:cond delay="0"/>
                                          </p:stCondLst>
                                        </p:cTn>
                                        <p:tgtEl>
                                          <p:spTgt spid="218115">
                                            <p:txEl>
                                              <p:pRg st="7" end="7"/>
                                            </p:txEl>
                                          </p:spTgt>
                                        </p:tgtEl>
                                        <p:attrNameLst>
                                          <p:attrName>style.visibility</p:attrName>
                                        </p:attrNameLst>
                                      </p:cBhvr>
                                      <p:to>
                                        <p:strVal val="visible"/>
                                      </p:to>
                                    </p:set>
                                    <p:anim calcmode="discrete" valueType="clr">
                                      <p:cBhvr override="childStyle">
                                        <p:cTn id="52" dur="80"/>
                                        <p:tgtEl>
                                          <p:spTgt spid="218115">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218115">
                                            <p:txEl>
                                              <p:pRg st="7" end="7"/>
                                            </p:txEl>
                                          </p:spTgt>
                                        </p:tgtEl>
                                        <p:attrNameLst>
                                          <p:attrName>fillcolor</p:attrName>
                                        </p:attrNameLst>
                                      </p:cBhvr>
                                      <p:tavLst>
                                        <p:tav tm="0">
                                          <p:val>
                                            <p:clrVal>
                                              <a:schemeClr val="accent2"/>
                                            </p:clrVal>
                                          </p:val>
                                        </p:tav>
                                        <p:tav tm="50000">
                                          <p:val>
                                            <p:clrVal>
                                              <a:schemeClr val="hlink"/>
                                            </p:clrVal>
                                          </p:val>
                                        </p:tav>
                                      </p:tavLst>
                                    </p:anim>
                                    <p:set>
                                      <p:cBhvr>
                                        <p:cTn id="54" dur="80"/>
                                        <p:tgtEl>
                                          <p:spTgt spid="218115">
                                            <p:txEl>
                                              <p:pRg st="7" end="7"/>
                                            </p:txEl>
                                          </p:spTgt>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blinds(horizontal)">
                                      <p:cBhvr>
                                        <p:cTn id="59" dur="500"/>
                                        <p:tgtEl>
                                          <p:spTgt spid="17"/>
                                        </p:tgtEl>
                                      </p:cBhvr>
                                    </p:animEffect>
                                  </p:childTnLst>
                                </p:cTn>
                              </p:par>
                            </p:childTnLst>
                          </p:cTn>
                        </p:par>
                        <p:par>
                          <p:cTn id="60" fill="hold">
                            <p:stCondLst>
                              <p:cond delay="500"/>
                            </p:stCondLst>
                            <p:childTnLst>
                              <p:par>
                                <p:cTn id="61" presetID="3" presetClass="entr" presetSubtype="10" fill="hold" grpId="0" nodeType="after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blinds(horizontal)">
                                      <p:cBhvr>
                                        <p:cTn id="63" dur="500"/>
                                        <p:tgtEl>
                                          <p:spTgt spid="5"/>
                                        </p:tgtEl>
                                      </p:cBhvr>
                                    </p:animEffect>
                                  </p:childTnLst>
                                </p:cTn>
                              </p:par>
                            </p:childTnLst>
                          </p:cTn>
                        </p:par>
                        <p:par>
                          <p:cTn id="64" fill="hold">
                            <p:stCondLst>
                              <p:cond delay="1000"/>
                            </p:stCondLst>
                            <p:childTnLst>
                              <p:par>
                                <p:cTn id="65" presetID="5" presetClass="entr" presetSubtype="10" fill="hold" nodeType="afterEffect">
                                  <p:stCondLst>
                                    <p:cond delay="0"/>
                                  </p:stCondLst>
                                  <p:childTnLst>
                                    <p:set>
                                      <p:cBhvr>
                                        <p:cTn id="66" dur="1" fill="hold">
                                          <p:stCondLst>
                                            <p:cond delay="0"/>
                                          </p:stCondLst>
                                        </p:cTn>
                                        <p:tgtEl>
                                          <p:spTgt spid="98306"/>
                                        </p:tgtEl>
                                        <p:attrNameLst>
                                          <p:attrName>style.visibility</p:attrName>
                                        </p:attrNameLst>
                                      </p:cBhvr>
                                      <p:to>
                                        <p:strVal val="visible"/>
                                      </p:to>
                                    </p:set>
                                    <p:animEffect transition="in" filter="checkerboard(across)">
                                      <p:cBhvr>
                                        <p:cTn id="67" dur="500"/>
                                        <p:tgtEl>
                                          <p:spTgt spid="9830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8116"/>
                                        </p:tgtEl>
                                        <p:attrNameLst>
                                          <p:attrName>style.visibility</p:attrName>
                                        </p:attrNameLst>
                                      </p:cBhvr>
                                      <p:to>
                                        <p:strVal val="visible"/>
                                      </p:to>
                                    </p:set>
                                    <p:animEffect transition="in" filter="fade">
                                      <p:cBhvr>
                                        <p:cTn id="72" dur="500"/>
                                        <p:tgtEl>
                                          <p:spTgt spid="218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uiExpand="1" build="p"/>
      <p:bldP spid="218116" grpId="0" animBg="1"/>
      <p:bldP spid="5" grpId="0"/>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914400" y="400050"/>
            <a:ext cx="7696200" cy="4000500"/>
            <a:chOff x="576" y="336"/>
            <a:chExt cx="4848" cy="3360"/>
          </a:xfrm>
        </p:grpSpPr>
        <p:sp>
          <p:nvSpPr>
            <p:cNvPr id="219138" name="WordArt 2"/>
            <p:cNvSpPr>
              <a:spLocks noChangeArrowheads="1" noChangeShapeType="1" noTextEdit="1"/>
            </p:cNvSpPr>
            <p:nvPr/>
          </p:nvSpPr>
          <p:spPr bwMode="auto">
            <a:xfrm>
              <a:off x="576" y="2016"/>
              <a:ext cx="4848" cy="1680"/>
            </a:xfrm>
            <a:prstGeom prst="rect">
              <a:avLst/>
            </a:prstGeom>
          </p:spPr>
          <p:txBody>
            <a:bodyPr wrap="none" fromWordArt="1">
              <a:prstTxWarp prst="textPlain">
                <a:avLst>
                  <a:gd name="adj" fmla="val 50000"/>
                </a:avLst>
              </a:prstTxWarp>
              <a:scene3d>
                <a:camera prst="legacyPerspectiveBottomRight">
                  <a:rot lat="0" lon="21239999" rev="0"/>
                </a:camera>
                <a:lightRig rig="legacyHarsh3" dir="l"/>
              </a:scene3d>
              <a:sp3d extrusionH="430200" prstMaterial="legacyMatte">
                <a:extrusionClr>
                  <a:srgbClr val="C0C0C0"/>
                </a:extrusionClr>
              </a:sp3d>
            </a:bodyPr>
            <a:lstStyle/>
            <a:p>
              <a:pPr algn="ctr"/>
              <a:r>
                <a:rPr lang="en-CA" sz="3600" kern="10">
                  <a:ln w="9525">
                    <a:round/>
                    <a:headEnd/>
                    <a:tailEnd/>
                  </a:ln>
                  <a:gradFill rotWithShape="0">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latin typeface="Arial Black"/>
                </a:rPr>
                <a:t>"Normal"</a:t>
              </a:r>
            </a:p>
          </p:txBody>
        </p:sp>
        <p:sp>
          <p:nvSpPr>
            <p:cNvPr id="219139" name="WordArt 3"/>
            <p:cNvSpPr>
              <a:spLocks noChangeArrowheads="1" noChangeShapeType="1" noTextEdit="1"/>
            </p:cNvSpPr>
            <p:nvPr/>
          </p:nvSpPr>
          <p:spPr bwMode="auto">
            <a:xfrm>
              <a:off x="1728" y="336"/>
              <a:ext cx="2424" cy="1680"/>
            </a:xfrm>
            <a:prstGeom prst="rect">
              <a:avLst/>
            </a:prstGeom>
          </p:spPr>
          <p:txBody>
            <a:bodyPr wrap="none" fromWordArt="1">
              <a:prstTxWarp prst="textPlain">
                <a:avLst>
                  <a:gd name="adj" fmla="val 50000"/>
                </a:avLst>
              </a:prstTxWarp>
              <a:scene3d>
                <a:camera prst="legacyPerspectiveBottomRight">
                  <a:rot lat="0" lon="21239999" rev="0"/>
                </a:camera>
                <a:lightRig rig="legacyHarsh3" dir="l"/>
              </a:scene3d>
              <a:sp3d extrusionH="430200" prstMaterial="legacyMatte">
                <a:extrusionClr>
                  <a:srgbClr val="C0C0C0"/>
                </a:extrusionClr>
              </a:sp3d>
            </a:bodyPr>
            <a:lstStyle/>
            <a:p>
              <a:pPr algn="ctr"/>
              <a:r>
                <a:rPr lang="en-CA" sz="3600" kern="10">
                  <a:ln w="9525">
                    <a:round/>
                    <a:headEnd/>
                    <a:tailEnd/>
                  </a:ln>
                  <a:gradFill rotWithShape="0">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latin typeface="Arial Black"/>
                </a:rPr>
                <a:t>The</a:t>
              </a:r>
            </a:p>
          </p:txBody>
        </p:sp>
      </p:grpSp>
      <p:sp>
        <p:nvSpPr>
          <p:cNvPr id="219141"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2" presetClass="emph" presetSubtype="0" fill="hold" nodeType="afterEffect">
                                  <p:stCondLst>
                                    <p:cond delay="500"/>
                                  </p:stCondLst>
                                  <p:childTnLst>
                                    <p:animClr clrSpc="rgb" dir="cw">
                                      <p:cBhvr override="childStyle">
                                        <p:cTn id="11" dur="100" fill="hold"/>
                                        <p:tgtEl>
                                          <p:spTgt spid="2"/>
                                        </p:tgtEl>
                                        <p:attrNameLst>
                                          <p:attrName>style.color</p:attrName>
                                        </p:attrNameLst>
                                      </p:cBhvr>
                                      <p:to>
                                        <a:schemeClr val="accent2"/>
                                      </p:to>
                                    </p:animClr>
                                    <p:animClr clrSpc="rgb" dir="cw">
                                      <p:cBhvr>
                                        <p:cTn id="12" dur="100" fill="hold"/>
                                        <p:tgtEl>
                                          <p:spTgt spid="2"/>
                                        </p:tgtEl>
                                        <p:attrNameLst>
                                          <p:attrName>fillcolor</p:attrName>
                                        </p:attrNameLst>
                                      </p:cBhvr>
                                      <p:to>
                                        <a:schemeClr val="accent2"/>
                                      </p:to>
                                    </p:animClr>
                                    <p:set>
                                      <p:cBhvr>
                                        <p:cTn id="13" dur="100" fill="hold"/>
                                        <p:tgtEl>
                                          <p:spTgt spid="2"/>
                                        </p:tgtEl>
                                        <p:attrNameLst>
                                          <p:attrName>fill.type</p:attrName>
                                        </p:attrNameLst>
                                      </p:cBhvr>
                                      <p:to>
                                        <p:strVal val="solid"/>
                                      </p:to>
                                    </p:set>
                                    <p:set>
                                      <p:cBhvr>
                                        <p:cTn id="14" dur="100" fill="hold"/>
                                        <p:tgtEl>
                                          <p:spTgt spid="2"/>
                                        </p:tgtEl>
                                        <p:attrNameLst>
                                          <p:attrName>fill.on</p:attrName>
                                        </p:attrNameLst>
                                      </p:cBhvr>
                                      <p:to>
                                        <p:strVal val="true"/>
                                      </p:to>
                                    </p:set>
                                    <p:animRot by="120000">
                                      <p:cBhvr>
                                        <p:cTn id="15" dur="100" fill="hold">
                                          <p:stCondLst>
                                            <p:cond delay="0"/>
                                          </p:stCondLst>
                                        </p:cTn>
                                        <p:tgtEl>
                                          <p:spTgt spid="2"/>
                                        </p:tgtEl>
                                        <p:attrNameLst>
                                          <p:attrName>r</p:attrName>
                                        </p:attrNameLst>
                                      </p:cBhvr>
                                    </p:animRot>
                                    <p:animRot by="-240000">
                                      <p:cBhvr>
                                        <p:cTn id="16" dur="200" fill="hold">
                                          <p:stCondLst>
                                            <p:cond delay="200"/>
                                          </p:stCondLst>
                                        </p:cTn>
                                        <p:tgtEl>
                                          <p:spTgt spid="2"/>
                                        </p:tgtEl>
                                        <p:attrNameLst>
                                          <p:attrName>r</p:attrName>
                                        </p:attrNameLst>
                                      </p:cBhvr>
                                    </p:animRot>
                                    <p:animRot by="240000">
                                      <p:cBhvr>
                                        <p:cTn id="17" dur="200" fill="hold">
                                          <p:stCondLst>
                                            <p:cond delay="400"/>
                                          </p:stCondLst>
                                        </p:cTn>
                                        <p:tgtEl>
                                          <p:spTgt spid="2"/>
                                        </p:tgtEl>
                                        <p:attrNameLst>
                                          <p:attrName>r</p:attrName>
                                        </p:attrNameLst>
                                      </p:cBhvr>
                                    </p:animRot>
                                    <p:animRot by="-240000">
                                      <p:cBhvr>
                                        <p:cTn id="18" dur="200" fill="hold">
                                          <p:stCondLst>
                                            <p:cond delay="600"/>
                                          </p:stCondLst>
                                        </p:cTn>
                                        <p:tgtEl>
                                          <p:spTgt spid="2"/>
                                        </p:tgtEl>
                                        <p:attrNameLst>
                                          <p:attrName>r</p:attrName>
                                        </p:attrNameLst>
                                      </p:cBhvr>
                                    </p:animRot>
                                    <p:animRot by="120000">
                                      <p:cBhvr>
                                        <p:cTn id="19" dur="200" fill="hold">
                                          <p:stCondLst>
                                            <p:cond delay="800"/>
                                          </p:stCondLst>
                                        </p:cTn>
                                        <p:tgtEl>
                                          <p:spTgt spid="2"/>
                                        </p:tgtEl>
                                        <p:attrNameLst>
                                          <p:attrName>r</p:attrName>
                                        </p:attrNameLst>
                                      </p:cBhvr>
                                    </p:animRot>
                                  </p:childTnLst>
                                </p:cTn>
                              </p:par>
                            </p:childTnLst>
                          </p:cTn>
                        </p:par>
                        <p:par>
                          <p:cTn id="20" fill="hold">
                            <p:stCondLst>
                              <p:cond delay="2000"/>
                            </p:stCondLst>
                            <p:childTnLst>
                              <p:par>
                                <p:cTn id="21" presetID="26" presetClass="emph" presetSubtype="0" fill="hold" nodeType="afterEffect">
                                  <p:stCondLst>
                                    <p:cond delay="500"/>
                                  </p:stCondLst>
                                  <p:childTnLst>
                                    <p:animEffect transition="out" filter="fade">
                                      <p:cBhvr>
                                        <p:cTn id="22" dur="500" tmFilter="0, 0; .2, .5; .8, .5; 1, 0"/>
                                        <p:tgtEl>
                                          <p:spTgt spid="2"/>
                                        </p:tgtEl>
                                      </p:cBhvr>
                                    </p:animEffect>
                                    <p:animScale>
                                      <p:cBhvr>
                                        <p:cTn id="23" dur="250" autoRev="1" fill="hold"/>
                                        <p:tgtEl>
                                          <p:spTgt spid="2"/>
                                        </p:tgtEl>
                                      </p:cBhvr>
                                      <p:by x="105000" y="105000"/>
                                    </p:animScale>
                                  </p:childTnLst>
                                </p:cTn>
                              </p:par>
                            </p:childTnLst>
                          </p:cTn>
                        </p:par>
                        <p:par>
                          <p:cTn id="24" fill="hold">
                            <p:stCondLst>
                              <p:cond delay="3000"/>
                            </p:stCondLst>
                            <p:childTnLst>
                              <p:par>
                                <p:cTn id="25" presetID="34" presetClass="exit" presetSubtype="0" fill="hold" nodeType="afterEffect">
                                  <p:stCondLst>
                                    <p:cond delay="500"/>
                                  </p:stCondLst>
                                  <p:childTnLst>
                                    <p:anim from="(ppt_x)" to="(ppt_x+1)" calcmode="lin" valueType="num">
                                      <p:cBhvr>
                                        <p:cTn id="26" dur="1000">
                                          <p:stCondLst>
                                            <p:cond delay="0"/>
                                          </p:stCondLst>
                                        </p:cTn>
                                        <p:tgtEl>
                                          <p:spTgt spid="2"/>
                                        </p:tgtEl>
                                        <p:attrNameLst>
                                          <p:attrName>ppt_x</p:attrName>
                                        </p:attrNameLst>
                                      </p:cBhvr>
                                    </p:anim>
                                    <p:anim from="0" to="-1.0" calcmode="lin" valueType="num">
                                      <p:cBhvr>
                                        <p:cTn id="27" dur="200" accel="50000">
                                          <p:stCondLst>
                                            <p:cond delay="0"/>
                                          </p:stCondLst>
                                        </p:cTn>
                                        <p:tgtEl>
                                          <p:spTgt spid="2"/>
                                        </p:tgtEl>
                                        <p:attrNameLst>
                                          <p:attrName>xshear</p:attrName>
                                        </p:attrNameLst>
                                      </p:cBhvr>
                                    </p:anim>
                                    <p:set>
                                      <p:cBhvr>
                                        <p:cTn id="28" dur="800">
                                          <p:stCondLst>
                                            <p:cond delay="200"/>
                                          </p:stCondLst>
                                        </p:cTn>
                                        <p:tgtEl>
                                          <p:spTgt spid="2"/>
                                        </p:tgtEl>
                                        <p:attrNameLst>
                                          <p:attrName>xshear</p:attrName>
                                        </p:attrNameLst>
                                      </p:cBhvr>
                                      <p:to>
                                        <p:strVal val="-1.0"/>
                                      </p:to>
                                    </p:set>
                                    <p:set>
                                      <p:cBhvr>
                                        <p:cTn id="29" dur="1" fill="hold">
                                          <p:stCondLst>
                                            <p:cond delay="999"/>
                                          </p:stCondLst>
                                        </p:cTn>
                                        <p:tgtEl>
                                          <p:spTgt spid="2"/>
                                        </p:tgtEl>
                                        <p:attrNameLst>
                                          <p:attrName>style.visibility</p:attrName>
                                        </p:attrNameLst>
                                      </p:cBhvr>
                                      <p:to>
                                        <p:strVal val="hidden"/>
                                      </p:to>
                                    </p:set>
                                  </p:childTnLst>
                                </p:cTn>
                              </p:par>
                            </p:childTnLst>
                          </p:cTn>
                        </p:par>
                        <p:par>
                          <p:cTn id="30" fill="hold">
                            <p:stCondLst>
                              <p:cond delay="4500"/>
                            </p:stCondLst>
                            <p:childTnLst>
                              <p:par>
                                <p:cTn id="31" presetID="10" presetClass="entr" presetSubtype="0" fill="hold" grpId="0" nodeType="afterEffect">
                                  <p:stCondLst>
                                    <p:cond delay="0"/>
                                  </p:stCondLst>
                                  <p:childTnLst>
                                    <p:set>
                                      <p:cBhvr>
                                        <p:cTn id="32" dur="1" fill="hold">
                                          <p:stCondLst>
                                            <p:cond delay="0"/>
                                          </p:stCondLst>
                                        </p:cTn>
                                        <p:tgtEl>
                                          <p:spTgt spid="219141"/>
                                        </p:tgtEl>
                                        <p:attrNameLst>
                                          <p:attrName>style.visibility</p:attrName>
                                        </p:attrNameLst>
                                      </p:cBhvr>
                                      <p:to>
                                        <p:strVal val="visible"/>
                                      </p:to>
                                    </p:set>
                                    <p:animEffect transition="in" filter="fade">
                                      <p:cBhvr>
                                        <p:cTn id="33" dur="1000"/>
                                        <p:tgtEl>
                                          <p:spTgt spid="219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539552" y="195486"/>
            <a:ext cx="7772400" cy="685800"/>
          </a:xfrm>
        </p:spPr>
        <p:txBody>
          <a:bodyPr/>
          <a:lstStyle/>
          <a:p>
            <a:r>
              <a:rPr lang="en-US" dirty="0"/>
              <a:t>Ambient (reflection)</a:t>
            </a:r>
            <a:endParaRPr lang="en-CA" dirty="0"/>
          </a:p>
        </p:txBody>
      </p:sp>
      <p:sp>
        <p:nvSpPr>
          <p:cNvPr id="220163" name="Rectangle 3"/>
          <p:cNvSpPr>
            <a:spLocks noGrp="1" noChangeArrowheads="1"/>
          </p:cNvSpPr>
          <p:nvPr>
            <p:ph type="body" idx="1"/>
          </p:nvPr>
        </p:nvSpPr>
        <p:spPr>
          <a:xfrm>
            <a:off x="467544" y="1131590"/>
            <a:ext cx="8458200" cy="3086100"/>
          </a:xfrm>
        </p:spPr>
        <p:txBody>
          <a:bodyPr>
            <a:normAutofit/>
          </a:bodyPr>
          <a:lstStyle/>
          <a:p>
            <a:r>
              <a:rPr lang="en-US" sz="2400" dirty="0"/>
              <a:t>Unless you on the moon, if you can see </a:t>
            </a:r>
            <a:r>
              <a:rPr lang="en-US" sz="2400" i="1" dirty="0"/>
              <a:t>anything</a:t>
            </a:r>
            <a:r>
              <a:rPr lang="en-US" sz="2400" dirty="0"/>
              <a:t>, there is </a:t>
            </a:r>
            <a:r>
              <a:rPr lang="en-US" sz="2400" i="1" u="sng" dirty="0"/>
              <a:t>always</a:t>
            </a:r>
            <a:r>
              <a:rPr lang="en-US" sz="2400" dirty="0"/>
              <a:t> ambient light.</a:t>
            </a:r>
          </a:p>
          <a:p>
            <a:r>
              <a:rPr lang="en-US" sz="2400" dirty="0"/>
              <a:t>This light isn’t direct, but </a:t>
            </a:r>
            <a:r>
              <a:rPr lang="en-US" sz="2400" i="1" dirty="0"/>
              <a:t>reflected off all the surfaces in the environment</a:t>
            </a:r>
            <a:r>
              <a:rPr lang="en-US" sz="2400" dirty="0"/>
              <a:t>. </a:t>
            </a:r>
            <a:endParaRPr lang="en-CA" sz="2400" dirty="0"/>
          </a:p>
        </p:txBody>
      </p:sp>
      <p:sp>
        <p:nvSpPr>
          <p:cNvPr id="22016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220165" name="Picture 5" descr="cat-under-table"/>
          <p:cNvPicPr>
            <a:picLocks noChangeAspect="1" noChangeArrowheads="1"/>
          </p:cNvPicPr>
          <p:nvPr/>
        </p:nvPicPr>
        <p:blipFill>
          <a:blip r:embed="rId3" cstate="print"/>
          <a:srcRect/>
          <a:stretch>
            <a:fillRect/>
          </a:stretch>
        </p:blipFill>
        <p:spPr bwMode="auto">
          <a:xfrm>
            <a:off x="304800" y="3028950"/>
            <a:ext cx="2743200" cy="1972866"/>
          </a:xfrm>
          <a:prstGeom prst="rect">
            <a:avLst/>
          </a:prstGeom>
          <a:noFill/>
        </p:spPr>
      </p:pic>
      <p:sp>
        <p:nvSpPr>
          <p:cNvPr id="220166" name="AutoShape 6"/>
          <p:cNvSpPr>
            <a:spLocks noChangeArrowheads="1"/>
          </p:cNvSpPr>
          <p:nvPr/>
        </p:nvSpPr>
        <p:spPr bwMode="auto">
          <a:xfrm>
            <a:off x="3581400" y="3314700"/>
            <a:ext cx="5181600" cy="1143000"/>
          </a:xfrm>
          <a:prstGeom prst="wedgeRoundRectCallout">
            <a:avLst>
              <a:gd name="adj1" fmla="val -76931"/>
              <a:gd name="adj2" fmla="val -57500"/>
              <a:gd name="adj3" fmla="val 16667"/>
            </a:avLst>
          </a:prstGeom>
          <a:solidFill>
            <a:srgbClr val="00B8FF"/>
          </a:solidFill>
          <a:ln w="9525">
            <a:solidFill>
              <a:schemeClr val="tx1"/>
            </a:solidFill>
            <a:miter lim="800000"/>
            <a:headEnd/>
            <a:tailEnd/>
          </a:ln>
          <a:effectLst/>
        </p:spPr>
        <p:txBody>
          <a:bodyPr anchor="ctr"/>
          <a:lstStyle/>
          <a:p>
            <a:pPr algn="ctr"/>
            <a:r>
              <a:rPr lang="en-GB">
                <a:solidFill>
                  <a:schemeClr val="bg1"/>
                </a:solidFill>
                <a:latin typeface="Tahoma" pitchFamily="34" charset="0"/>
                <a:cs typeface="Arial" charset="0"/>
              </a:rPr>
              <a:t>Notice that the </a:t>
            </a:r>
            <a:r>
              <a:rPr lang="en-GB" i="1" u="sng">
                <a:solidFill>
                  <a:schemeClr val="bg1"/>
                </a:solidFill>
                <a:latin typeface="Tahoma" pitchFamily="34" charset="0"/>
                <a:cs typeface="Arial" charset="0"/>
              </a:rPr>
              <a:t>underside</a:t>
            </a:r>
            <a:r>
              <a:rPr lang="en-GB">
                <a:solidFill>
                  <a:schemeClr val="bg1"/>
                </a:solidFill>
                <a:latin typeface="Tahoma" pitchFamily="34" charset="0"/>
                <a:cs typeface="Arial" charset="0"/>
              </a:rPr>
              <a:t> of this table is visible, though there are no lights shining </a:t>
            </a:r>
            <a:r>
              <a:rPr lang="en-GB" i="1">
                <a:solidFill>
                  <a:schemeClr val="bg1"/>
                </a:solidFill>
                <a:latin typeface="Tahoma" pitchFamily="34" charset="0"/>
                <a:cs typeface="Arial" charset="0"/>
              </a:rPr>
              <a:t>directly</a:t>
            </a:r>
            <a:r>
              <a:rPr lang="en-GB">
                <a:solidFill>
                  <a:schemeClr val="bg1"/>
                </a:solidFill>
                <a:latin typeface="Tahoma" pitchFamily="34" charset="0"/>
                <a:cs typeface="Arial" charset="0"/>
              </a:rPr>
              <a:t> on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0165"/>
                                        </p:tgtEl>
                                        <p:attrNameLst>
                                          <p:attrName>style.visibility</p:attrName>
                                        </p:attrNameLst>
                                      </p:cBhvr>
                                      <p:to>
                                        <p:strVal val="visible"/>
                                      </p:to>
                                    </p:set>
                                    <p:anim calcmode="lin" valueType="num">
                                      <p:cBhvr additive="base">
                                        <p:cTn id="7" dur="1000" fill="hold"/>
                                        <p:tgtEl>
                                          <p:spTgt spid="220165"/>
                                        </p:tgtEl>
                                        <p:attrNameLst>
                                          <p:attrName>ppt_x</p:attrName>
                                        </p:attrNameLst>
                                      </p:cBhvr>
                                      <p:tavLst>
                                        <p:tav tm="0">
                                          <p:val>
                                            <p:strVal val="0-#ppt_w/2"/>
                                          </p:val>
                                        </p:tav>
                                        <p:tav tm="100000">
                                          <p:val>
                                            <p:strVal val="#ppt_x"/>
                                          </p:val>
                                        </p:tav>
                                      </p:tavLst>
                                    </p:anim>
                                    <p:anim calcmode="lin" valueType="num">
                                      <p:cBhvr additive="base">
                                        <p:cTn id="8" dur="1000" fill="hold"/>
                                        <p:tgtEl>
                                          <p:spTgt spid="2201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grpId="0" nodeType="clickEffect">
                                  <p:stCondLst>
                                    <p:cond delay="0"/>
                                  </p:stCondLst>
                                  <p:iterate type="lt">
                                    <p:tmPct val="50000"/>
                                  </p:iterate>
                                  <p:childTnLst>
                                    <p:set>
                                      <p:cBhvr>
                                        <p:cTn id="12" dur="1" fill="hold">
                                          <p:stCondLst>
                                            <p:cond delay="0"/>
                                          </p:stCondLst>
                                        </p:cTn>
                                        <p:tgtEl>
                                          <p:spTgt spid="220166"/>
                                        </p:tgtEl>
                                        <p:attrNameLst>
                                          <p:attrName>style.visibility</p:attrName>
                                        </p:attrNameLst>
                                      </p:cBhvr>
                                      <p:to>
                                        <p:strVal val="visible"/>
                                      </p:to>
                                    </p:set>
                                    <p:anim calcmode="discrete" valueType="clr">
                                      <p:cBhvr override="childStyle">
                                        <p:cTn id="13" dur="80"/>
                                        <p:tgtEl>
                                          <p:spTgt spid="220166"/>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220166"/>
                                        </p:tgtEl>
                                        <p:attrNameLst>
                                          <p:attrName>fillcolor</p:attrName>
                                        </p:attrNameLst>
                                      </p:cBhvr>
                                      <p:tavLst>
                                        <p:tav tm="0">
                                          <p:val>
                                            <p:clrVal>
                                              <a:schemeClr val="accent2"/>
                                            </p:clrVal>
                                          </p:val>
                                        </p:tav>
                                        <p:tav tm="50000">
                                          <p:val>
                                            <p:clrVal>
                                              <a:schemeClr val="hlink"/>
                                            </p:clrVal>
                                          </p:val>
                                        </p:tav>
                                      </p:tavLst>
                                    </p:anim>
                                    <p:set>
                                      <p:cBhvr>
                                        <p:cTn id="15" dur="80"/>
                                        <p:tgtEl>
                                          <p:spTgt spid="220166"/>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220163">
                                            <p:txEl>
                                              <p:pRg st="0" end="0"/>
                                            </p:txEl>
                                          </p:spTgt>
                                        </p:tgtEl>
                                        <p:attrNameLst>
                                          <p:attrName>style.visibility</p:attrName>
                                        </p:attrNameLst>
                                      </p:cBhvr>
                                      <p:to>
                                        <p:strVal val="visible"/>
                                      </p:to>
                                    </p:set>
                                    <p:anim calcmode="discrete" valueType="clr">
                                      <p:cBhvr override="childStyle">
                                        <p:cTn id="20" dur="80"/>
                                        <p:tgtEl>
                                          <p:spTgt spid="22016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220163">
                                            <p:txEl>
                                              <p:pRg st="0" end="0"/>
                                            </p:txEl>
                                          </p:spTgt>
                                        </p:tgtEl>
                                        <p:attrNameLst>
                                          <p:attrName>fillcolor</p:attrName>
                                        </p:attrNameLst>
                                      </p:cBhvr>
                                      <p:tavLst>
                                        <p:tav tm="0">
                                          <p:val>
                                            <p:clrVal>
                                              <a:schemeClr val="accent2"/>
                                            </p:clrVal>
                                          </p:val>
                                        </p:tav>
                                        <p:tav tm="50000">
                                          <p:val>
                                            <p:clrVal>
                                              <a:schemeClr val="hlink"/>
                                            </p:clrVal>
                                          </p:val>
                                        </p:tav>
                                      </p:tavLst>
                                    </p:anim>
                                    <p:set>
                                      <p:cBhvr>
                                        <p:cTn id="22" dur="80"/>
                                        <p:tgtEl>
                                          <p:spTgt spid="220163">
                                            <p:txEl>
                                              <p:pRg st="0" end="0"/>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27" presetClass="entr" presetSubtype="0" fill="hold" grpId="0" nodeType="clickEffect">
                                  <p:stCondLst>
                                    <p:cond delay="0"/>
                                  </p:stCondLst>
                                  <p:iterate type="lt">
                                    <p:tmPct val="50000"/>
                                  </p:iterate>
                                  <p:childTnLst>
                                    <p:set>
                                      <p:cBhvr>
                                        <p:cTn id="26" dur="1" fill="hold">
                                          <p:stCondLst>
                                            <p:cond delay="0"/>
                                          </p:stCondLst>
                                        </p:cTn>
                                        <p:tgtEl>
                                          <p:spTgt spid="220163">
                                            <p:txEl>
                                              <p:pRg st="1" end="1"/>
                                            </p:txEl>
                                          </p:spTgt>
                                        </p:tgtEl>
                                        <p:attrNameLst>
                                          <p:attrName>style.visibility</p:attrName>
                                        </p:attrNameLst>
                                      </p:cBhvr>
                                      <p:to>
                                        <p:strVal val="visible"/>
                                      </p:to>
                                    </p:set>
                                    <p:anim calcmode="discrete" valueType="clr">
                                      <p:cBhvr override="childStyle">
                                        <p:cTn id="27" dur="80"/>
                                        <p:tgtEl>
                                          <p:spTgt spid="22016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220163">
                                            <p:txEl>
                                              <p:pRg st="1" end="1"/>
                                            </p:txEl>
                                          </p:spTgt>
                                        </p:tgtEl>
                                        <p:attrNameLst>
                                          <p:attrName>fillcolor</p:attrName>
                                        </p:attrNameLst>
                                      </p:cBhvr>
                                      <p:tavLst>
                                        <p:tav tm="0">
                                          <p:val>
                                            <p:clrVal>
                                              <a:schemeClr val="accent2"/>
                                            </p:clrVal>
                                          </p:val>
                                        </p:tav>
                                        <p:tav tm="50000">
                                          <p:val>
                                            <p:clrVal>
                                              <a:schemeClr val="hlink"/>
                                            </p:clrVal>
                                          </p:val>
                                        </p:tav>
                                      </p:tavLst>
                                    </p:anim>
                                    <p:set>
                                      <p:cBhvr>
                                        <p:cTn id="29" dur="80"/>
                                        <p:tgtEl>
                                          <p:spTgt spid="220163">
                                            <p:txEl>
                                              <p:pRg st="1" end="1"/>
                                            </p:txEl>
                                          </p:spTgt>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0164"/>
                                        </p:tgtEl>
                                        <p:attrNameLst>
                                          <p:attrName>style.visibility</p:attrName>
                                        </p:attrNameLst>
                                      </p:cBhvr>
                                      <p:to>
                                        <p:strVal val="visible"/>
                                      </p:to>
                                    </p:set>
                                    <p:animEffect transition="in" filter="fade">
                                      <p:cBhvr>
                                        <p:cTn id="34" dur="500"/>
                                        <p:tgtEl>
                                          <p:spTgt spid="220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p:bldP spid="220164" grpId="0" animBg="1"/>
      <p:bldP spid="22016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lstStyle/>
          <a:p>
            <a:r>
              <a:rPr lang="en-US"/>
              <a:t>Ambient</a:t>
            </a:r>
            <a:endParaRPr lang="en-CA"/>
          </a:p>
        </p:txBody>
      </p:sp>
      <p:sp>
        <p:nvSpPr>
          <p:cNvPr id="26010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260104" name="Picture 8" descr="MOON-hawaii24">
            <a:hlinkClick r:id="rId3"/>
          </p:cNvPr>
          <p:cNvPicPr>
            <a:picLocks noChangeAspect="1" noChangeArrowheads="1"/>
          </p:cNvPicPr>
          <p:nvPr/>
        </p:nvPicPr>
        <p:blipFill>
          <a:blip r:embed="rId4" cstate="print"/>
          <a:srcRect/>
          <a:stretch>
            <a:fillRect/>
          </a:stretch>
        </p:blipFill>
        <p:spPr bwMode="auto">
          <a:xfrm>
            <a:off x="685800" y="1600200"/>
            <a:ext cx="3657600" cy="1837135"/>
          </a:xfrm>
          <a:prstGeom prst="rect">
            <a:avLst/>
          </a:prstGeom>
          <a:noFill/>
        </p:spPr>
      </p:pic>
      <p:pic>
        <p:nvPicPr>
          <p:cNvPr id="260107" name="Picture 11" descr="Moon-surface">
            <a:hlinkClick r:id="rId5"/>
          </p:cNvPr>
          <p:cNvPicPr>
            <a:picLocks noChangeAspect="1" noChangeArrowheads="1"/>
          </p:cNvPicPr>
          <p:nvPr/>
        </p:nvPicPr>
        <p:blipFill>
          <a:blip r:embed="rId6" cstate="print"/>
          <a:srcRect/>
          <a:stretch>
            <a:fillRect/>
          </a:stretch>
        </p:blipFill>
        <p:spPr bwMode="auto">
          <a:xfrm>
            <a:off x="5105400" y="2571750"/>
            <a:ext cx="3276600" cy="2393156"/>
          </a:xfrm>
          <a:prstGeom prst="rect">
            <a:avLst/>
          </a:prstGeom>
          <a:noFill/>
        </p:spPr>
      </p:pic>
      <p:sp>
        <p:nvSpPr>
          <p:cNvPr id="260102" name="AutoShape 6"/>
          <p:cNvSpPr>
            <a:spLocks noChangeArrowheads="1"/>
          </p:cNvSpPr>
          <p:nvPr/>
        </p:nvSpPr>
        <p:spPr bwMode="auto">
          <a:xfrm>
            <a:off x="0" y="3600450"/>
            <a:ext cx="4876800" cy="857250"/>
          </a:xfrm>
          <a:prstGeom prst="roundRect">
            <a:avLst>
              <a:gd name="adj" fmla="val 16667"/>
            </a:avLst>
          </a:prstGeom>
          <a:solidFill>
            <a:srgbClr val="00B8FF"/>
          </a:solidFill>
          <a:ln w="9525">
            <a:solidFill>
              <a:schemeClr val="tx1"/>
            </a:solidFill>
            <a:round/>
            <a:headEnd/>
            <a:tailEnd/>
          </a:ln>
          <a:effectLst/>
        </p:spPr>
        <p:txBody>
          <a:bodyPr anchor="ctr"/>
          <a:lstStyle/>
          <a:p>
            <a:pPr algn="ctr"/>
            <a:r>
              <a:rPr lang="en-GB" sz="1400">
                <a:solidFill>
                  <a:schemeClr val="bg1"/>
                </a:solidFill>
                <a:latin typeface="Tahoma" pitchFamily="34" charset="0"/>
                <a:cs typeface="Arial" charset="0"/>
              </a:rPr>
              <a:t>Notice from these pictures of the moon, that the shadows are black. Not “dark,” but actually </a:t>
            </a:r>
            <a:r>
              <a:rPr lang="en-GB" sz="1400" b="1">
                <a:solidFill>
                  <a:schemeClr val="bg1"/>
                </a:solidFill>
                <a:latin typeface="Tahoma" pitchFamily="34" charset="0"/>
                <a:cs typeface="Arial" charset="0"/>
              </a:rPr>
              <a:t>black</a:t>
            </a:r>
            <a:r>
              <a:rPr lang="en-GB" sz="1400">
                <a:solidFill>
                  <a:schemeClr val="bg1"/>
                </a:solidFill>
                <a:latin typeface="Tahoma" pitchFamily="34" charset="0"/>
                <a:cs typeface="Arial" charset="0"/>
              </a:rPr>
              <a:t> with </a:t>
            </a:r>
            <a:r>
              <a:rPr lang="en-GB" sz="1400" i="1">
                <a:solidFill>
                  <a:schemeClr val="bg1"/>
                </a:solidFill>
                <a:latin typeface="Tahoma" pitchFamily="34" charset="0"/>
                <a:cs typeface="Arial" charset="0"/>
              </a:rPr>
              <a:t>no light at all</a:t>
            </a:r>
            <a:r>
              <a:rPr lang="en-GB" sz="1400">
                <a:solidFill>
                  <a:schemeClr val="bg1"/>
                </a:solidFill>
                <a:latin typeface="Tahoma" pitchFamily="34" charset="0"/>
                <a:cs typeface="Arial" charset="0"/>
              </a:rPr>
              <a:t>. </a:t>
            </a:r>
          </a:p>
        </p:txBody>
      </p:sp>
      <p:pic>
        <p:nvPicPr>
          <p:cNvPr id="260105" name="Picture 9" descr="neil-armstrong-astronaut-buzz-aldrin-lunar-module-pilot-walks-on-the-surface-of-the-moon-near-the-leg-of-the-lunar-module-lm-1969">
            <a:hlinkClick r:id="rId7"/>
          </p:cNvPr>
          <p:cNvPicPr>
            <a:picLocks noChangeAspect="1" noChangeArrowheads="1"/>
          </p:cNvPicPr>
          <p:nvPr/>
        </p:nvPicPr>
        <p:blipFill>
          <a:blip r:embed="rId8" cstate="print"/>
          <a:srcRect/>
          <a:stretch>
            <a:fillRect/>
          </a:stretch>
        </p:blipFill>
        <p:spPr bwMode="auto">
          <a:xfrm>
            <a:off x="5791200" y="342900"/>
            <a:ext cx="3048000" cy="2286000"/>
          </a:xfrm>
          <a:prstGeom prst="rect">
            <a:avLst/>
          </a:prstGeom>
          <a:noFill/>
        </p:spPr>
      </p:pic>
      <p:sp>
        <p:nvSpPr>
          <p:cNvPr id="260114" name="AutoShape 18"/>
          <p:cNvSpPr>
            <a:spLocks noChangeArrowheads="1"/>
          </p:cNvSpPr>
          <p:nvPr/>
        </p:nvSpPr>
        <p:spPr bwMode="auto">
          <a:xfrm>
            <a:off x="152400" y="171450"/>
            <a:ext cx="6705600" cy="800100"/>
          </a:xfrm>
          <a:prstGeom prst="roundRect">
            <a:avLst>
              <a:gd name="adj" fmla="val 16667"/>
            </a:avLst>
          </a:prstGeom>
          <a:solidFill>
            <a:srgbClr val="00B8FF"/>
          </a:solidFill>
          <a:ln w="9525">
            <a:solidFill>
              <a:schemeClr val="tx1"/>
            </a:solidFill>
            <a:round/>
            <a:headEnd/>
            <a:tailEnd/>
          </a:ln>
          <a:effectLst/>
        </p:spPr>
        <p:txBody>
          <a:bodyPr anchor="ctr"/>
          <a:lstStyle/>
          <a:p>
            <a:pPr algn="ctr"/>
            <a:r>
              <a:rPr lang="en-GB" sz="1400" dirty="0">
                <a:solidFill>
                  <a:schemeClr val="bg1"/>
                </a:solidFill>
                <a:latin typeface="Tahoma" pitchFamily="34" charset="0"/>
                <a:cs typeface="Arial" charset="0"/>
              </a:rPr>
              <a:t>Notice even Neil Armstrong’s shadow is </a:t>
            </a:r>
            <a:r>
              <a:rPr lang="en-GB" sz="1400" b="1" i="1" dirty="0">
                <a:solidFill>
                  <a:schemeClr val="bg1"/>
                </a:solidFill>
                <a:latin typeface="Tahoma" pitchFamily="34" charset="0"/>
                <a:cs typeface="Arial" charset="0"/>
              </a:rPr>
              <a:t>completely black</a:t>
            </a:r>
            <a:r>
              <a:rPr lang="en-GB" sz="1400" dirty="0">
                <a:solidFill>
                  <a:schemeClr val="bg1"/>
                </a:solidFill>
                <a:latin typeface="Tahoma" pitchFamily="34" charset="0"/>
                <a:cs typeface="Arial" charset="0"/>
              </a:rPr>
              <a:t>. If you put something in here, you couldn’t see it all. Can you see </a:t>
            </a:r>
            <a:r>
              <a:rPr lang="en-GB" sz="1400" b="1" i="1" dirty="0">
                <a:solidFill>
                  <a:schemeClr val="bg1"/>
                </a:solidFill>
                <a:latin typeface="Tahoma" pitchFamily="34" charset="0"/>
                <a:cs typeface="Arial" charset="0"/>
              </a:rPr>
              <a:t>any</a:t>
            </a:r>
            <a:r>
              <a:rPr lang="en-GB" sz="1400" dirty="0">
                <a:solidFill>
                  <a:schemeClr val="bg1"/>
                </a:solidFill>
                <a:latin typeface="Tahoma" pitchFamily="34" charset="0"/>
                <a:cs typeface="Arial" charset="0"/>
              </a:rPr>
              <a:t> of the surface in shadow?</a:t>
            </a:r>
          </a:p>
        </p:txBody>
      </p:sp>
      <p:sp>
        <p:nvSpPr>
          <p:cNvPr id="260115" name="AutoShape 19"/>
          <p:cNvSpPr>
            <a:spLocks noChangeArrowheads="1"/>
          </p:cNvSpPr>
          <p:nvPr/>
        </p:nvSpPr>
        <p:spPr bwMode="auto">
          <a:xfrm>
            <a:off x="0" y="1143000"/>
            <a:ext cx="6629400" cy="628650"/>
          </a:xfrm>
          <a:prstGeom prst="roundRect">
            <a:avLst>
              <a:gd name="adj" fmla="val 16667"/>
            </a:avLst>
          </a:prstGeom>
          <a:solidFill>
            <a:srgbClr val="00B8FF"/>
          </a:solidFill>
          <a:ln w="9525">
            <a:solidFill>
              <a:schemeClr val="tx1"/>
            </a:solidFill>
            <a:round/>
            <a:headEnd/>
            <a:tailEnd/>
          </a:ln>
          <a:effectLst/>
        </p:spPr>
        <p:txBody>
          <a:bodyPr anchor="ctr"/>
          <a:lstStyle/>
          <a:p>
            <a:pPr algn="ctr"/>
            <a:r>
              <a:rPr lang="en-GB" sz="1400">
                <a:solidFill>
                  <a:schemeClr val="bg1"/>
                </a:solidFill>
                <a:latin typeface="Tahoma" pitchFamily="34" charset="0"/>
                <a:cs typeface="Arial" charset="0"/>
              </a:rPr>
              <a:t>This doesn’t happen on Earth. Even in a “shadow,” you can see something because of the “ambient” light.</a:t>
            </a:r>
          </a:p>
        </p:txBody>
      </p:sp>
      <p:sp>
        <p:nvSpPr>
          <p:cNvPr id="260117" name="Oval 21"/>
          <p:cNvSpPr>
            <a:spLocks noChangeArrowheads="1"/>
          </p:cNvSpPr>
          <p:nvPr/>
        </p:nvSpPr>
        <p:spPr bwMode="auto">
          <a:xfrm>
            <a:off x="762000" y="2228850"/>
            <a:ext cx="914400" cy="685800"/>
          </a:xfrm>
          <a:prstGeom prst="ellipse">
            <a:avLst/>
          </a:prstGeom>
          <a:noFill/>
          <a:ln w="57150">
            <a:solidFill>
              <a:srgbClr val="FFFF00"/>
            </a:solidFill>
            <a:round/>
            <a:headEnd/>
            <a:tailEnd/>
          </a:ln>
          <a:effectLst/>
        </p:spPr>
        <p:txBody>
          <a:bodyPr wrap="none" anchor="ctr"/>
          <a:lstStyle/>
          <a:p>
            <a:endParaRPr lang="en-CA"/>
          </a:p>
        </p:txBody>
      </p:sp>
      <p:sp>
        <p:nvSpPr>
          <p:cNvPr id="260110" name="AutoShape 14"/>
          <p:cNvSpPr>
            <a:spLocks noChangeArrowheads="1"/>
          </p:cNvSpPr>
          <p:nvPr/>
        </p:nvSpPr>
        <p:spPr bwMode="auto">
          <a:xfrm rot="1356786">
            <a:off x="0" y="2228850"/>
            <a:ext cx="1219200" cy="342900"/>
          </a:xfrm>
          <a:prstGeom prst="rightArrow">
            <a:avLst>
              <a:gd name="adj1" fmla="val 50000"/>
              <a:gd name="adj2" fmla="val 66667"/>
            </a:avLst>
          </a:prstGeom>
          <a:solidFill>
            <a:srgbClr val="00B8FF"/>
          </a:solidFill>
          <a:ln w="19050">
            <a:solidFill>
              <a:schemeClr val="tx1"/>
            </a:solidFill>
            <a:miter lim="800000"/>
            <a:headEnd/>
            <a:tailEnd/>
          </a:ln>
          <a:effectLst/>
        </p:spPr>
        <p:txBody>
          <a:bodyPr wrap="none" anchor="ctr"/>
          <a:lstStyle/>
          <a:p>
            <a:endParaRPr lang="en-CA"/>
          </a:p>
        </p:txBody>
      </p:sp>
      <p:sp>
        <p:nvSpPr>
          <p:cNvPr id="260118" name="Oval 22"/>
          <p:cNvSpPr>
            <a:spLocks noChangeArrowheads="1"/>
          </p:cNvSpPr>
          <p:nvPr/>
        </p:nvSpPr>
        <p:spPr bwMode="auto">
          <a:xfrm>
            <a:off x="6096000" y="4229100"/>
            <a:ext cx="1752600" cy="914400"/>
          </a:xfrm>
          <a:prstGeom prst="ellipse">
            <a:avLst/>
          </a:prstGeom>
          <a:noFill/>
          <a:ln w="57150">
            <a:solidFill>
              <a:srgbClr val="FFFF00"/>
            </a:solidFill>
            <a:round/>
            <a:headEnd/>
            <a:tailEnd/>
          </a:ln>
          <a:effectLst/>
        </p:spPr>
        <p:txBody>
          <a:bodyPr wrap="none" anchor="ctr"/>
          <a:lstStyle/>
          <a:p>
            <a:endParaRPr lang="en-CA"/>
          </a:p>
        </p:txBody>
      </p:sp>
      <p:sp>
        <p:nvSpPr>
          <p:cNvPr id="260111" name="AutoShape 15"/>
          <p:cNvSpPr>
            <a:spLocks noChangeArrowheads="1"/>
          </p:cNvSpPr>
          <p:nvPr/>
        </p:nvSpPr>
        <p:spPr bwMode="auto">
          <a:xfrm rot="7200000">
            <a:off x="6934200" y="4000500"/>
            <a:ext cx="914400" cy="457200"/>
          </a:xfrm>
          <a:prstGeom prst="rightArrow">
            <a:avLst>
              <a:gd name="adj1" fmla="val 50000"/>
              <a:gd name="adj2" fmla="val 66667"/>
            </a:avLst>
          </a:prstGeom>
          <a:solidFill>
            <a:srgbClr val="00B8FF"/>
          </a:solidFill>
          <a:ln w="19050">
            <a:solidFill>
              <a:schemeClr val="tx1"/>
            </a:solidFill>
            <a:miter lim="800000"/>
            <a:headEnd/>
            <a:tailEnd/>
          </a:ln>
          <a:effectLst/>
        </p:spPr>
        <p:txBody>
          <a:bodyPr wrap="none" anchor="ctr"/>
          <a:lstStyle/>
          <a:p>
            <a:endParaRPr lang="en-CA"/>
          </a:p>
        </p:txBody>
      </p:sp>
      <p:sp>
        <p:nvSpPr>
          <p:cNvPr id="260119" name="Oval 23"/>
          <p:cNvSpPr>
            <a:spLocks noChangeArrowheads="1"/>
          </p:cNvSpPr>
          <p:nvPr/>
        </p:nvSpPr>
        <p:spPr bwMode="auto">
          <a:xfrm>
            <a:off x="5638800" y="1828800"/>
            <a:ext cx="1752600" cy="914400"/>
          </a:xfrm>
          <a:prstGeom prst="ellipse">
            <a:avLst/>
          </a:prstGeom>
          <a:noFill/>
          <a:ln w="57150">
            <a:solidFill>
              <a:srgbClr val="FFFF00"/>
            </a:solidFill>
            <a:round/>
            <a:headEnd/>
            <a:tailEnd/>
          </a:ln>
          <a:effectLst/>
        </p:spPr>
        <p:txBody>
          <a:bodyPr wrap="none" anchor="ctr"/>
          <a:lstStyle/>
          <a:p>
            <a:endParaRPr lang="en-CA"/>
          </a:p>
        </p:txBody>
      </p:sp>
      <p:sp>
        <p:nvSpPr>
          <p:cNvPr id="260112" name="AutoShape 16"/>
          <p:cNvSpPr>
            <a:spLocks noChangeArrowheads="1"/>
          </p:cNvSpPr>
          <p:nvPr/>
        </p:nvSpPr>
        <p:spPr bwMode="auto">
          <a:xfrm rot="9000000">
            <a:off x="6858000" y="1657350"/>
            <a:ext cx="1219200" cy="342900"/>
          </a:xfrm>
          <a:prstGeom prst="rightArrow">
            <a:avLst>
              <a:gd name="adj1" fmla="val 50000"/>
              <a:gd name="adj2" fmla="val 66667"/>
            </a:avLst>
          </a:prstGeom>
          <a:solidFill>
            <a:srgbClr val="00B8FF"/>
          </a:solidFill>
          <a:ln w="19050">
            <a:solidFill>
              <a:schemeClr val="tx1"/>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0104"/>
                                        </p:tgtEl>
                                        <p:attrNameLst>
                                          <p:attrName>style.visibility</p:attrName>
                                        </p:attrNameLst>
                                      </p:cBhvr>
                                      <p:to>
                                        <p:strVal val="visible"/>
                                      </p:to>
                                    </p:set>
                                    <p:animEffect transition="in" filter="checkerboard(across)">
                                      <p:cBhvr>
                                        <p:cTn id="7" dur="500"/>
                                        <p:tgtEl>
                                          <p:spTgt spid="260104"/>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260107"/>
                                        </p:tgtEl>
                                        <p:attrNameLst>
                                          <p:attrName>style.visibility</p:attrName>
                                        </p:attrNameLst>
                                      </p:cBhvr>
                                      <p:to>
                                        <p:strVal val="visible"/>
                                      </p:to>
                                    </p:set>
                                    <p:animEffect transition="in" filter="checkerboard(across)">
                                      <p:cBhvr>
                                        <p:cTn id="11" dur="500"/>
                                        <p:tgtEl>
                                          <p:spTgt spid="260107"/>
                                        </p:tgtEl>
                                      </p:cBhvr>
                                    </p:animEffect>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260105"/>
                                        </p:tgtEl>
                                        <p:attrNameLst>
                                          <p:attrName>style.visibility</p:attrName>
                                        </p:attrNameLst>
                                      </p:cBhvr>
                                      <p:to>
                                        <p:strVal val="visible"/>
                                      </p:to>
                                    </p:set>
                                    <p:animEffect transition="in" filter="checkerboard(across)">
                                      <p:cBhvr>
                                        <p:cTn id="15" dur="500"/>
                                        <p:tgtEl>
                                          <p:spTgt spid="260105"/>
                                        </p:tgtEl>
                                      </p:cBhvr>
                                    </p:animEffect>
                                  </p:childTnLst>
                                </p:cTn>
                              </p:par>
                            </p:childTnLst>
                          </p:cTn>
                        </p:par>
                        <p:par>
                          <p:cTn id="16" fill="hold">
                            <p:stCondLst>
                              <p:cond delay="1500"/>
                            </p:stCondLst>
                            <p:childTnLst>
                              <p:par>
                                <p:cTn id="17" presetID="27" presetClass="entr" presetSubtype="0" fill="hold" grpId="0" nodeType="afterEffect">
                                  <p:stCondLst>
                                    <p:cond delay="0"/>
                                  </p:stCondLst>
                                  <p:iterate type="lt">
                                    <p:tmPct val="50000"/>
                                  </p:iterate>
                                  <p:childTnLst>
                                    <p:set>
                                      <p:cBhvr>
                                        <p:cTn id="18" dur="1" fill="hold">
                                          <p:stCondLst>
                                            <p:cond delay="0"/>
                                          </p:stCondLst>
                                        </p:cTn>
                                        <p:tgtEl>
                                          <p:spTgt spid="260102">
                                            <p:bg/>
                                          </p:spTgt>
                                        </p:tgtEl>
                                        <p:attrNameLst>
                                          <p:attrName>style.visibility</p:attrName>
                                        </p:attrNameLst>
                                      </p:cBhvr>
                                      <p:to>
                                        <p:strVal val="visible"/>
                                      </p:to>
                                    </p:set>
                                    <p:anim calcmode="discrete" valueType="clr">
                                      <p:cBhvr override="childStyle">
                                        <p:cTn id="19" dur="80"/>
                                        <p:tgtEl>
                                          <p:spTgt spid="260102">
                                            <p:bg/>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60102">
                                            <p:bg/>
                                          </p:spTgt>
                                        </p:tgtEl>
                                        <p:attrNameLst>
                                          <p:attrName>fillcolor</p:attrName>
                                        </p:attrNameLst>
                                      </p:cBhvr>
                                      <p:tavLst>
                                        <p:tav tm="0">
                                          <p:val>
                                            <p:clrVal>
                                              <a:schemeClr val="accent2"/>
                                            </p:clrVal>
                                          </p:val>
                                        </p:tav>
                                        <p:tav tm="50000">
                                          <p:val>
                                            <p:clrVal>
                                              <a:schemeClr val="hlink"/>
                                            </p:clrVal>
                                          </p:val>
                                        </p:tav>
                                      </p:tavLst>
                                    </p:anim>
                                    <p:set>
                                      <p:cBhvr>
                                        <p:cTn id="21" dur="80"/>
                                        <p:tgtEl>
                                          <p:spTgt spid="260102">
                                            <p:bg/>
                                          </p:spTgt>
                                        </p:tgtEl>
                                        <p:attrNameLst>
                                          <p:attrName>fill.type</p:attrName>
                                        </p:attrNameLst>
                                      </p:cBhvr>
                                      <p:to>
                                        <p:strVal val="solid"/>
                                      </p:to>
                                    </p:set>
                                  </p:childTnLst>
                                </p:cTn>
                              </p:par>
                            </p:childTnLst>
                          </p:cTn>
                        </p:par>
                        <p:par>
                          <p:cTn id="22" fill="hold">
                            <p:stCondLst>
                              <p:cond delay="1580"/>
                            </p:stCondLst>
                            <p:childTnLst>
                              <p:par>
                                <p:cTn id="23" presetID="27" presetClass="entr" presetSubtype="0" fill="hold" grpId="0" nodeType="afterEffect">
                                  <p:stCondLst>
                                    <p:cond delay="0"/>
                                  </p:stCondLst>
                                  <p:iterate type="lt">
                                    <p:tmPct val="50000"/>
                                  </p:iterate>
                                  <p:childTnLst>
                                    <p:set>
                                      <p:cBhvr>
                                        <p:cTn id="24" dur="1" fill="hold">
                                          <p:stCondLst>
                                            <p:cond delay="0"/>
                                          </p:stCondLst>
                                        </p:cTn>
                                        <p:tgtEl>
                                          <p:spTgt spid="260102">
                                            <p:txEl>
                                              <p:pRg st="0" end="0"/>
                                            </p:txEl>
                                          </p:spTgt>
                                        </p:tgtEl>
                                        <p:attrNameLst>
                                          <p:attrName>style.visibility</p:attrName>
                                        </p:attrNameLst>
                                      </p:cBhvr>
                                      <p:to>
                                        <p:strVal val="visible"/>
                                      </p:to>
                                    </p:set>
                                    <p:anim calcmode="discrete" valueType="clr">
                                      <p:cBhvr override="childStyle">
                                        <p:cTn id="25" dur="80"/>
                                        <p:tgtEl>
                                          <p:spTgt spid="26010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260102">
                                            <p:txEl>
                                              <p:pRg st="0" end="0"/>
                                            </p:txEl>
                                          </p:spTgt>
                                        </p:tgtEl>
                                        <p:attrNameLst>
                                          <p:attrName>fillcolor</p:attrName>
                                        </p:attrNameLst>
                                      </p:cBhvr>
                                      <p:tavLst>
                                        <p:tav tm="0">
                                          <p:val>
                                            <p:clrVal>
                                              <a:schemeClr val="accent2"/>
                                            </p:clrVal>
                                          </p:val>
                                        </p:tav>
                                        <p:tav tm="50000">
                                          <p:val>
                                            <p:clrVal>
                                              <a:schemeClr val="hlink"/>
                                            </p:clrVal>
                                          </p:val>
                                        </p:tav>
                                      </p:tavLst>
                                    </p:anim>
                                    <p:set>
                                      <p:cBhvr>
                                        <p:cTn id="27" dur="80"/>
                                        <p:tgtEl>
                                          <p:spTgt spid="260102">
                                            <p:txEl>
                                              <p:pRg st="0" end="0"/>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60110"/>
                                        </p:tgtEl>
                                        <p:attrNameLst>
                                          <p:attrName>style.visibility</p:attrName>
                                        </p:attrNameLst>
                                      </p:cBhvr>
                                      <p:to>
                                        <p:strVal val="visible"/>
                                      </p:to>
                                    </p:set>
                                    <p:anim calcmode="lin" valueType="num">
                                      <p:cBhvr additive="base">
                                        <p:cTn id="32" dur="500" fill="hold"/>
                                        <p:tgtEl>
                                          <p:spTgt spid="260110"/>
                                        </p:tgtEl>
                                        <p:attrNameLst>
                                          <p:attrName>ppt_x</p:attrName>
                                        </p:attrNameLst>
                                      </p:cBhvr>
                                      <p:tavLst>
                                        <p:tav tm="0">
                                          <p:val>
                                            <p:strVal val="0-#ppt_w/2"/>
                                          </p:val>
                                        </p:tav>
                                        <p:tav tm="100000">
                                          <p:val>
                                            <p:strVal val="#ppt_x"/>
                                          </p:val>
                                        </p:tav>
                                      </p:tavLst>
                                    </p:anim>
                                    <p:anim calcmode="lin" valueType="num">
                                      <p:cBhvr additive="base">
                                        <p:cTn id="33" dur="500" fill="hold"/>
                                        <p:tgtEl>
                                          <p:spTgt spid="260110"/>
                                        </p:tgtEl>
                                        <p:attrNameLst>
                                          <p:attrName>ppt_y</p:attrName>
                                        </p:attrNameLst>
                                      </p:cBhvr>
                                      <p:tavLst>
                                        <p:tav tm="0">
                                          <p:val>
                                            <p:strVal val="#ppt_y"/>
                                          </p:val>
                                        </p:tav>
                                        <p:tav tm="100000">
                                          <p:val>
                                            <p:strVal val="#ppt_y"/>
                                          </p:val>
                                        </p:tav>
                                      </p:tavLst>
                                    </p:anim>
                                  </p:childTnLst>
                                </p:cTn>
                              </p:par>
                              <p:par>
                                <p:cTn id="34" presetID="23" presetClass="entr" presetSubtype="288" fill="hold" grpId="0" nodeType="withEffect">
                                  <p:stCondLst>
                                    <p:cond delay="0"/>
                                  </p:stCondLst>
                                  <p:childTnLst>
                                    <p:set>
                                      <p:cBhvr>
                                        <p:cTn id="35" dur="1" fill="hold">
                                          <p:stCondLst>
                                            <p:cond delay="0"/>
                                          </p:stCondLst>
                                        </p:cTn>
                                        <p:tgtEl>
                                          <p:spTgt spid="260117"/>
                                        </p:tgtEl>
                                        <p:attrNameLst>
                                          <p:attrName>style.visibility</p:attrName>
                                        </p:attrNameLst>
                                      </p:cBhvr>
                                      <p:to>
                                        <p:strVal val="visible"/>
                                      </p:to>
                                    </p:set>
                                    <p:anim calcmode="lin" valueType="num">
                                      <p:cBhvr>
                                        <p:cTn id="36" dur="1000" fill="hold"/>
                                        <p:tgtEl>
                                          <p:spTgt spid="260117"/>
                                        </p:tgtEl>
                                        <p:attrNameLst>
                                          <p:attrName>ppt_w</p:attrName>
                                        </p:attrNameLst>
                                      </p:cBhvr>
                                      <p:tavLst>
                                        <p:tav tm="0">
                                          <p:val>
                                            <p:strVal val="4/3*#ppt_w"/>
                                          </p:val>
                                        </p:tav>
                                        <p:tav tm="100000">
                                          <p:val>
                                            <p:strVal val="#ppt_w"/>
                                          </p:val>
                                        </p:tav>
                                      </p:tavLst>
                                    </p:anim>
                                    <p:anim calcmode="lin" valueType="num">
                                      <p:cBhvr>
                                        <p:cTn id="37" dur="1000" fill="hold"/>
                                        <p:tgtEl>
                                          <p:spTgt spid="260117"/>
                                        </p:tgtEl>
                                        <p:attrNameLst>
                                          <p:attrName>ppt_h</p:attrName>
                                        </p:attrNameLst>
                                      </p:cBhvr>
                                      <p:tavLst>
                                        <p:tav tm="0">
                                          <p:val>
                                            <p:strVal val="4/3*#ppt_h"/>
                                          </p:val>
                                        </p:tav>
                                        <p:tav tm="100000">
                                          <p:val>
                                            <p:strVal val="#ppt_h"/>
                                          </p:val>
                                        </p:tav>
                                      </p:tavLst>
                                    </p:anim>
                                  </p:childTnLst>
                                </p:cTn>
                              </p:par>
                            </p:childTnLst>
                          </p:cTn>
                        </p:par>
                        <p:par>
                          <p:cTn id="38" fill="hold">
                            <p:stCondLst>
                              <p:cond delay="1000"/>
                            </p:stCondLst>
                            <p:childTnLst>
                              <p:par>
                                <p:cTn id="39" presetID="2" presetClass="entr" presetSubtype="3" fill="hold" grpId="0" nodeType="afterEffect">
                                  <p:stCondLst>
                                    <p:cond delay="0"/>
                                  </p:stCondLst>
                                  <p:childTnLst>
                                    <p:set>
                                      <p:cBhvr>
                                        <p:cTn id="40" dur="1" fill="hold">
                                          <p:stCondLst>
                                            <p:cond delay="0"/>
                                          </p:stCondLst>
                                        </p:cTn>
                                        <p:tgtEl>
                                          <p:spTgt spid="260111"/>
                                        </p:tgtEl>
                                        <p:attrNameLst>
                                          <p:attrName>style.visibility</p:attrName>
                                        </p:attrNameLst>
                                      </p:cBhvr>
                                      <p:to>
                                        <p:strVal val="visible"/>
                                      </p:to>
                                    </p:set>
                                    <p:anim calcmode="lin" valueType="num">
                                      <p:cBhvr additive="base">
                                        <p:cTn id="41" dur="500" fill="hold"/>
                                        <p:tgtEl>
                                          <p:spTgt spid="260111"/>
                                        </p:tgtEl>
                                        <p:attrNameLst>
                                          <p:attrName>ppt_x</p:attrName>
                                        </p:attrNameLst>
                                      </p:cBhvr>
                                      <p:tavLst>
                                        <p:tav tm="0">
                                          <p:val>
                                            <p:strVal val="1+#ppt_w/2"/>
                                          </p:val>
                                        </p:tav>
                                        <p:tav tm="100000">
                                          <p:val>
                                            <p:strVal val="#ppt_x"/>
                                          </p:val>
                                        </p:tav>
                                      </p:tavLst>
                                    </p:anim>
                                    <p:anim calcmode="lin" valueType="num">
                                      <p:cBhvr additive="base">
                                        <p:cTn id="42" dur="500" fill="hold"/>
                                        <p:tgtEl>
                                          <p:spTgt spid="260111"/>
                                        </p:tgtEl>
                                        <p:attrNameLst>
                                          <p:attrName>ppt_y</p:attrName>
                                        </p:attrNameLst>
                                      </p:cBhvr>
                                      <p:tavLst>
                                        <p:tav tm="0">
                                          <p:val>
                                            <p:strVal val="0-#ppt_h/2"/>
                                          </p:val>
                                        </p:tav>
                                        <p:tav tm="100000">
                                          <p:val>
                                            <p:strVal val="#ppt_y"/>
                                          </p:val>
                                        </p:tav>
                                      </p:tavLst>
                                    </p:anim>
                                  </p:childTnLst>
                                </p:cTn>
                              </p:par>
                              <p:par>
                                <p:cTn id="43" presetID="23" presetClass="entr" presetSubtype="288" fill="hold" grpId="0" nodeType="withEffect">
                                  <p:stCondLst>
                                    <p:cond delay="0"/>
                                  </p:stCondLst>
                                  <p:childTnLst>
                                    <p:set>
                                      <p:cBhvr>
                                        <p:cTn id="44" dur="1" fill="hold">
                                          <p:stCondLst>
                                            <p:cond delay="0"/>
                                          </p:stCondLst>
                                        </p:cTn>
                                        <p:tgtEl>
                                          <p:spTgt spid="260118"/>
                                        </p:tgtEl>
                                        <p:attrNameLst>
                                          <p:attrName>style.visibility</p:attrName>
                                        </p:attrNameLst>
                                      </p:cBhvr>
                                      <p:to>
                                        <p:strVal val="visible"/>
                                      </p:to>
                                    </p:set>
                                    <p:anim calcmode="lin" valueType="num">
                                      <p:cBhvr>
                                        <p:cTn id="45" dur="1000" fill="hold"/>
                                        <p:tgtEl>
                                          <p:spTgt spid="260118"/>
                                        </p:tgtEl>
                                        <p:attrNameLst>
                                          <p:attrName>ppt_w</p:attrName>
                                        </p:attrNameLst>
                                      </p:cBhvr>
                                      <p:tavLst>
                                        <p:tav tm="0">
                                          <p:val>
                                            <p:strVal val="4/3*#ppt_w"/>
                                          </p:val>
                                        </p:tav>
                                        <p:tav tm="100000">
                                          <p:val>
                                            <p:strVal val="#ppt_w"/>
                                          </p:val>
                                        </p:tav>
                                      </p:tavLst>
                                    </p:anim>
                                    <p:anim calcmode="lin" valueType="num">
                                      <p:cBhvr>
                                        <p:cTn id="46" dur="1000" fill="hold"/>
                                        <p:tgtEl>
                                          <p:spTgt spid="260118"/>
                                        </p:tgtEl>
                                        <p:attrNameLst>
                                          <p:attrName>ppt_h</p:attrName>
                                        </p:attrNameLst>
                                      </p:cBhvr>
                                      <p:tavLst>
                                        <p:tav tm="0">
                                          <p:val>
                                            <p:strVal val="4/3*#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260114">
                                            <p:bg/>
                                          </p:spTgt>
                                        </p:tgtEl>
                                        <p:attrNameLst>
                                          <p:attrName>style.visibility</p:attrName>
                                        </p:attrNameLst>
                                      </p:cBhvr>
                                      <p:to>
                                        <p:strVal val="visible"/>
                                      </p:to>
                                    </p:set>
                                    <p:animEffect transition="in" filter="checkerboard(across)">
                                      <p:cBhvr>
                                        <p:cTn id="51" dur="500"/>
                                        <p:tgtEl>
                                          <p:spTgt spid="260114">
                                            <p:bg/>
                                          </p:spTgt>
                                        </p:tgtEl>
                                      </p:cBhvr>
                                    </p:animEffect>
                                  </p:childTnLst>
                                </p:cTn>
                              </p:par>
                            </p:childTnLst>
                          </p:cTn>
                        </p:par>
                      </p:childTnLst>
                    </p:cTn>
                  </p:par>
                  <p:par>
                    <p:cTn id="52" fill="hold">
                      <p:stCondLst>
                        <p:cond delay="indefinite"/>
                      </p:stCondLst>
                      <p:childTnLst>
                        <p:par>
                          <p:cTn id="53" fill="hold">
                            <p:stCondLst>
                              <p:cond delay="0"/>
                            </p:stCondLst>
                            <p:childTnLst>
                              <p:par>
                                <p:cTn id="54" presetID="5" presetClass="entr" presetSubtype="10" fill="hold" grpId="0" nodeType="clickEffect">
                                  <p:stCondLst>
                                    <p:cond delay="0"/>
                                  </p:stCondLst>
                                  <p:iterate type="lt">
                                    <p:tmPct val="0"/>
                                  </p:iterate>
                                  <p:childTnLst>
                                    <p:set>
                                      <p:cBhvr>
                                        <p:cTn id="55" dur="1" fill="hold">
                                          <p:stCondLst>
                                            <p:cond delay="0"/>
                                          </p:stCondLst>
                                        </p:cTn>
                                        <p:tgtEl>
                                          <p:spTgt spid="260114">
                                            <p:txEl>
                                              <p:pRg st="0" end="0"/>
                                            </p:txEl>
                                          </p:spTgt>
                                        </p:tgtEl>
                                        <p:attrNameLst>
                                          <p:attrName>style.visibility</p:attrName>
                                        </p:attrNameLst>
                                      </p:cBhvr>
                                      <p:to>
                                        <p:strVal val="visible"/>
                                      </p:to>
                                    </p:set>
                                    <p:animEffect transition="in" filter="checkerboard(across)">
                                      <p:cBhvr>
                                        <p:cTn id="56" dur="500"/>
                                        <p:tgtEl>
                                          <p:spTgt spid="260114">
                                            <p:txEl>
                                              <p:pRg st="0" end="0"/>
                                            </p:txEl>
                                          </p:spTgt>
                                        </p:tgtEl>
                                      </p:cBhvr>
                                    </p:animEffect>
                                  </p:childTnLst>
                                </p:cTn>
                              </p:par>
                            </p:childTnLst>
                          </p:cTn>
                        </p:par>
                        <p:par>
                          <p:cTn id="57" fill="hold">
                            <p:stCondLst>
                              <p:cond delay="500"/>
                            </p:stCondLst>
                            <p:childTnLst>
                              <p:par>
                                <p:cTn id="58" presetID="2" presetClass="entr" presetSubtype="3" fill="hold" grpId="0" nodeType="afterEffect">
                                  <p:stCondLst>
                                    <p:cond delay="0"/>
                                  </p:stCondLst>
                                  <p:childTnLst>
                                    <p:set>
                                      <p:cBhvr>
                                        <p:cTn id="59" dur="1" fill="hold">
                                          <p:stCondLst>
                                            <p:cond delay="0"/>
                                          </p:stCondLst>
                                        </p:cTn>
                                        <p:tgtEl>
                                          <p:spTgt spid="260112"/>
                                        </p:tgtEl>
                                        <p:attrNameLst>
                                          <p:attrName>style.visibility</p:attrName>
                                        </p:attrNameLst>
                                      </p:cBhvr>
                                      <p:to>
                                        <p:strVal val="visible"/>
                                      </p:to>
                                    </p:set>
                                    <p:anim calcmode="lin" valueType="num">
                                      <p:cBhvr additive="base">
                                        <p:cTn id="60" dur="500" fill="hold"/>
                                        <p:tgtEl>
                                          <p:spTgt spid="260112"/>
                                        </p:tgtEl>
                                        <p:attrNameLst>
                                          <p:attrName>ppt_x</p:attrName>
                                        </p:attrNameLst>
                                      </p:cBhvr>
                                      <p:tavLst>
                                        <p:tav tm="0">
                                          <p:val>
                                            <p:strVal val="1+#ppt_w/2"/>
                                          </p:val>
                                        </p:tav>
                                        <p:tav tm="100000">
                                          <p:val>
                                            <p:strVal val="#ppt_x"/>
                                          </p:val>
                                        </p:tav>
                                      </p:tavLst>
                                    </p:anim>
                                    <p:anim calcmode="lin" valueType="num">
                                      <p:cBhvr additive="base">
                                        <p:cTn id="61" dur="500" fill="hold"/>
                                        <p:tgtEl>
                                          <p:spTgt spid="260112"/>
                                        </p:tgtEl>
                                        <p:attrNameLst>
                                          <p:attrName>ppt_y</p:attrName>
                                        </p:attrNameLst>
                                      </p:cBhvr>
                                      <p:tavLst>
                                        <p:tav tm="0">
                                          <p:val>
                                            <p:strVal val="0-#ppt_h/2"/>
                                          </p:val>
                                        </p:tav>
                                        <p:tav tm="100000">
                                          <p:val>
                                            <p:strVal val="#ppt_y"/>
                                          </p:val>
                                        </p:tav>
                                      </p:tavLst>
                                    </p:anim>
                                  </p:childTnLst>
                                </p:cTn>
                              </p:par>
                              <p:par>
                                <p:cTn id="62" presetID="23" presetClass="entr" presetSubtype="288" fill="hold" grpId="0" nodeType="withEffect">
                                  <p:stCondLst>
                                    <p:cond delay="0"/>
                                  </p:stCondLst>
                                  <p:childTnLst>
                                    <p:set>
                                      <p:cBhvr>
                                        <p:cTn id="63" dur="1" fill="hold">
                                          <p:stCondLst>
                                            <p:cond delay="0"/>
                                          </p:stCondLst>
                                        </p:cTn>
                                        <p:tgtEl>
                                          <p:spTgt spid="260119"/>
                                        </p:tgtEl>
                                        <p:attrNameLst>
                                          <p:attrName>style.visibility</p:attrName>
                                        </p:attrNameLst>
                                      </p:cBhvr>
                                      <p:to>
                                        <p:strVal val="visible"/>
                                      </p:to>
                                    </p:set>
                                    <p:anim calcmode="lin" valueType="num">
                                      <p:cBhvr>
                                        <p:cTn id="64" dur="1000" fill="hold"/>
                                        <p:tgtEl>
                                          <p:spTgt spid="260119"/>
                                        </p:tgtEl>
                                        <p:attrNameLst>
                                          <p:attrName>ppt_w</p:attrName>
                                        </p:attrNameLst>
                                      </p:cBhvr>
                                      <p:tavLst>
                                        <p:tav tm="0">
                                          <p:val>
                                            <p:strVal val="4/3*#ppt_w"/>
                                          </p:val>
                                        </p:tav>
                                        <p:tav tm="100000">
                                          <p:val>
                                            <p:strVal val="#ppt_w"/>
                                          </p:val>
                                        </p:tav>
                                      </p:tavLst>
                                    </p:anim>
                                    <p:anim calcmode="lin" valueType="num">
                                      <p:cBhvr>
                                        <p:cTn id="65" dur="1000" fill="hold"/>
                                        <p:tgtEl>
                                          <p:spTgt spid="260119"/>
                                        </p:tgtEl>
                                        <p:attrNameLst>
                                          <p:attrName>ppt_h</p:attrName>
                                        </p:attrNameLst>
                                      </p:cBhvr>
                                      <p:tavLst>
                                        <p:tav tm="0">
                                          <p:val>
                                            <p:strVal val="4/3*#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5" presetClass="entr" presetSubtype="10" fill="hold" grpId="0" nodeType="clickEffect">
                                  <p:stCondLst>
                                    <p:cond delay="0"/>
                                  </p:stCondLst>
                                  <p:childTnLst>
                                    <p:set>
                                      <p:cBhvr>
                                        <p:cTn id="69" dur="1" fill="hold">
                                          <p:stCondLst>
                                            <p:cond delay="0"/>
                                          </p:stCondLst>
                                        </p:cTn>
                                        <p:tgtEl>
                                          <p:spTgt spid="260115">
                                            <p:bg/>
                                          </p:spTgt>
                                        </p:tgtEl>
                                        <p:attrNameLst>
                                          <p:attrName>style.visibility</p:attrName>
                                        </p:attrNameLst>
                                      </p:cBhvr>
                                      <p:to>
                                        <p:strVal val="visible"/>
                                      </p:to>
                                    </p:set>
                                    <p:animEffect transition="in" filter="checkerboard(across)">
                                      <p:cBhvr>
                                        <p:cTn id="70" dur="500"/>
                                        <p:tgtEl>
                                          <p:spTgt spid="260115">
                                            <p:bg/>
                                          </p:spTgt>
                                        </p:tgtEl>
                                      </p:cBhvr>
                                    </p:animEffect>
                                  </p:childTnLst>
                                </p:cTn>
                              </p:par>
                            </p:childTnLst>
                          </p:cTn>
                        </p:par>
                      </p:childTnLst>
                    </p:cTn>
                  </p:par>
                  <p:par>
                    <p:cTn id="71" fill="hold">
                      <p:stCondLst>
                        <p:cond delay="indefinite"/>
                      </p:stCondLst>
                      <p:childTnLst>
                        <p:par>
                          <p:cTn id="72" fill="hold">
                            <p:stCondLst>
                              <p:cond delay="0"/>
                            </p:stCondLst>
                            <p:childTnLst>
                              <p:par>
                                <p:cTn id="73" presetID="5" presetClass="entr" presetSubtype="10" fill="hold" grpId="0" nodeType="clickEffect">
                                  <p:stCondLst>
                                    <p:cond delay="0"/>
                                  </p:stCondLst>
                                  <p:iterate type="lt">
                                    <p:tmPct val="0"/>
                                  </p:iterate>
                                  <p:childTnLst>
                                    <p:set>
                                      <p:cBhvr>
                                        <p:cTn id="74" dur="1" fill="hold">
                                          <p:stCondLst>
                                            <p:cond delay="0"/>
                                          </p:stCondLst>
                                        </p:cTn>
                                        <p:tgtEl>
                                          <p:spTgt spid="260115">
                                            <p:txEl>
                                              <p:pRg st="0" end="0"/>
                                            </p:txEl>
                                          </p:spTgt>
                                        </p:tgtEl>
                                        <p:attrNameLst>
                                          <p:attrName>style.visibility</p:attrName>
                                        </p:attrNameLst>
                                      </p:cBhvr>
                                      <p:to>
                                        <p:strVal val="visible"/>
                                      </p:to>
                                    </p:set>
                                    <p:animEffect transition="in" filter="checkerboard(across)">
                                      <p:cBhvr>
                                        <p:cTn id="75" dur="500"/>
                                        <p:tgtEl>
                                          <p:spTgt spid="260115">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60100"/>
                                        </p:tgtEl>
                                        <p:attrNameLst>
                                          <p:attrName>style.visibility</p:attrName>
                                        </p:attrNameLst>
                                      </p:cBhvr>
                                      <p:to>
                                        <p:strVal val="visible"/>
                                      </p:to>
                                    </p:set>
                                    <p:animEffect transition="in" filter="fade">
                                      <p:cBhvr>
                                        <p:cTn id="80" dur="500"/>
                                        <p:tgtEl>
                                          <p:spTgt spid="260100"/>
                                        </p:tgtEl>
                                      </p:cBhvr>
                                    </p:animEffect>
                                  </p:childTnLst>
                                </p:cTn>
                              </p:par>
                            </p:childTnLst>
                          </p:cTn>
                        </p:par>
                      </p:childTnLst>
                    </p:cTn>
                  </p:par>
                  <p:par>
                    <p:cTn id="81" fill="hold">
                      <p:stCondLst>
                        <p:cond delay="indefinite"/>
                      </p:stCondLst>
                      <p:childTnLst>
                        <p:par>
                          <p:cTn id="82" fill="hold">
                            <p:stCondLst>
                              <p:cond delay="0"/>
                            </p:stCondLst>
                            <p:childTnLst>
                              <p:par>
                                <p:cTn id="83" presetID="27" presetClass="entr" presetSubtype="0" fill="hold" grpId="1" nodeType="clickEffect">
                                  <p:stCondLst>
                                    <p:cond delay="0"/>
                                  </p:stCondLst>
                                  <p:iterate type="lt">
                                    <p:tmPct val="50000"/>
                                  </p:iterate>
                                  <p:childTnLst>
                                    <p:set>
                                      <p:cBhvr>
                                        <p:cTn id="84" dur="1" fill="hold">
                                          <p:stCondLst>
                                            <p:cond delay="0"/>
                                          </p:stCondLst>
                                        </p:cTn>
                                        <p:tgtEl>
                                          <p:spTgt spid="260114">
                                            <p:bg/>
                                          </p:spTgt>
                                        </p:tgtEl>
                                        <p:attrNameLst>
                                          <p:attrName>style.visibility</p:attrName>
                                        </p:attrNameLst>
                                      </p:cBhvr>
                                      <p:to>
                                        <p:strVal val="visible"/>
                                      </p:to>
                                    </p:set>
                                    <p:anim calcmode="discrete" valueType="clr">
                                      <p:cBhvr override="childStyle">
                                        <p:cTn id="85" dur="80"/>
                                        <p:tgtEl>
                                          <p:spTgt spid="260114">
                                            <p:bg/>
                                          </p:spTgt>
                                        </p:tgtEl>
                                        <p:attrNameLst>
                                          <p:attrName>style.color</p:attrName>
                                        </p:attrNameLst>
                                      </p:cBhvr>
                                      <p:tavLst>
                                        <p:tav tm="0">
                                          <p:val>
                                            <p:clrVal>
                                              <a:schemeClr val="accent2"/>
                                            </p:clrVal>
                                          </p:val>
                                        </p:tav>
                                        <p:tav tm="50000">
                                          <p:val>
                                            <p:clrVal>
                                              <a:schemeClr val="hlink"/>
                                            </p:clrVal>
                                          </p:val>
                                        </p:tav>
                                      </p:tavLst>
                                    </p:anim>
                                    <p:anim calcmode="discrete" valueType="clr">
                                      <p:cBhvr>
                                        <p:cTn id="86" dur="80"/>
                                        <p:tgtEl>
                                          <p:spTgt spid="260114">
                                            <p:bg/>
                                          </p:spTgt>
                                        </p:tgtEl>
                                        <p:attrNameLst>
                                          <p:attrName>fillcolor</p:attrName>
                                        </p:attrNameLst>
                                      </p:cBhvr>
                                      <p:tavLst>
                                        <p:tav tm="0">
                                          <p:val>
                                            <p:clrVal>
                                              <a:schemeClr val="accent2"/>
                                            </p:clrVal>
                                          </p:val>
                                        </p:tav>
                                        <p:tav tm="50000">
                                          <p:val>
                                            <p:clrVal>
                                              <a:schemeClr val="hlink"/>
                                            </p:clrVal>
                                          </p:val>
                                        </p:tav>
                                      </p:tavLst>
                                    </p:anim>
                                    <p:set>
                                      <p:cBhvr>
                                        <p:cTn id="87" dur="80"/>
                                        <p:tgtEl>
                                          <p:spTgt spid="260114">
                                            <p:bg/>
                                          </p:spTgt>
                                        </p:tgtEl>
                                        <p:attrNameLst>
                                          <p:attrName>fill.type</p:attrName>
                                        </p:attrNameLst>
                                      </p:cBhvr>
                                      <p:to>
                                        <p:strVal val="solid"/>
                                      </p:to>
                                    </p:set>
                                  </p:childTnLst>
                                </p:cTn>
                              </p:par>
                              <p:par>
                                <p:cTn id="88" presetID="27" presetClass="entr" presetSubtype="0" fill="hold" grpId="1" nodeType="withEffect">
                                  <p:stCondLst>
                                    <p:cond delay="0"/>
                                  </p:stCondLst>
                                  <p:iterate type="lt">
                                    <p:tmPct val="50000"/>
                                  </p:iterate>
                                  <p:childTnLst>
                                    <p:set>
                                      <p:cBhvr>
                                        <p:cTn id="89" dur="1" fill="hold">
                                          <p:stCondLst>
                                            <p:cond delay="0"/>
                                          </p:stCondLst>
                                        </p:cTn>
                                        <p:tgtEl>
                                          <p:spTgt spid="260114">
                                            <p:txEl>
                                              <p:pRg st="0" end="0"/>
                                            </p:txEl>
                                          </p:spTgt>
                                        </p:tgtEl>
                                        <p:attrNameLst>
                                          <p:attrName>style.visibility</p:attrName>
                                        </p:attrNameLst>
                                      </p:cBhvr>
                                      <p:to>
                                        <p:strVal val="visible"/>
                                      </p:to>
                                    </p:set>
                                    <p:anim calcmode="discrete" valueType="clr">
                                      <p:cBhvr override="childStyle">
                                        <p:cTn id="90" dur="80"/>
                                        <p:tgtEl>
                                          <p:spTgt spid="26011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1" dur="80"/>
                                        <p:tgtEl>
                                          <p:spTgt spid="260114">
                                            <p:txEl>
                                              <p:pRg st="0" end="0"/>
                                            </p:txEl>
                                          </p:spTgt>
                                        </p:tgtEl>
                                        <p:attrNameLst>
                                          <p:attrName>fillcolor</p:attrName>
                                        </p:attrNameLst>
                                      </p:cBhvr>
                                      <p:tavLst>
                                        <p:tav tm="0">
                                          <p:val>
                                            <p:clrVal>
                                              <a:schemeClr val="accent2"/>
                                            </p:clrVal>
                                          </p:val>
                                        </p:tav>
                                        <p:tav tm="50000">
                                          <p:val>
                                            <p:clrVal>
                                              <a:schemeClr val="hlink"/>
                                            </p:clrVal>
                                          </p:val>
                                        </p:tav>
                                      </p:tavLst>
                                    </p:anim>
                                    <p:set>
                                      <p:cBhvr>
                                        <p:cTn id="92" dur="80"/>
                                        <p:tgtEl>
                                          <p:spTgt spid="260114">
                                            <p:txEl>
                                              <p:pRg st="0" end="0"/>
                                            </p:txEl>
                                          </p:spTgt>
                                        </p:tgtEl>
                                        <p:attrNameLst>
                                          <p:attrName>fill.type</p:attrName>
                                        </p:attrNameLst>
                                      </p:cBhvr>
                                      <p:to>
                                        <p:strVal val="solid"/>
                                      </p:to>
                                    </p:set>
                                  </p:childTnLst>
                                </p:cTn>
                              </p:par>
                            </p:childTnLst>
                          </p:cTn>
                        </p:par>
                      </p:childTnLst>
                    </p:cTn>
                  </p:par>
                  <p:par>
                    <p:cTn id="93" fill="hold">
                      <p:stCondLst>
                        <p:cond delay="indefinite"/>
                      </p:stCondLst>
                      <p:childTnLst>
                        <p:par>
                          <p:cTn id="94" fill="hold">
                            <p:stCondLst>
                              <p:cond delay="0"/>
                            </p:stCondLst>
                            <p:childTnLst>
                              <p:par>
                                <p:cTn id="95" presetID="27" presetClass="entr" presetSubtype="0" fill="hold" grpId="1" nodeType="clickEffect">
                                  <p:stCondLst>
                                    <p:cond delay="0"/>
                                  </p:stCondLst>
                                  <p:iterate type="lt">
                                    <p:tmPct val="50000"/>
                                  </p:iterate>
                                  <p:childTnLst>
                                    <p:set>
                                      <p:cBhvr>
                                        <p:cTn id="96" dur="1" fill="hold">
                                          <p:stCondLst>
                                            <p:cond delay="0"/>
                                          </p:stCondLst>
                                        </p:cTn>
                                        <p:tgtEl>
                                          <p:spTgt spid="260115">
                                            <p:bg/>
                                          </p:spTgt>
                                        </p:tgtEl>
                                        <p:attrNameLst>
                                          <p:attrName>style.visibility</p:attrName>
                                        </p:attrNameLst>
                                      </p:cBhvr>
                                      <p:to>
                                        <p:strVal val="visible"/>
                                      </p:to>
                                    </p:set>
                                    <p:anim calcmode="discrete" valueType="clr">
                                      <p:cBhvr override="childStyle">
                                        <p:cTn id="97" dur="80"/>
                                        <p:tgtEl>
                                          <p:spTgt spid="260115">
                                            <p:bg/>
                                          </p:spTgt>
                                        </p:tgtEl>
                                        <p:attrNameLst>
                                          <p:attrName>style.color</p:attrName>
                                        </p:attrNameLst>
                                      </p:cBhvr>
                                      <p:tavLst>
                                        <p:tav tm="0">
                                          <p:val>
                                            <p:clrVal>
                                              <a:schemeClr val="accent2"/>
                                            </p:clrVal>
                                          </p:val>
                                        </p:tav>
                                        <p:tav tm="50000">
                                          <p:val>
                                            <p:clrVal>
                                              <a:schemeClr val="hlink"/>
                                            </p:clrVal>
                                          </p:val>
                                        </p:tav>
                                      </p:tavLst>
                                    </p:anim>
                                    <p:anim calcmode="discrete" valueType="clr">
                                      <p:cBhvr>
                                        <p:cTn id="98" dur="80"/>
                                        <p:tgtEl>
                                          <p:spTgt spid="260115">
                                            <p:bg/>
                                          </p:spTgt>
                                        </p:tgtEl>
                                        <p:attrNameLst>
                                          <p:attrName>fillcolor</p:attrName>
                                        </p:attrNameLst>
                                      </p:cBhvr>
                                      <p:tavLst>
                                        <p:tav tm="0">
                                          <p:val>
                                            <p:clrVal>
                                              <a:schemeClr val="accent2"/>
                                            </p:clrVal>
                                          </p:val>
                                        </p:tav>
                                        <p:tav tm="50000">
                                          <p:val>
                                            <p:clrVal>
                                              <a:schemeClr val="hlink"/>
                                            </p:clrVal>
                                          </p:val>
                                        </p:tav>
                                      </p:tavLst>
                                    </p:anim>
                                    <p:set>
                                      <p:cBhvr>
                                        <p:cTn id="99" dur="80"/>
                                        <p:tgtEl>
                                          <p:spTgt spid="260115">
                                            <p:bg/>
                                          </p:spTgt>
                                        </p:tgtEl>
                                        <p:attrNameLst>
                                          <p:attrName>fill.type</p:attrName>
                                        </p:attrNameLst>
                                      </p:cBhvr>
                                      <p:to>
                                        <p:strVal val="solid"/>
                                      </p:to>
                                    </p:set>
                                  </p:childTnLst>
                                </p:cTn>
                              </p:par>
                              <p:par>
                                <p:cTn id="100" presetID="27" presetClass="entr" presetSubtype="0" fill="hold" grpId="1" nodeType="withEffect">
                                  <p:stCondLst>
                                    <p:cond delay="0"/>
                                  </p:stCondLst>
                                  <p:iterate type="lt">
                                    <p:tmPct val="50000"/>
                                  </p:iterate>
                                  <p:childTnLst>
                                    <p:set>
                                      <p:cBhvr>
                                        <p:cTn id="101" dur="1" fill="hold">
                                          <p:stCondLst>
                                            <p:cond delay="0"/>
                                          </p:stCondLst>
                                        </p:cTn>
                                        <p:tgtEl>
                                          <p:spTgt spid="260115">
                                            <p:txEl>
                                              <p:pRg st="0" end="0"/>
                                            </p:txEl>
                                          </p:spTgt>
                                        </p:tgtEl>
                                        <p:attrNameLst>
                                          <p:attrName>style.visibility</p:attrName>
                                        </p:attrNameLst>
                                      </p:cBhvr>
                                      <p:to>
                                        <p:strVal val="visible"/>
                                      </p:to>
                                    </p:set>
                                    <p:anim calcmode="discrete" valueType="clr">
                                      <p:cBhvr override="childStyle">
                                        <p:cTn id="102" dur="80"/>
                                        <p:tgtEl>
                                          <p:spTgt spid="26011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03" dur="80"/>
                                        <p:tgtEl>
                                          <p:spTgt spid="260115">
                                            <p:txEl>
                                              <p:pRg st="0" end="0"/>
                                            </p:txEl>
                                          </p:spTgt>
                                        </p:tgtEl>
                                        <p:attrNameLst>
                                          <p:attrName>fillcolor</p:attrName>
                                        </p:attrNameLst>
                                      </p:cBhvr>
                                      <p:tavLst>
                                        <p:tav tm="0">
                                          <p:val>
                                            <p:clrVal>
                                              <a:schemeClr val="accent2"/>
                                            </p:clrVal>
                                          </p:val>
                                        </p:tav>
                                        <p:tav tm="50000">
                                          <p:val>
                                            <p:clrVal>
                                              <a:schemeClr val="hlink"/>
                                            </p:clrVal>
                                          </p:val>
                                        </p:tav>
                                      </p:tavLst>
                                    </p:anim>
                                    <p:set>
                                      <p:cBhvr>
                                        <p:cTn id="104" dur="80"/>
                                        <p:tgtEl>
                                          <p:spTgt spid="26011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animBg="1"/>
      <p:bldP spid="260102" grpId="0" build="p" animBg="1" advAuto="0"/>
      <p:bldP spid="260114" grpId="0" build="p" animBg="1" advAuto="0"/>
      <p:bldP spid="260114" grpId="1" build="allAtOnce" animBg="1"/>
      <p:bldP spid="260115" grpId="0" build="p" animBg="1" advAuto="0"/>
      <p:bldP spid="260115" grpId="1" build="allAtOnce" animBg="1"/>
      <p:bldP spid="260117" grpId="0" animBg="1"/>
      <p:bldP spid="260110" grpId="0" animBg="1"/>
      <p:bldP spid="260118" grpId="0" animBg="1"/>
      <p:bldP spid="260111" grpId="0" animBg="1"/>
      <p:bldP spid="260119" grpId="0" animBg="1"/>
      <p:bldP spid="2601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r>
              <a:rPr lang="en-US"/>
              <a:t>Ambient</a:t>
            </a:r>
            <a:endParaRPr lang="en-CA"/>
          </a:p>
        </p:txBody>
      </p:sp>
      <p:sp>
        <p:nvSpPr>
          <p:cNvPr id="26317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263175" name="Picture 7" descr="183617995_f4f01a87d4">
            <a:hlinkClick r:id="rId3"/>
          </p:cNvPr>
          <p:cNvPicPr>
            <a:picLocks noChangeAspect="1" noChangeArrowheads="1"/>
          </p:cNvPicPr>
          <p:nvPr/>
        </p:nvPicPr>
        <p:blipFill>
          <a:blip r:embed="rId4" cstate="print"/>
          <a:srcRect/>
          <a:stretch>
            <a:fillRect/>
          </a:stretch>
        </p:blipFill>
        <p:spPr bwMode="auto">
          <a:xfrm>
            <a:off x="304800" y="228600"/>
            <a:ext cx="2895600" cy="2171700"/>
          </a:xfrm>
          <a:prstGeom prst="rect">
            <a:avLst/>
          </a:prstGeom>
          <a:noFill/>
        </p:spPr>
      </p:pic>
      <p:pic>
        <p:nvPicPr>
          <p:cNvPr id="263177" name="Picture 9" descr="catcam_cat_meeting_under_car"/>
          <p:cNvPicPr>
            <a:picLocks noChangeAspect="1" noChangeArrowheads="1"/>
          </p:cNvPicPr>
          <p:nvPr/>
        </p:nvPicPr>
        <p:blipFill>
          <a:blip r:embed="rId5" cstate="print"/>
          <a:srcRect/>
          <a:stretch>
            <a:fillRect/>
          </a:stretch>
        </p:blipFill>
        <p:spPr bwMode="auto">
          <a:xfrm>
            <a:off x="5791200" y="171451"/>
            <a:ext cx="3200400" cy="1918097"/>
          </a:xfrm>
          <a:prstGeom prst="rect">
            <a:avLst/>
          </a:prstGeom>
          <a:noFill/>
        </p:spPr>
      </p:pic>
      <p:pic>
        <p:nvPicPr>
          <p:cNvPr id="263178" name="Picture 10" descr="shadows1"/>
          <p:cNvPicPr>
            <a:picLocks noChangeAspect="1" noChangeArrowheads="1"/>
          </p:cNvPicPr>
          <p:nvPr/>
        </p:nvPicPr>
        <p:blipFill>
          <a:blip r:embed="rId6" cstate="print"/>
          <a:srcRect/>
          <a:stretch>
            <a:fillRect/>
          </a:stretch>
        </p:blipFill>
        <p:spPr bwMode="auto">
          <a:xfrm>
            <a:off x="3505200" y="114300"/>
            <a:ext cx="2135188" cy="2743200"/>
          </a:xfrm>
          <a:prstGeom prst="rect">
            <a:avLst/>
          </a:prstGeom>
          <a:noFill/>
        </p:spPr>
      </p:pic>
      <p:pic>
        <p:nvPicPr>
          <p:cNvPr id="263179" name="Picture 11" descr="shadows3"/>
          <p:cNvPicPr>
            <a:picLocks noChangeAspect="1" noChangeArrowheads="1"/>
          </p:cNvPicPr>
          <p:nvPr/>
        </p:nvPicPr>
        <p:blipFill>
          <a:blip r:embed="rId7" cstate="print"/>
          <a:srcRect/>
          <a:stretch>
            <a:fillRect/>
          </a:stretch>
        </p:blipFill>
        <p:spPr bwMode="auto">
          <a:xfrm>
            <a:off x="304800" y="2628901"/>
            <a:ext cx="3200400" cy="2184797"/>
          </a:xfrm>
          <a:prstGeom prst="rect">
            <a:avLst/>
          </a:prstGeom>
          <a:noFill/>
        </p:spPr>
      </p:pic>
      <p:pic>
        <p:nvPicPr>
          <p:cNvPr id="263176" name="Picture 8" descr="Face_In_Shadow">
            <a:hlinkClick r:id="rId8"/>
          </p:cNvPr>
          <p:cNvPicPr>
            <a:picLocks noChangeAspect="1" noChangeArrowheads="1"/>
          </p:cNvPicPr>
          <p:nvPr/>
        </p:nvPicPr>
        <p:blipFill>
          <a:blip r:embed="rId9" cstate="print"/>
          <a:srcRect/>
          <a:stretch>
            <a:fillRect/>
          </a:stretch>
        </p:blipFill>
        <p:spPr bwMode="auto">
          <a:xfrm>
            <a:off x="6553201" y="2171700"/>
            <a:ext cx="2428875" cy="2743200"/>
          </a:xfrm>
          <a:prstGeom prst="rect">
            <a:avLst/>
          </a:prstGeom>
          <a:noFill/>
        </p:spPr>
      </p:pic>
      <p:sp>
        <p:nvSpPr>
          <p:cNvPr id="263174" name="AutoShape 6"/>
          <p:cNvSpPr>
            <a:spLocks noChangeArrowheads="1"/>
          </p:cNvSpPr>
          <p:nvPr/>
        </p:nvSpPr>
        <p:spPr bwMode="auto">
          <a:xfrm>
            <a:off x="1905000" y="2057400"/>
            <a:ext cx="5410200" cy="1485900"/>
          </a:xfrm>
          <a:prstGeom prst="roundRect">
            <a:avLst>
              <a:gd name="adj" fmla="val 16667"/>
            </a:avLst>
          </a:prstGeom>
          <a:solidFill>
            <a:srgbClr val="00B8FF"/>
          </a:solidFill>
          <a:ln w="9525">
            <a:solidFill>
              <a:schemeClr val="tx1"/>
            </a:solidFill>
            <a:round/>
            <a:headEnd/>
            <a:tailEnd/>
          </a:ln>
          <a:effectLst/>
        </p:spPr>
        <p:txBody>
          <a:bodyPr anchor="ctr"/>
          <a:lstStyle/>
          <a:p>
            <a:pPr algn="ctr"/>
            <a:r>
              <a:rPr lang="en-GB" sz="1600" dirty="0">
                <a:solidFill>
                  <a:schemeClr val="bg1"/>
                </a:solidFill>
                <a:latin typeface="Tahoma" pitchFamily="34" charset="0"/>
                <a:cs typeface="Arial" charset="0"/>
              </a:rPr>
              <a:t>This is the ambient light in the real world. Notice that it’s virtually impossible to get shadows that have no ambient component (that are completely black). In other words, if there is </a:t>
            </a:r>
            <a:r>
              <a:rPr lang="en-GB" sz="1600" i="1" u="sng" dirty="0">
                <a:solidFill>
                  <a:schemeClr val="bg1"/>
                </a:solidFill>
                <a:latin typeface="Tahoma" pitchFamily="34" charset="0"/>
                <a:cs typeface="Arial" charset="0"/>
              </a:rPr>
              <a:t>any</a:t>
            </a:r>
            <a:r>
              <a:rPr lang="en-GB" sz="1600" dirty="0">
                <a:solidFill>
                  <a:schemeClr val="bg1"/>
                </a:solidFill>
                <a:latin typeface="Tahoma" pitchFamily="34" charset="0"/>
                <a:cs typeface="Arial" charset="0"/>
              </a:rPr>
              <a:t> light, then there is ambient.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263175"/>
                                        </p:tgtEl>
                                        <p:attrNameLst>
                                          <p:attrName>style.visibility</p:attrName>
                                        </p:attrNameLst>
                                      </p:cBhvr>
                                      <p:to>
                                        <p:strVal val="visible"/>
                                      </p:to>
                                    </p:set>
                                    <p:animEffect transition="in" filter="checkerboard(across)">
                                      <p:cBhvr>
                                        <p:cTn id="7" dur="500"/>
                                        <p:tgtEl>
                                          <p:spTgt spid="263175"/>
                                        </p:tgtEl>
                                      </p:cBhvr>
                                    </p:animEffect>
                                  </p:childTnLst>
                                </p:cTn>
                              </p:par>
                            </p:childTnLst>
                          </p:cTn>
                        </p:par>
                        <p:par>
                          <p:cTn id="8" fill="hold">
                            <p:stCondLst>
                              <p:cond delay="500"/>
                            </p:stCondLst>
                            <p:childTnLst>
                              <p:par>
                                <p:cTn id="9" presetID="5" presetClass="entr" presetSubtype="10" fill="hold" nodeType="afterEffect">
                                  <p:stCondLst>
                                    <p:cond delay="500"/>
                                  </p:stCondLst>
                                  <p:childTnLst>
                                    <p:set>
                                      <p:cBhvr>
                                        <p:cTn id="10" dur="1" fill="hold">
                                          <p:stCondLst>
                                            <p:cond delay="0"/>
                                          </p:stCondLst>
                                        </p:cTn>
                                        <p:tgtEl>
                                          <p:spTgt spid="263178"/>
                                        </p:tgtEl>
                                        <p:attrNameLst>
                                          <p:attrName>style.visibility</p:attrName>
                                        </p:attrNameLst>
                                      </p:cBhvr>
                                      <p:to>
                                        <p:strVal val="visible"/>
                                      </p:to>
                                    </p:set>
                                    <p:animEffect transition="in" filter="checkerboard(across)">
                                      <p:cBhvr>
                                        <p:cTn id="11" dur="500"/>
                                        <p:tgtEl>
                                          <p:spTgt spid="263178"/>
                                        </p:tgtEl>
                                      </p:cBhvr>
                                    </p:animEffect>
                                  </p:childTnLst>
                                </p:cTn>
                              </p:par>
                            </p:childTnLst>
                          </p:cTn>
                        </p:par>
                        <p:par>
                          <p:cTn id="12" fill="hold">
                            <p:stCondLst>
                              <p:cond delay="1500"/>
                            </p:stCondLst>
                            <p:childTnLst>
                              <p:par>
                                <p:cTn id="13" presetID="5" presetClass="entr" presetSubtype="10" fill="hold" nodeType="afterEffect">
                                  <p:stCondLst>
                                    <p:cond delay="500"/>
                                  </p:stCondLst>
                                  <p:childTnLst>
                                    <p:set>
                                      <p:cBhvr>
                                        <p:cTn id="14" dur="1" fill="hold">
                                          <p:stCondLst>
                                            <p:cond delay="0"/>
                                          </p:stCondLst>
                                        </p:cTn>
                                        <p:tgtEl>
                                          <p:spTgt spid="263177"/>
                                        </p:tgtEl>
                                        <p:attrNameLst>
                                          <p:attrName>style.visibility</p:attrName>
                                        </p:attrNameLst>
                                      </p:cBhvr>
                                      <p:to>
                                        <p:strVal val="visible"/>
                                      </p:to>
                                    </p:set>
                                    <p:animEffect transition="in" filter="checkerboard(across)">
                                      <p:cBhvr>
                                        <p:cTn id="15" dur="500"/>
                                        <p:tgtEl>
                                          <p:spTgt spid="263177"/>
                                        </p:tgtEl>
                                      </p:cBhvr>
                                    </p:animEffect>
                                  </p:childTnLst>
                                </p:cTn>
                              </p:par>
                            </p:childTnLst>
                          </p:cTn>
                        </p:par>
                        <p:par>
                          <p:cTn id="16" fill="hold">
                            <p:stCondLst>
                              <p:cond delay="2500"/>
                            </p:stCondLst>
                            <p:childTnLst>
                              <p:par>
                                <p:cTn id="17" presetID="5" presetClass="entr" presetSubtype="10" fill="hold" nodeType="afterEffect">
                                  <p:stCondLst>
                                    <p:cond delay="500"/>
                                  </p:stCondLst>
                                  <p:childTnLst>
                                    <p:set>
                                      <p:cBhvr>
                                        <p:cTn id="18" dur="1" fill="hold">
                                          <p:stCondLst>
                                            <p:cond delay="0"/>
                                          </p:stCondLst>
                                        </p:cTn>
                                        <p:tgtEl>
                                          <p:spTgt spid="263179"/>
                                        </p:tgtEl>
                                        <p:attrNameLst>
                                          <p:attrName>style.visibility</p:attrName>
                                        </p:attrNameLst>
                                      </p:cBhvr>
                                      <p:to>
                                        <p:strVal val="visible"/>
                                      </p:to>
                                    </p:set>
                                    <p:animEffect transition="in" filter="checkerboard(across)">
                                      <p:cBhvr>
                                        <p:cTn id="19" dur="500"/>
                                        <p:tgtEl>
                                          <p:spTgt spid="263179"/>
                                        </p:tgtEl>
                                      </p:cBhvr>
                                    </p:animEffect>
                                  </p:childTnLst>
                                </p:cTn>
                              </p:par>
                            </p:childTnLst>
                          </p:cTn>
                        </p:par>
                        <p:par>
                          <p:cTn id="20" fill="hold">
                            <p:stCondLst>
                              <p:cond delay="3500"/>
                            </p:stCondLst>
                            <p:childTnLst>
                              <p:par>
                                <p:cTn id="21" presetID="5" presetClass="entr" presetSubtype="10" fill="hold" nodeType="afterEffect">
                                  <p:stCondLst>
                                    <p:cond delay="500"/>
                                  </p:stCondLst>
                                  <p:childTnLst>
                                    <p:set>
                                      <p:cBhvr>
                                        <p:cTn id="22" dur="1" fill="hold">
                                          <p:stCondLst>
                                            <p:cond delay="0"/>
                                          </p:stCondLst>
                                        </p:cTn>
                                        <p:tgtEl>
                                          <p:spTgt spid="263176"/>
                                        </p:tgtEl>
                                        <p:attrNameLst>
                                          <p:attrName>style.visibility</p:attrName>
                                        </p:attrNameLst>
                                      </p:cBhvr>
                                      <p:to>
                                        <p:strVal val="visible"/>
                                      </p:to>
                                    </p:set>
                                    <p:animEffect transition="in" filter="checkerboard(across)">
                                      <p:cBhvr>
                                        <p:cTn id="23" dur="500"/>
                                        <p:tgtEl>
                                          <p:spTgt spid="263176"/>
                                        </p:tgtEl>
                                      </p:cBhvr>
                                    </p:animEffec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263174"/>
                                        </p:tgtEl>
                                        <p:attrNameLst>
                                          <p:attrName>style.visibility</p:attrName>
                                        </p:attrNameLst>
                                      </p:cBhvr>
                                      <p:to>
                                        <p:strVal val="visible"/>
                                      </p:to>
                                    </p:set>
                                    <p:anim calcmode="discrete" valueType="clr">
                                      <p:cBhvr override="childStyle">
                                        <p:cTn id="28" dur="80"/>
                                        <p:tgtEl>
                                          <p:spTgt spid="263174"/>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63174"/>
                                        </p:tgtEl>
                                        <p:attrNameLst>
                                          <p:attrName>fillcolor</p:attrName>
                                        </p:attrNameLst>
                                      </p:cBhvr>
                                      <p:tavLst>
                                        <p:tav tm="0">
                                          <p:val>
                                            <p:clrVal>
                                              <a:schemeClr val="accent2"/>
                                            </p:clrVal>
                                          </p:val>
                                        </p:tav>
                                        <p:tav tm="50000">
                                          <p:val>
                                            <p:clrVal>
                                              <a:schemeClr val="hlink"/>
                                            </p:clrVal>
                                          </p:val>
                                        </p:tav>
                                      </p:tavLst>
                                    </p:anim>
                                    <p:set>
                                      <p:cBhvr>
                                        <p:cTn id="30" dur="80"/>
                                        <p:tgtEl>
                                          <p:spTgt spid="263174"/>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63172"/>
                                        </p:tgtEl>
                                        <p:attrNameLst>
                                          <p:attrName>style.visibility</p:attrName>
                                        </p:attrNameLst>
                                      </p:cBhvr>
                                      <p:to>
                                        <p:strVal val="visible"/>
                                      </p:to>
                                    </p:set>
                                    <p:animEffect transition="in" filter="fade">
                                      <p:cBhvr>
                                        <p:cTn id="35" dur="500"/>
                                        <p:tgtEl>
                                          <p:spTgt spid="26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animBg="1"/>
      <p:bldP spid="26317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en-US"/>
              <a:t>Ambient</a:t>
            </a:r>
            <a:endParaRPr lang="en-CA"/>
          </a:p>
        </p:txBody>
      </p:sp>
      <p:sp>
        <p:nvSpPr>
          <p:cNvPr id="26522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265222" name="Rectangle 6"/>
          <p:cNvSpPr>
            <a:spLocks noChangeArrowheads="1"/>
          </p:cNvSpPr>
          <p:nvPr/>
        </p:nvSpPr>
        <p:spPr bwMode="auto">
          <a:xfrm>
            <a:off x="395536" y="3111810"/>
            <a:ext cx="4724400" cy="1485900"/>
          </a:xfrm>
          <a:prstGeom prst="rect">
            <a:avLst/>
          </a:prstGeom>
          <a:noFill/>
          <a:ln w="9525">
            <a:solidFill>
              <a:schemeClr val="tx1"/>
            </a:solidFill>
            <a:miter lim="800000"/>
            <a:headEnd/>
            <a:tailEnd/>
          </a:ln>
          <a:effectLst/>
        </p:spPr>
        <p:txBody>
          <a:bodyPr anchor="ctr"/>
          <a:lstStyle/>
          <a:p>
            <a:pPr algn="ctr"/>
            <a:r>
              <a:rPr lang="en-US">
                <a:solidFill>
                  <a:schemeClr val="tx1"/>
                </a:solidFill>
                <a:latin typeface="Tahoma" pitchFamily="34" charset="0"/>
                <a:cs typeface="Arial" charset="0"/>
              </a:rPr>
              <a:t>In fact, humans are very sensitive to this, and this “lack” or “wrong” ambience is often used in the entertainment and advertizing world…</a:t>
            </a:r>
            <a:endParaRPr lang="en-GB">
              <a:solidFill>
                <a:schemeClr val="tx1"/>
              </a:solidFill>
              <a:latin typeface="Tahoma" pitchFamily="34" charset="0"/>
              <a:cs typeface="Arial" charset="0"/>
            </a:endParaRPr>
          </a:p>
        </p:txBody>
      </p:sp>
      <p:pic>
        <p:nvPicPr>
          <p:cNvPr id="265224" name="Picture 8" descr="car3">
            <a:hlinkClick r:id="rId3"/>
          </p:cNvPr>
          <p:cNvPicPr>
            <a:picLocks noChangeAspect="1" noChangeArrowheads="1"/>
          </p:cNvPicPr>
          <p:nvPr/>
        </p:nvPicPr>
        <p:blipFill>
          <a:blip r:embed="rId4" cstate="print"/>
          <a:srcRect/>
          <a:stretch>
            <a:fillRect/>
          </a:stretch>
        </p:blipFill>
        <p:spPr bwMode="auto">
          <a:xfrm>
            <a:off x="5105400" y="114300"/>
            <a:ext cx="3810000" cy="2143125"/>
          </a:xfrm>
          <a:prstGeom prst="rect">
            <a:avLst/>
          </a:prstGeom>
          <a:noFill/>
        </p:spPr>
      </p:pic>
      <p:pic>
        <p:nvPicPr>
          <p:cNvPr id="265226" name="Picture 10" descr="cars001">
            <a:hlinkClick r:id="rId5"/>
          </p:cNvPr>
          <p:cNvPicPr>
            <a:picLocks noChangeAspect="1" noChangeArrowheads="1"/>
          </p:cNvPicPr>
          <p:nvPr/>
        </p:nvPicPr>
        <p:blipFill>
          <a:blip r:embed="rId6" cstate="print"/>
          <a:srcRect/>
          <a:stretch>
            <a:fillRect/>
          </a:stretch>
        </p:blipFill>
        <p:spPr bwMode="auto">
          <a:xfrm>
            <a:off x="5334001" y="2228850"/>
            <a:ext cx="3478213" cy="2664619"/>
          </a:xfrm>
          <a:prstGeom prst="rect">
            <a:avLst/>
          </a:prstGeom>
          <a:noFill/>
        </p:spPr>
      </p:pic>
      <p:pic>
        <p:nvPicPr>
          <p:cNvPr id="265231" name="Picture 15" descr="lm_altview_tl733">
            <a:hlinkClick r:id="rId7"/>
          </p:cNvPr>
          <p:cNvPicPr>
            <a:picLocks noChangeAspect="1" noChangeArrowheads="1"/>
          </p:cNvPicPr>
          <p:nvPr/>
        </p:nvPicPr>
        <p:blipFill>
          <a:blip r:embed="rId8" cstate="print"/>
          <a:srcRect/>
          <a:stretch>
            <a:fillRect/>
          </a:stretch>
        </p:blipFill>
        <p:spPr bwMode="auto">
          <a:xfrm>
            <a:off x="228600" y="228600"/>
            <a:ext cx="3054350" cy="2686050"/>
          </a:xfrm>
          <a:prstGeom prst="rect">
            <a:avLst/>
          </a:prstGeom>
          <a:noFill/>
        </p:spPr>
      </p:pic>
      <p:pic>
        <p:nvPicPr>
          <p:cNvPr id="265229" name="Picture 13" descr="Car-Advertisements-for-TV-thumbnail">
            <a:hlinkClick r:id="rId9"/>
          </p:cNvPr>
          <p:cNvPicPr>
            <a:picLocks noChangeAspect="1" noChangeArrowheads="1"/>
          </p:cNvPicPr>
          <p:nvPr/>
        </p:nvPicPr>
        <p:blipFill>
          <a:blip r:embed="rId10" cstate="print"/>
          <a:srcRect/>
          <a:stretch>
            <a:fillRect/>
          </a:stretch>
        </p:blipFill>
        <p:spPr bwMode="auto">
          <a:xfrm>
            <a:off x="3124200" y="171450"/>
            <a:ext cx="2571750" cy="1128713"/>
          </a:xfrm>
          <a:prstGeom prst="rect">
            <a:avLst/>
          </a:prstGeom>
          <a:noFill/>
        </p:spPr>
      </p:pic>
      <p:sp>
        <p:nvSpPr>
          <p:cNvPr id="265232" name="AutoShape 16"/>
          <p:cNvSpPr>
            <a:spLocks noChangeArrowheads="1"/>
          </p:cNvSpPr>
          <p:nvPr/>
        </p:nvSpPr>
        <p:spPr bwMode="auto">
          <a:xfrm>
            <a:off x="1295400" y="1257300"/>
            <a:ext cx="6400800" cy="1714500"/>
          </a:xfrm>
          <a:prstGeom prst="roundRect">
            <a:avLst>
              <a:gd name="adj" fmla="val 16667"/>
            </a:avLst>
          </a:prstGeom>
          <a:solidFill>
            <a:srgbClr val="00B8FF"/>
          </a:solidFill>
          <a:ln w="9525">
            <a:solidFill>
              <a:schemeClr val="tx1"/>
            </a:solidFill>
            <a:round/>
            <a:headEnd/>
            <a:tailEnd/>
          </a:ln>
          <a:effectLst/>
        </p:spPr>
        <p:txBody>
          <a:bodyPr anchor="ctr"/>
          <a:lstStyle/>
          <a:p>
            <a:pPr algn="ctr"/>
            <a:r>
              <a:rPr lang="en-GB" sz="2400" dirty="0">
                <a:solidFill>
                  <a:schemeClr val="bg1"/>
                </a:solidFill>
                <a:latin typeface="Tahoma" pitchFamily="34" charset="0"/>
                <a:cs typeface="Arial" charset="0"/>
              </a:rPr>
              <a:t>The point is that ambient light is ‘always’ there, even in the ‘dark’ – notice how night-time lighting often appears ‘blue’ on TV. </a:t>
            </a:r>
          </a:p>
          <a:p>
            <a:pPr algn="ctr"/>
            <a:r>
              <a:rPr lang="en-GB" sz="2400" dirty="0">
                <a:solidFill>
                  <a:schemeClr val="bg1"/>
                </a:solidFill>
                <a:latin typeface="Tahoma" pitchFamily="34" charset="0"/>
                <a:cs typeface="Arial" charset="0"/>
              </a:rPr>
              <a:t>But it’s not pitch black.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65222"/>
                                        </p:tgtEl>
                                        <p:attrNameLst>
                                          <p:attrName>style.visibility</p:attrName>
                                        </p:attrNameLst>
                                      </p:cBhvr>
                                      <p:to>
                                        <p:strVal val="visible"/>
                                      </p:to>
                                    </p:set>
                                    <p:anim calcmode="discrete" valueType="clr">
                                      <p:cBhvr override="childStyle">
                                        <p:cTn id="7" dur="80"/>
                                        <p:tgtEl>
                                          <p:spTgt spid="26522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65222"/>
                                        </p:tgtEl>
                                        <p:attrNameLst>
                                          <p:attrName>fillcolor</p:attrName>
                                        </p:attrNameLst>
                                      </p:cBhvr>
                                      <p:tavLst>
                                        <p:tav tm="0">
                                          <p:val>
                                            <p:clrVal>
                                              <a:schemeClr val="accent2"/>
                                            </p:clrVal>
                                          </p:val>
                                        </p:tav>
                                        <p:tav tm="50000">
                                          <p:val>
                                            <p:clrVal>
                                              <a:schemeClr val="hlink"/>
                                            </p:clrVal>
                                          </p:val>
                                        </p:tav>
                                      </p:tavLst>
                                    </p:anim>
                                    <p:set>
                                      <p:cBhvr>
                                        <p:cTn id="9" dur="80"/>
                                        <p:tgtEl>
                                          <p:spTgt spid="26522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265226"/>
                                        </p:tgtEl>
                                        <p:attrNameLst>
                                          <p:attrName>style.visibility</p:attrName>
                                        </p:attrNameLst>
                                      </p:cBhvr>
                                      <p:to>
                                        <p:strVal val="visible"/>
                                      </p:to>
                                    </p:set>
                                    <p:animEffect transition="in" filter="checkerboard(across)">
                                      <p:cBhvr>
                                        <p:cTn id="14" dur="500"/>
                                        <p:tgtEl>
                                          <p:spTgt spid="265226"/>
                                        </p:tgtEl>
                                      </p:cBhvr>
                                    </p:animEffect>
                                  </p:childTnLst>
                                </p:cTn>
                              </p:par>
                            </p:childTnLst>
                          </p:cTn>
                        </p:par>
                        <p:par>
                          <p:cTn id="15" fill="hold">
                            <p:stCondLst>
                              <p:cond delay="500"/>
                            </p:stCondLst>
                            <p:childTnLst>
                              <p:par>
                                <p:cTn id="16" presetID="5" presetClass="entr" presetSubtype="10" fill="hold" nodeType="afterEffect">
                                  <p:stCondLst>
                                    <p:cond delay="0"/>
                                  </p:stCondLst>
                                  <p:childTnLst>
                                    <p:set>
                                      <p:cBhvr>
                                        <p:cTn id="17" dur="1" fill="hold">
                                          <p:stCondLst>
                                            <p:cond delay="0"/>
                                          </p:stCondLst>
                                        </p:cTn>
                                        <p:tgtEl>
                                          <p:spTgt spid="265224"/>
                                        </p:tgtEl>
                                        <p:attrNameLst>
                                          <p:attrName>style.visibility</p:attrName>
                                        </p:attrNameLst>
                                      </p:cBhvr>
                                      <p:to>
                                        <p:strVal val="visible"/>
                                      </p:to>
                                    </p:set>
                                    <p:animEffect transition="in" filter="checkerboard(across)">
                                      <p:cBhvr>
                                        <p:cTn id="18" dur="500"/>
                                        <p:tgtEl>
                                          <p:spTgt spid="265224"/>
                                        </p:tgtEl>
                                      </p:cBhvr>
                                    </p:animEffect>
                                  </p:childTnLst>
                                </p:cTn>
                              </p:par>
                            </p:childTnLst>
                          </p:cTn>
                        </p:par>
                        <p:par>
                          <p:cTn id="19" fill="hold">
                            <p:stCondLst>
                              <p:cond delay="1000"/>
                            </p:stCondLst>
                            <p:childTnLst>
                              <p:par>
                                <p:cTn id="20" presetID="5" presetClass="entr" presetSubtype="10" fill="hold" nodeType="afterEffect">
                                  <p:stCondLst>
                                    <p:cond delay="0"/>
                                  </p:stCondLst>
                                  <p:childTnLst>
                                    <p:set>
                                      <p:cBhvr>
                                        <p:cTn id="21" dur="1" fill="hold">
                                          <p:stCondLst>
                                            <p:cond delay="0"/>
                                          </p:stCondLst>
                                        </p:cTn>
                                        <p:tgtEl>
                                          <p:spTgt spid="265229"/>
                                        </p:tgtEl>
                                        <p:attrNameLst>
                                          <p:attrName>style.visibility</p:attrName>
                                        </p:attrNameLst>
                                      </p:cBhvr>
                                      <p:to>
                                        <p:strVal val="visible"/>
                                      </p:to>
                                    </p:set>
                                    <p:animEffect transition="in" filter="checkerboard(across)">
                                      <p:cBhvr>
                                        <p:cTn id="22" dur="500"/>
                                        <p:tgtEl>
                                          <p:spTgt spid="265229"/>
                                        </p:tgtEl>
                                      </p:cBhvr>
                                    </p:animEffect>
                                  </p:childTnLst>
                                </p:cTn>
                              </p:par>
                            </p:childTnLst>
                          </p:cTn>
                        </p:par>
                        <p:par>
                          <p:cTn id="23" fill="hold">
                            <p:stCondLst>
                              <p:cond delay="1500"/>
                            </p:stCondLst>
                            <p:childTnLst>
                              <p:par>
                                <p:cTn id="24" presetID="5" presetClass="entr" presetSubtype="10" fill="hold" nodeType="afterEffect">
                                  <p:stCondLst>
                                    <p:cond delay="0"/>
                                  </p:stCondLst>
                                  <p:childTnLst>
                                    <p:set>
                                      <p:cBhvr>
                                        <p:cTn id="25" dur="1" fill="hold">
                                          <p:stCondLst>
                                            <p:cond delay="0"/>
                                          </p:stCondLst>
                                        </p:cTn>
                                        <p:tgtEl>
                                          <p:spTgt spid="265231"/>
                                        </p:tgtEl>
                                        <p:attrNameLst>
                                          <p:attrName>style.visibility</p:attrName>
                                        </p:attrNameLst>
                                      </p:cBhvr>
                                      <p:to>
                                        <p:strVal val="visible"/>
                                      </p:to>
                                    </p:set>
                                    <p:animEffect transition="in" filter="checkerboard(across)">
                                      <p:cBhvr>
                                        <p:cTn id="26" dur="500"/>
                                        <p:tgtEl>
                                          <p:spTgt spid="26523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5220"/>
                                        </p:tgtEl>
                                        <p:attrNameLst>
                                          <p:attrName>style.visibility</p:attrName>
                                        </p:attrNameLst>
                                      </p:cBhvr>
                                      <p:to>
                                        <p:strVal val="visible"/>
                                      </p:to>
                                    </p:set>
                                    <p:animEffect transition="in" filter="fade">
                                      <p:cBhvr>
                                        <p:cTn id="31" dur="500"/>
                                        <p:tgtEl>
                                          <p:spTgt spid="265220"/>
                                        </p:tgtEl>
                                      </p:cBhvr>
                                    </p:animEffec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265232"/>
                                        </p:tgtEl>
                                        <p:attrNameLst>
                                          <p:attrName>style.visibility</p:attrName>
                                        </p:attrNameLst>
                                      </p:cBhvr>
                                      <p:to>
                                        <p:strVal val="visible"/>
                                      </p:to>
                                    </p:set>
                                    <p:anim calcmode="discrete" valueType="clr">
                                      <p:cBhvr override="childStyle">
                                        <p:cTn id="36" dur="80"/>
                                        <p:tgtEl>
                                          <p:spTgt spid="265232"/>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265232"/>
                                        </p:tgtEl>
                                        <p:attrNameLst>
                                          <p:attrName>fillcolor</p:attrName>
                                        </p:attrNameLst>
                                      </p:cBhvr>
                                      <p:tavLst>
                                        <p:tav tm="0">
                                          <p:val>
                                            <p:clrVal>
                                              <a:schemeClr val="accent2"/>
                                            </p:clrVal>
                                          </p:val>
                                        </p:tav>
                                        <p:tav tm="50000">
                                          <p:val>
                                            <p:clrVal>
                                              <a:schemeClr val="hlink"/>
                                            </p:clrVal>
                                          </p:val>
                                        </p:tav>
                                      </p:tavLst>
                                    </p:anim>
                                    <p:set>
                                      <p:cBhvr>
                                        <p:cTn id="38" dur="80"/>
                                        <p:tgtEl>
                                          <p:spTgt spid="2652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0" grpId="0" animBg="1"/>
      <p:bldP spid="265222" grpId="0" animBg="1"/>
      <p:bldP spid="2652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r>
              <a:rPr lang="en-US"/>
              <a:t>Ambient light in graphics</a:t>
            </a:r>
            <a:endParaRPr lang="en-CA"/>
          </a:p>
        </p:txBody>
      </p:sp>
      <p:sp>
        <p:nvSpPr>
          <p:cNvPr id="267267" name="Rectangle 3"/>
          <p:cNvSpPr>
            <a:spLocks noGrp="1" noChangeArrowheads="1"/>
          </p:cNvSpPr>
          <p:nvPr>
            <p:ph type="body" idx="1"/>
          </p:nvPr>
        </p:nvSpPr>
        <p:spPr>
          <a:xfrm>
            <a:off x="838200" y="1371600"/>
            <a:ext cx="7772400" cy="3200400"/>
          </a:xfrm>
        </p:spPr>
        <p:txBody>
          <a:bodyPr/>
          <a:lstStyle/>
          <a:p>
            <a:pPr>
              <a:lnSpc>
                <a:spcPct val="90000"/>
              </a:lnSpc>
            </a:pPr>
            <a:r>
              <a:rPr lang="en-US"/>
              <a:t>You set the ambient light to be the lighting that is there </a:t>
            </a:r>
            <a:r>
              <a:rPr lang="en-US" i="1"/>
              <a:t>when there is no other lights</a:t>
            </a:r>
            <a:r>
              <a:rPr lang="en-US"/>
              <a:t>. </a:t>
            </a:r>
          </a:p>
          <a:p>
            <a:pPr>
              <a:lnSpc>
                <a:spcPct val="90000"/>
              </a:lnSpc>
            </a:pPr>
            <a:r>
              <a:rPr lang="en-US"/>
              <a:t>With ambient light set to zero:</a:t>
            </a:r>
          </a:p>
          <a:p>
            <a:pPr lvl="1">
              <a:lnSpc>
                <a:spcPct val="90000"/>
              </a:lnSpc>
            </a:pPr>
            <a:r>
              <a:rPr lang="en-CA"/>
              <a:t>You can’t see anything at all</a:t>
            </a:r>
          </a:p>
          <a:p>
            <a:pPr lvl="1">
              <a:lnSpc>
                <a:spcPct val="90000"/>
              </a:lnSpc>
            </a:pPr>
            <a:r>
              <a:rPr lang="en-CA"/>
              <a:t>You can only see items that are lit by other types of lights (directional, spots, etc.)</a:t>
            </a:r>
          </a:p>
          <a:p>
            <a:pPr lvl="1">
              <a:lnSpc>
                <a:spcPct val="90000"/>
              </a:lnSpc>
            </a:pPr>
            <a:r>
              <a:rPr lang="en-CA"/>
              <a:t>Without it, the lighting appears harsh or night-like</a:t>
            </a:r>
          </a:p>
        </p:txBody>
      </p:sp>
      <p:sp>
        <p:nvSpPr>
          <p:cNvPr id="26726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67267">
                                            <p:txEl>
                                              <p:pRg st="0" end="0"/>
                                            </p:txEl>
                                          </p:spTgt>
                                        </p:tgtEl>
                                        <p:attrNameLst>
                                          <p:attrName>style.visibility</p:attrName>
                                        </p:attrNameLst>
                                      </p:cBhvr>
                                      <p:to>
                                        <p:strVal val="visible"/>
                                      </p:to>
                                    </p:set>
                                    <p:anim calcmode="discrete" valueType="clr">
                                      <p:cBhvr override="childStyle">
                                        <p:cTn id="7" dur="80"/>
                                        <p:tgtEl>
                                          <p:spTgt spid="26726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6726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6726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67267">
                                            <p:txEl>
                                              <p:pRg st="1" end="1"/>
                                            </p:txEl>
                                          </p:spTgt>
                                        </p:tgtEl>
                                        <p:attrNameLst>
                                          <p:attrName>style.visibility</p:attrName>
                                        </p:attrNameLst>
                                      </p:cBhvr>
                                      <p:to>
                                        <p:strVal val="visible"/>
                                      </p:to>
                                    </p:set>
                                    <p:anim calcmode="discrete" valueType="clr">
                                      <p:cBhvr override="childStyle">
                                        <p:cTn id="14" dur="80"/>
                                        <p:tgtEl>
                                          <p:spTgt spid="26726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6726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6726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267267">
                                            <p:txEl>
                                              <p:pRg st="2" end="2"/>
                                            </p:txEl>
                                          </p:spTgt>
                                        </p:tgtEl>
                                        <p:attrNameLst>
                                          <p:attrName>style.visibility</p:attrName>
                                        </p:attrNameLst>
                                      </p:cBhvr>
                                      <p:to>
                                        <p:strVal val="visible"/>
                                      </p:to>
                                    </p:set>
                                    <p:anim calcmode="discrete" valueType="clr">
                                      <p:cBhvr override="childStyle">
                                        <p:cTn id="21" dur="80"/>
                                        <p:tgtEl>
                                          <p:spTgt spid="26726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6726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6726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267267">
                                            <p:txEl>
                                              <p:pRg st="3" end="3"/>
                                            </p:txEl>
                                          </p:spTgt>
                                        </p:tgtEl>
                                        <p:attrNameLst>
                                          <p:attrName>style.visibility</p:attrName>
                                        </p:attrNameLst>
                                      </p:cBhvr>
                                      <p:to>
                                        <p:strVal val="visible"/>
                                      </p:to>
                                    </p:set>
                                    <p:anim calcmode="discrete" valueType="clr">
                                      <p:cBhvr override="childStyle">
                                        <p:cTn id="28" dur="80"/>
                                        <p:tgtEl>
                                          <p:spTgt spid="26726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67267">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67267">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267267">
                                            <p:txEl>
                                              <p:pRg st="4" end="4"/>
                                            </p:txEl>
                                          </p:spTgt>
                                        </p:tgtEl>
                                        <p:attrNameLst>
                                          <p:attrName>style.visibility</p:attrName>
                                        </p:attrNameLst>
                                      </p:cBhvr>
                                      <p:to>
                                        <p:strVal val="visible"/>
                                      </p:to>
                                    </p:set>
                                    <p:anim calcmode="discrete" valueType="clr">
                                      <p:cBhvr override="childStyle">
                                        <p:cTn id="35" dur="80"/>
                                        <p:tgtEl>
                                          <p:spTgt spid="26726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67267">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267267">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7268"/>
                                        </p:tgtEl>
                                        <p:attrNameLst>
                                          <p:attrName>style.visibility</p:attrName>
                                        </p:attrNameLst>
                                      </p:cBhvr>
                                      <p:to>
                                        <p:strVal val="visible"/>
                                      </p:to>
                                    </p:set>
                                    <p:animEffect transition="in" filter="fade">
                                      <p:cBhvr>
                                        <p:cTn id="42" dur="500"/>
                                        <p:tgtEl>
                                          <p:spTgt spid="267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build="p"/>
      <p:bldP spid="26726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611560" y="267494"/>
            <a:ext cx="7772400" cy="685800"/>
          </a:xfrm>
        </p:spPr>
        <p:txBody>
          <a:bodyPr/>
          <a:lstStyle/>
          <a:p>
            <a:r>
              <a:rPr lang="en-US" dirty="0"/>
              <a:t>Diffuse (reflection)</a:t>
            </a:r>
            <a:endParaRPr lang="en-CA" dirty="0"/>
          </a:p>
        </p:txBody>
      </p:sp>
      <p:sp>
        <p:nvSpPr>
          <p:cNvPr id="269315" name="Rectangle 3"/>
          <p:cNvSpPr>
            <a:spLocks noGrp="1" noChangeArrowheads="1"/>
          </p:cNvSpPr>
          <p:nvPr>
            <p:ph type="body" idx="1"/>
          </p:nvPr>
        </p:nvSpPr>
        <p:spPr>
          <a:xfrm>
            <a:off x="539552" y="1203598"/>
            <a:ext cx="8305800" cy="3086100"/>
          </a:xfrm>
        </p:spPr>
        <p:txBody>
          <a:bodyPr>
            <a:normAutofit/>
          </a:bodyPr>
          <a:lstStyle/>
          <a:p>
            <a:r>
              <a:rPr lang="en-US" sz="2800" dirty="0"/>
              <a:t>Diffuse is the </a:t>
            </a:r>
            <a:r>
              <a:rPr lang="en-GB" sz="2800" dirty="0"/>
              <a:t>colour</a:t>
            </a:r>
            <a:r>
              <a:rPr lang="en-US" sz="2800" dirty="0"/>
              <a:t> of something depending on the light that is reflected off</a:t>
            </a:r>
          </a:p>
          <a:p>
            <a:r>
              <a:rPr lang="en-US" sz="2800" dirty="0"/>
              <a:t>The </a:t>
            </a:r>
            <a:r>
              <a:rPr lang="en-GB" sz="2800" dirty="0"/>
              <a:t>colour</a:t>
            </a:r>
            <a:r>
              <a:rPr lang="en-US" sz="2800" dirty="0"/>
              <a:t> is scattered evenly, so you can’t tell the light direction</a:t>
            </a:r>
            <a:endParaRPr lang="en-CA" sz="2800" dirty="0"/>
          </a:p>
        </p:txBody>
      </p:sp>
      <p:sp>
        <p:nvSpPr>
          <p:cNvPr id="26931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10"/>
          <p:cNvGrpSpPr>
            <a:grpSpLocks/>
          </p:cNvGrpSpPr>
          <p:nvPr/>
        </p:nvGrpSpPr>
        <p:grpSpPr bwMode="auto">
          <a:xfrm rot="-178888">
            <a:off x="1100138" y="3082529"/>
            <a:ext cx="495300" cy="457200"/>
            <a:chOff x="744" y="2522"/>
            <a:chExt cx="312" cy="384"/>
          </a:xfrm>
        </p:grpSpPr>
        <p:sp>
          <p:nvSpPr>
            <p:cNvPr id="269321" name="Oval 9"/>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69320" name="AutoShape 8"/>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69323" name="Line 11"/>
          <p:cNvSpPr>
            <a:spLocks noChangeShapeType="1"/>
          </p:cNvSpPr>
          <p:nvPr/>
        </p:nvSpPr>
        <p:spPr bwMode="auto">
          <a:xfrm>
            <a:off x="1651001" y="3509963"/>
            <a:ext cx="1408113" cy="782241"/>
          </a:xfrm>
          <a:prstGeom prst="line">
            <a:avLst/>
          </a:prstGeom>
          <a:noFill/>
          <a:ln w="76200">
            <a:solidFill>
              <a:srgbClr val="FFFF00"/>
            </a:solidFill>
            <a:round/>
            <a:headEnd/>
            <a:tailEnd type="stealth" w="lg" len="lg"/>
          </a:ln>
          <a:effectLst/>
        </p:spPr>
        <p:txBody>
          <a:bodyPr/>
          <a:lstStyle/>
          <a:p>
            <a:endParaRPr lang="en-CA"/>
          </a:p>
        </p:txBody>
      </p:sp>
      <p:grpSp>
        <p:nvGrpSpPr>
          <p:cNvPr id="3" name="Group 30"/>
          <p:cNvGrpSpPr>
            <a:grpSpLocks/>
          </p:cNvGrpSpPr>
          <p:nvPr/>
        </p:nvGrpSpPr>
        <p:grpSpPr bwMode="auto">
          <a:xfrm>
            <a:off x="1717675" y="3337323"/>
            <a:ext cx="2649538" cy="1987153"/>
            <a:chOff x="3600" y="2721"/>
            <a:chExt cx="1414" cy="1414"/>
          </a:xfrm>
        </p:grpSpPr>
        <p:sp>
          <p:nvSpPr>
            <p:cNvPr id="269331" name="AutoShape 19"/>
            <p:cNvSpPr>
              <a:spLocks noChangeArrowheads="1"/>
            </p:cNvSpPr>
            <p:nvPr/>
          </p:nvSpPr>
          <p:spPr bwMode="auto">
            <a:xfrm>
              <a:off x="3600" y="2721"/>
              <a:ext cx="1414" cy="1414"/>
            </a:xfrm>
            <a:custGeom>
              <a:avLst/>
              <a:gdLst>
                <a:gd name="G0" fmla="+- 108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96480"/>
                <a:gd name="G21" fmla="sin G19 11796480"/>
                <a:gd name="G22" fmla="+- G20 10800 0"/>
                <a:gd name="G23" fmla="+- G21 10800 0"/>
                <a:gd name="G24" fmla="+- 10800 0 G20"/>
                <a:gd name="G25" fmla="+- 10800 10800 0"/>
                <a:gd name="G26" fmla="?: G9 G17 G25"/>
                <a:gd name="G27" fmla="?: G9 0 21600"/>
                <a:gd name="G28" fmla="cos 10800 11796480"/>
                <a:gd name="G29" fmla="sin 10800 11796480"/>
                <a:gd name="G30" fmla="sin 108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0 w 21600"/>
                <a:gd name="T15" fmla="*/ 10800 h 21600"/>
                <a:gd name="T16" fmla="*/ 10800 w 21600"/>
                <a:gd name="T17" fmla="*/ 0 h 21600"/>
                <a:gd name="T18" fmla="*/ 216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0" y="10800"/>
                  </a:moveTo>
                  <a:cubicBezTo>
                    <a:pt x="0" y="4835"/>
                    <a:pt x="4835" y="0"/>
                    <a:pt x="10800" y="0"/>
                  </a:cubicBezTo>
                  <a:cubicBezTo>
                    <a:pt x="16764" y="-1"/>
                    <a:pt x="21599" y="4835"/>
                    <a:pt x="21600" y="10799"/>
                  </a:cubicBezTo>
                  <a:lnTo>
                    <a:pt x="21600" y="10800"/>
                  </a:lnTo>
                  <a:cubicBezTo>
                    <a:pt x="21600" y="4835"/>
                    <a:pt x="16764" y="0"/>
                    <a:pt x="10800" y="0"/>
                  </a:cubicBezTo>
                  <a:cubicBezTo>
                    <a:pt x="4835" y="0"/>
                    <a:pt x="0" y="4835"/>
                    <a:pt x="0" y="10800"/>
                  </a:cubicBezTo>
                  <a:close/>
                </a:path>
              </a:pathLst>
            </a:custGeom>
            <a:solidFill>
              <a:srgbClr val="00B8FF"/>
            </a:solidFill>
            <a:ln w="28575" algn="ctr">
              <a:solidFill>
                <a:srgbClr val="FFFF00"/>
              </a:solidFill>
              <a:miter lim="800000"/>
              <a:headEnd/>
              <a:tailEnd type="none" w="lg" len="lg"/>
            </a:ln>
            <a:effectLst/>
          </p:spPr>
          <p:txBody>
            <a:bodyPr/>
            <a:lstStyle/>
            <a:p>
              <a:endParaRPr lang="en-CA"/>
            </a:p>
          </p:txBody>
        </p:sp>
        <p:sp>
          <p:nvSpPr>
            <p:cNvPr id="269333" name="Line 21"/>
            <p:cNvSpPr>
              <a:spLocks noChangeShapeType="1"/>
            </p:cNvSpPr>
            <p:nvPr/>
          </p:nvSpPr>
          <p:spPr bwMode="auto">
            <a:xfrm flipH="1" flipV="1">
              <a:off x="4312" y="2739"/>
              <a:ext cx="15" cy="686"/>
            </a:xfrm>
            <a:prstGeom prst="line">
              <a:avLst/>
            </a:prstGeom>
            <a:noFill/>
            <a:ln w="28575">
              <a:solidFill>
                <a:srgbClr val="FFFF00"/>
              </a:solidFill>
              <a:round/>
              <a:headEnd/>
              <a:tailEnd type="stealth" w="lg" len="lg"/>
            </a:ln>
            <a:effectLst/>
          </p:spPr>
          <p:txBody>
            <a:bodyPr/>
            <a:lstStyle/>
            <a:p>
              <a:endParaRPr lang="en-CA"/>
            </a:p>
          </p:txBody>
        </p:sp>
        <p:sp>
          <p:nvSpPr>
            <p:cNvPr id="269334" name="Line 22"/>
            <p:cNvSpPr>
              <a:spLocks noChangeShapeType="1"/>
            </p:cNvSpPr>
            <p:nvPr/>
          </p:nvSpPr>
          <p:spPr bwMode="auto">
            <a:xfrm flipV="1">
              <a:off x="4341" y="2836"/>
              <a:ext cx="253" cy="574"/>
            </a:xfrm>
            <a:prstGeom prst="line">
              <a:avLst/>
            </a:prstGeom>
            <a:noFill/>
            <a:ln w="28575">
              <a:solidFill>
                <a:srgbClr val="FFFF00"/>
              </a:solidFill>
              <a:round/>
              <a:headEnd/>
              <a:tailEnd type="stealth" w="lg" len="lg"/>
            </a:ln>
            <a:effectLst/>
          </p:spPr>
          <p:txBody>
            <a:bodyPr/>
            <a:lstStyle/>
            <a:p>
              <a:endParaRPr lang="en-CA"/>
            </a:p>
          </p:txBody>
        </p:sp>
        <p:sp>
          <p:nvSpPr>
            <p:cNvPr id="269335" name="Line 23"/>
            <p:cNvSpPr>
              <a:spLocks noChangeShapeType="1"/>
            </p:cNvSpPr>
            <p:nvPr/>
          </p:nvSpPr>
          <p:spPr bwMode="auto">
            <a:xfrm flipH="1" flipV="1">
              <a:off x="3770" y="3013"/>
              <a:ext cx="568" cy="419"/>
            </a:xfrm>
            <a:prstGeom prst="line">
              <a:avLst/>
            </a:prstGeom>
            <a:noFill/>
            <a:ln w="28575">
              <a:solidFill>
                <a:srgbClr val="FFFF00"/>
              </a:solidFill>
              <a:round/>
              <a:headEnd/>
              <a:tailEnd type="stealth" w="lg" len="lg"/>
            </a:ln>
            <a:effectLst/>
          </p:spPr>
          <p:txBody>
            <a:bodyPr/>
            <a:lstStyle/>
            <a:p>
              <a:endParaRPr lang="en-CA"/>
            </a:p>
          </p:txBody>
        </p:sp>
        <p:sp>
          <p:nvSpPr>
            <p:cNvPr id="269336" name="Line 24"/>
            <p:cNvSpPr>
              <a:spLocks noChangeShapeType="1"/>
            </p:cNvSpPr>
            <p:nvPr/>
          </p:nvSpPr>
          <p:spPr bwMode="auto">
            <a:xfrm flipH="1" flipV="1">
              <a:off x="3995" y="2845"/>
              <a:ext cx="334" cy="573"/>
            </a:xfrm>
            <a:prstGeom prst="line">
              <a:avLst/>
            </a:prstGeom>
            <a:noFill/>
            <a:ln w="28575">
              <a:solidFill>
                <a:srgbClr val="FFFF00"/>
              </a:solidFill>
              <a:round/>
              <a:headEnd/>
              <a:tailEnd type="stealth" w="lg" len="lg"/>
            </a:ln>
            <a:effectLst/>
          </p:spPr>
          <p:txBody>
            <a:bodyPr/>
            <a:lstStyle/>
            <a:p>
              <a:endParaRPr lang="en-CA"/>
            </a:p>
          </p:txBody>
        </p:sp>
        <p:sp>
          <p:nvSpPr>
            <p:cNvPr id="269339" name="Line 27"/>
            <p:cNvSpPr>
              <a:spLocks noChangeShapeType="1"/>
            </p:cNvSpPr>
            <p:nvPr/>
          </p:nvSpPr>
          <p:spPr bwMode="auto">
            <a:xfrm flipV="1">
              <a:off x="4328" y="3031"/>
              <a:ext cx="490" cy="396"/>
            </a:xfrm>
            <a:prstGeom prst="line">
              <a:avLst/>
            </a:prstGeom>
            <a:noFill/>
            <a:ln w="28575">
              <a:solidFill>
                <a:srgbClr val="FFFF00"/>
              </a:solidFill>
              <a:round/>
              <a:headEnd/>
              <a:tailEnd type="stealth" w="lg" len="lg"/>
            </a:ln>
            <a:effectLst/>
          </p:spPr>
          <p:txBody>
            <a:bodyPr/>
            <a:lstStyle/>
            <a:p>
              <a:endParaRPr lang="en-CA"/>
            </a:p>
          </p:txBody>
        </p:sp>
        <p:sp>
          <p:nvSpPr>
            <p:cNvPr id="269340" name="Line 28"/>
            <p:cNvSpPr>
              <a:spLocks noChangeShapeType="1"/>
            </p:cNvSpPr>
            <p:nvPr/>
          </p:nvSpPr>
          <p:spPr bwMode="auto">
            <a:xfrm flipV="1">
              <a:off x="4332" y="3268"/>
              <a:ext cx="655" cy="155"/>
            </a:xfrm>
            <a:prstGeom prst="line">
              <a:avLst/>
            </a:prstGeom>
            <a:noFill/>
            <a:ln w="28575">
              <a:solidFill>
                <a:srgbClr val="FFFF00"/>
              </a:solidFill>
              <a:round/>
              <a:headEnd/>
              <a:tailEnd type="stealth" w="lg" len="lg"/>
            </a:ln>
            <a:effectLst/>
          </p:spPr>
          <p:txBody>
            <a:bodyPr/>
            <a:lstStyle/>
            <a:p>
              <a:endParaRPr lang="en-CA"/>
            </a:p>
          </p:txBody>
        </p:sp>
        <p:sp>
          <p:nvSpPr>
            <p:cNvPr id="269341" name="Line 29"/>
            <p:cNvSpPr>
              <a:spLocks noChangeShapeType="1"/>
            </p:cNvSpPr>
            <p:nvPr/>
          </p:nvSpPr>
          <p:spPr bwMode="auto">
            <a:xfrm flipH="1" flipV="1">
              <a:off x="3670" y="3211"/>
              <a:ext cx="653" cy="213"/>
            </a:xfrm>
            <a:prstGeom prst="line">
              <a:avLst/>
            </a:prstGeom>
            <a:noFill/>
            <a:ln w="28575">
              <a:solidFill>
                <a:srgbClr val="FFFF00"/>
              </a:solidFill>
              <a:round/>
              <a:headEnd/>
              <a:tailEnd type="stealth" w="lg" len="lg"/>
            </a:ln>
            <a:effectLst/>
          </p:spPr>
          <p:txBody>
            <a:bodyPr/>
            <a:lstStyle/>
            <a:p>
              <a:endParaRPr lang="en-CA"/>
            </a:p>
          </p:txBody>
        </p:sp>
      </p:grpSp>
      <p:sp>
        <p:nvSpPr>
          <p:cNvPr id="269319" name="Rectangle 7"/>
          <p:cNvSpPr>
            <a:spLocks noChangeArrowheads="1"/>
          </p:cNvSpPr>
          <p:nvPr/>
        </p:nvSpPr>
        <p:spPr bwMode="auto">
          <a:xfrm>
            <a:off x="1546225" y="4301729"/>
            <a:ext cx="2971800" cy="228600"/>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269343" name="Text Box 31"/>
          <p:cNvSpPr txBox="1">
            <a:spLocks noChangeArrowheads="1"/>
          </p:cNvSpPr>
          <p:nvPr/>
        </p:nvSpPr>
        <p:spPr bwMode="auto">
          <a:xfrm>
            <a:off x="4800601" y="3026569"/>
            <a:ext cx="4213225" cy="1200329"/>
          </a:xfrm>
          <a:prstGeom prst="rect">
            <a:avLst/>
          </a:prstGeom>
          <a:noFill/>
          <a:ln w="9525">
            <a:noFill/>
            <a:miter lim="800000"/>
            <a:headEnd/>
            <a:tailEnd/>
          </a:ln>
          <a:effectLst/>
        </p:spPr>
        <p:txBody>
          <a:bodyPr>
            <a:spAutoFit/>
          </a:bodyPr>
          <a:lstStyle/>
          <a:p>
            <a:pPr>
              <a:spcBef>
                <a:spcPct val="50000"/>
              </a:spcBef>
            </a:pPr>
            <a:r>
              <a:rPr lang="en-GB">
                <a:solidFill>
                  <a:schemeClr val="tx1"/>
                </a:solidFill>
              </a:rPr>
              <a:t>In </a:t>
            </a:r>
            <a:r>
              <a:rPr lang="en-GB" b="1" i="1" u="sng">
                <a:solidFill>
                  <a:schemeClr val="tx1"/>
                </a:solidFill>
              </a:rPr>
              <a:t>perfect</a:t>
            </a:r>
            <a:r>
              <a:rPr lang="en-GB">
                <a:solidFill>
                  <a:schemeClr val="tx1"/>
                </a:solidFill>
              </a:rPr>
              <a:t> diffuse reflection, the amount of light is even in all directions. This is why most things seem the same colour from any angle.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69315">
                                            <p:txEl>
                                              <p:pRg st="0" end="0"/>
                                            </p:txEl>
                                          </p:spTgt>
                                        </p:tgtEl>
                                        <p:attrNameLst>
                                          <p:attrName>style.visibility</p:attrName>
                                        </p:attrNameLst>
                                      </p:cBhvr>
                                      <p:to>
                                        <p:strVal val="visible"/>
                                      </p:to>
                                    </p:set>
                                    <p:anim calcmode="discrete" valueType="clr">
                                      <p:cBhvr override="childStyle">
                                        <p:cTn id="7" dur="80"/>
                                        <p:tgtEl>
                                          <p:spTgt spid="26931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6931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6931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69315">
                                            <p:txEl>
                                              <p:pRg st="1" end="1"/>
                                            </p:txEl>
                                          </p:spTgt>
                                        </p:tgtEl>
                                        <p:attrNameLst>
                                          <p:attrName>style.visibility</p:attrName>
                                        </p:attrNameLst>
                                      </p:cBhvr>
                                      <p:to>
                                        <p:strVal val="visible"/>
                                      </p:to>
                                    </p:set>
                                    <p:anim calcmode="discrete" valueType="clr">
                                      <p:cBhvr override="childStyle">
                                        <p:cTn id="14" dur="80"/>
                                        <p:tgtEl>
                                          <p:spTgt spid="26931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6931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69315">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heckerboard(across)">
                                      <p:cBhvr>
                                        <p:cTn id="21" dur="500"/>
                                        <p:tgtEl>
                                          <p:spTgt spid="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269319"/>
                                        </p:tgtEl>
                                        <p:attrNameLst>
                                          <p:attrName>style.visibility</p:attrName>
                                        </p:attrNameLst>
                                      </p:cBhvr>
                                      <p:to>
                                        <p:strVal val="visible"/>
                                      </p:to>
                                    </p:set>
                                    <p:animEffect transition="in" filter="checkerboard(across)">
                                      <p:cBhvr>
                                        <p:cTn id="24" dur="500"/>
                                        <p:tgtEl>
                                          <p:spTgt spid="269319"/>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1000" fill="hold"/>
                                        <p:tgtEl>
                                          <p:spTgt spid="3"/>
                                        </p:tgtEl>
                                        <p:attrNameLst>
                                          <p:attrName>ppt_w</p:attrName>
                                        </p:attrNameLst>
                                      </p:cBhvr>
                                      <p:tavLst>
                                        <p:tav tm="0">
                                          <p:val>
                                            <p:strVal val="#ppt_w*0.70"/>
                                          </p:val>
                                        </p:tav>
                                        <p:tav tm="100000">
                                          <p:val>
                                            <p:strVal val="#ppt_w"/>
                                          </p:val>
                                        </p:tav>
                                      </p:tavLst>
                                    </p:anim>
                                    <p:anim calcmode="lin" valueType="num">
                                      <p:cBhvr>
                                        <p:cTn id="30" dur="1000" fill="hold"/>
                                        <p:tgtEl>
                                          <p:spTgt spid="3"/>
                                        </p:tgtEl>
                                        <p:attrNameLst>
                                          <p:attrName>ppt_h</p:attrName>
                                        </p:attrNameLst>
                                      </p:cBhvr>
                                      <p:tavLst>
                                        <p:tav tm="0">
                                          <p:val>
                                            <p:strVal val="#ppt_h"/>
                                          </p:val>
                                        </p:tav>
                                        <p:tav tm="100000">
                                          <p:val>
                                            <p:strVal val="#ppt_h"/>
                                          </p:val>
                                        </p:tav>
                                      </p:tavLst>
                                    </p:anim>
                                    <p:animEffect transition="in" filter="fade">
                                      <p:cBhvr>
                                        <p:cTn id="31" dur="10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269343"/>
                                        </p:tgtEl>
                                        <p:attrNameLst>
                                          <p:attrName>style.visibility</p:attrName>
                                        </p:attrNameLst>
                                      </p:cBhvr>
                                      <p:to>
                                        <p:strVal val="visible"/>
                                      </p:to>
                                    </p:set>
                                    <p:animEffect transition="in" filter="checkerboard(across)">
                                      <p:cBhvr>
                                        <p:cTn id="36" dur="500"/>
                                        <p:tgtEl>
                                          <p:spTgt spid="26934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69316"/>
                                        </p:tgtEl>
                                        <p:attrNameLst>
                                          <p:attrName>style.visibility</p:attrName>
                                        </p:attrNameLst>
                                      </p:cBhvr>
                                      <p:to>
                                        <p:strVal val="visible"/>
                                      </p:to>
                                    </p:set>
                                    <p:animEffect transition="in" filter="fade">
                                      <p:cBhvr>
                                        <p:cTn id="41" dur="500"/>
                                        <p:tgtEl>
                                          <p:spTgt spid="269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uild="p"/>
      <p:bldP spid="269316" grpId="0" animBg="1"/>
      <p:bldP spid="269319" grpId="0" animBg="1"/>
      <p:bldP spid="2693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755576" y="339502"/>
            <a:ext cx="7772400" cy="685800"/>
          </a:xfrm>
        </p:spPr>
        <p:txBody>
          <a:bodyPr/>
          <a:lstStyle/>
          <a:p>
            <a:r>
              <a:rPr lang="en-US" dirty="0"/>
              <a:t>Diffuse (reflection)</a:t>
            </a:r>
            <a:endParaRPr lang="en-CA" dirty="0"/>
          </a:p>
        </p:txBody>
      </p:sp>
      <p:sp>
        <p:nvSpPr>
          <p:cNvPr id="274435" name="Rectangle 3"/>
          <p:cNvSpPr>
            <a:spLocks noGrp="1" noChangeArrowheads="1"/>
          </p:cNvSpPr>
          <p:nvPr>
            <p:ph type="body" idx="1"/>
          </p:nvPr>
        </p:nvSpPr>
        <p:spPr>
          <a:xfrm>
            <a:off x="536575" y="1151335"/>
            <a:ext cx="8305800" cy="3086100"/>
          </a:xfrm>
        </p:spPr>
        <p:txBody>
          <a:bodyPr>
            <a:normAutofit/>
          </a:bodyPr>
          <a:lstStyle/>
          <a:p>
            <a:r>
              <a:rPr lang="en-US" sz="2400"/>
              <a:t>The intensity can be based on the angle the light hits the surface, where the </a:t>
            </a:r>
            <a:r>
              <a:rPr lang="en-US" sz="2400" b="1" i="1"/>
              <a:t>shallower</a:t>
            </a:r>
            <a:r>
              <a:rPr lang="en-US" sz="2400"/>
              <a:t> the angle, the </a:t>
            </a:r>
            <a:r>
              <a:rPr lang="en-US" sz="2400" b="1" i="1"/>
              <a:t>less</a:t>
            </a:r>
            <a:r>
              <a:rPr lang="en-US" sz="2400"/>
              <a:t> light is reflected (but the colour stays the same).</a:t>
            </a:r>
          </a:p>
          <a:p>
            <a:r>
              <a:rPr lang="en-US" sz="2400"/>
              <a:t>This is also called </a:t>
            </a:r>
            <a:r>
              <a:rPr lang="en-CA" sz="2400"/>
              <a:t>Lambertian reflection</a:t>
            </a:r>
          </a:p>
        </p:txBody>
      </p:sp>
      <p:grpSp>
        <p:nvGrpSpPr>
          <p:cNvPr id="62" name="Group 61"/>
          <p:cNvGrpSpPr/>
          <p:nvPr/>
        </p:nvGrpSpPr>
        <p:grpSpPr>
          <a:xfrm>
            <a:off x="1043609" y="3069431"/>
            <a:ext cx="6984776" cy="2074069"/>
            <a:chOff x="115889" y="3069431"/>
            <a:chExt cx="9028111" cy="2074069"/>
          </a:xfrm>
        </p:grpSpPr>
        <p:sp>
          <p:nvSpPr>
            <p:cNvPr id="27443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38"/>
            <p:cNvGrpSpPr>
              <a:grpSpLocks/>
            </p:cNvGrpSpPr>
            <p:nvPr/>
          </p:nvGrpSpPr>
          <p:grpSpPr bwMode="auto">
            <a:xfrm rot="2144606">
              <a:off x="563563" y="3117057"/>
              <a:ext cx="1397000" cy="846535"/>
              <a:chOff x="209" y="2796"/>
              <a:chExt cx="880" cy="711"/>
            </a:xfrm>
          </p:grpSpPr>
          <p:grpSp>
            <p:nvGrpSpPr>
              <p:cNvPr id="3" name="Group 24"/>
              <p:cNvGrpSpPr>
                <a:grpSpLocks/>
              </p:cNvGrpSpPr>
              <p:nvPr/>
            </p:nvGrpSpPr>
            <p:grpSpPr bwMode="auto">
              <a:xfrm rot="-178888">
                <a:off x="209" y="2796"/>
                <a:ext cx="228" cy="281"/>
                <a:chOff x="744" y="2522"/>
                <a:chExt cx="312" cy="384"/>
              </a:xfrm>
            </p:grpSpPr>
            <p:sp>
              <p:nvSpPr>
                <p:cNvPr id="274457" name="Oval 25"/>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74458" name="AutoShape 26"/>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74459" name="Line 27"/>
              <p:cNvSpPr>
                <a:spLocks noChangeShapeType="1"/>
              </p:cNvSpPr>
              <p:nvPr/>
            </p:nvSpPr>
            <p:spPr bwMode="auto">
              <a:xfrm>
                <a:off x="461" y="3042"/>
                <a:ext cx="628" cy="465"/>
              </a:xfrm>
              <a:prstGeom prst="line">
                <a:avLst/>
              </a:prstGeom>
              <a:noFill/>
              <a:ln w="76200">
                <a:solidFill>
                  <a:srgbClr val="FFFF00"/>
                </a:solidFill>
                <a:round/>
                <a:headEnd/>
                <a:tailEnd type="stealth" w="lg" len="lg"/>
              </a:ln>
              <a:effectLst/>
            </p:spPr>
            <p:txBody>
              <a:bodyPr/>
              <a:lstStyle/>
              <a:p>
                <a:endParaRPr lang="en-CA"/>
              </a:p>
            </p:txBody>
          </p:sp>
        </p:grpSp>
        <p:grpSp>
          <p:nvGrpSpPr>
            <p:cNvPr id="4" name="Group 28"/>
            <p:cNvGrpSpPr>
              <a:grpSpLocks/>
            </p:cNvGrpSpPr>
            <p:nvPr/>
          </p:nvGrpSpPr>
          <p:grpSpPr bwMode="auto">
            <a:xfrm>
              <a:off x="539751" y="3483769"/>
              <a:ext cx="1876425" cy="1407319"/>
              <a:chOff x="3600" y="2721"/>
              <a:chExt cx="1414" cy="1414"/>
            </a:xfrm>
          </p:grpSpPr>
          <p:sp>
            <p:nvSpPr>
              <p:cNvPr id="274461" name="AutoShape 29"/>
              <p:cNvSpPr>
                <a:spLocks noChangeArrowheads="1"/>
              </p:cNvSpPr>
              <p:nvPr/>
            </p:nvSpPr>
            <p:spPr bwMode="auto">
              <a:xfrm>
                <a:off x="3600" y="2721"/>
                <a:ext cx="1414" cy="1414"/>
              </a:xfrm>
              <a:custGeom>
                <a:avLst/>
                <a:gdLst>
                  <a:gd name="G0" fmla="+- 108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96480"/>
                  <a:gd name="G21" fmla="sin G19 11796480"/>
                  <a:gd name="G22" fmla="+- G20 10800 0"/>
                  <a:gd name="G23" fmla="+- G21 10800 0"/>
                  <a:gd name="G24" fmla="+- 10800 0 G20"/>
                  <a:gd name="G25" fmla="+- 10800 10800 0"/>
                  <a:gd name="G26" fmla="?: G9 G17 G25"/>
                  <a:gd name="G27" fmla="?: G9 0 21600"/>
                  <a:gd name="G28" fmla="cos 10800 11796480"/>
                  <a:gd name="G29" fmla="sin 10800 11796480"/>
                  <a:gd name="G30" fmla="sin 108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0 w 21600"/>
                  <a:gd name="T15" fmla="*/ 10800 h 21600"/>
                  <a:gd name="T16" fmla="*/ 10800 w 21600"/>
                  <a:gd name="T17" fmla="*/ 0 h 21600"/>
                  <a:gd name="T18" fmla="*/ 216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0" y="10800"/>
                    </a:moveTo>
                    <a:cubicBezTo>
                      <a:pt x="0" y="4835"/>
                      <a:pt x="4835" y="0"/>
                      <a:pt x="10800" y="0"/>
                    </a:cubicBezTo>
                    <a:cubicBezTo>
                      <a:pt x="16764" y="-1"/>
                      <a:pt x="21599" y="4835"/>
                      <a:pt x="21600" y="10799"/>
                    </a:cubicBezTo>
                    <a:lnTo>
                      <a:pt x="21600" y="10800"/>
                    </a:lnTo>
                    <a:cubicBezTo>
                      <a:pt x="21600" y="4835"/>
                      <a:pt x="16764" y="0"/>
                      <a:pt x="10800" y="0"/>
                    </a:cubicBezTo>
                    <a:cubicBezTo>
                      <a:pt x="4835" y="0"/>
                      <a:pt x="0" y="4835"/>
                      <a:pt x="0" y="10800"/>
                    </a:cubicBezTo>
                    <a:close/>
                  </a:path>
                </a:pathLst>
              </a:custGeom>
              <a:solidFill>
                <a:srgbClr val="00B8FF"/>
              </a:solidFill>
              <a:ln w="28575" algn="ctr">
                <a:solidFill>
                  <a:srgbClr val="FFFF00"/>
                </a:solidFill>
                <a:miter lim="800000"/>
                <a:headEnd/>
                <a:tailEnd type="none" w="lg" len="lg"/>
              </a:ln>
              <a:effectLst/>
            </p:spPr>
            <p:txBody>
              <a:bodyPr/>
              <a:lstStyle/>
              <a:p>
                <a:endParaRPr lang="en-CA"/>
              </a:p>
            </p:txBody>
          </p:sp>
          <p:sp>
            <p:nvSpPr>
              <p:cNvPr id="274462" name="Line 30"/>
              <p:cNvSpPr>
                <a:spLocks noChangeShapeType="1"/>
              </p:cNvSpPr>
              <p:nvPr/>
            </p:nvSpPr>
            <p:spPr bwMode="auto">
              <a:xfrm flipH="1" flipV="1">
                <a:off x="4312" y="2739"/>
                <a:ext cx="15" cy="686"/>
              </a:xfrm>
              <a:prstGeom prst="line">
                <a:avLst/>
              </a:prstGeom>
              <a:noFill/>
              <a:ln w="28575">
                <a:solidFill>
                  <a:srgbClr val="FFFF00"/>
                </a:solidFill>
                <a:round/>
                <a:headEnd/>
                <a:tailEnd type="stealth" w="lg" len="lg"/>
              </a:ln>
              <a:effectLst/>
            </p:spPr>
            <p:txBody>
              <a:bodyPr/>
              <a:lstStyle/>
              <a:p>
                <a:endParaRPr lang="en-CA"/>
              </a:p>
            </p:txBody>
          </p:sp>
          <p:sp>
            <p:nvSpPr>
              <p:cNvPr id="274463" name="Line 31"/>
              <p:cNvSpPr>
                <a:spLocks noChangeShapeType="1"/>
              </p:cNvSpPr>
              <p:nvPr/>
            </p:nvSpPr>
            <p:spPr bwMode="auto">
              <a:xfrm flipV="1">
                <a:off x="4341" y="2836"/>
                <a:ext cx="253" cy="574"/>
              </a:xfrm>
              <a:prstGeom prst="line">
                <a:avLst/>
              </a:prstGeom>
              <a:noFill/>
              <a:ln w="28575">
                <a:solidFill>
                  <a:srgbClr val="FFFF00"/>
                </a:solidFill>
                <a:round/>
                <a:headEnd/>
                <a:tailEnd type="stealth" w="lg" len="lg"/>
              </a:ln>
              <a:effectLst/>
            </p:spPr>
            <p:txBody>
              <a:bodyPr/>
              <a:lstStyle/>
              <a:p>
                <a:endParaRPr lang="en-CA"/>
              </a:p>
            </p:txBody>
          </p:sp>
          <p:sp>
            <p:nvSpPr>
              <p:cNvPr id="274464" name="Line 32"/>
              <p:cNvSpPr>
                <a:spLocks noChangeShapeType="1"/>
              </p:cNvSpPr>
              <p:nvPr/>
            </p:nvSpPr>
            <p:spPr bwMode="auto">
              <a:xfrm flipH="1" flipV="1">
                <a:off x="3770" y="3013"/>
                <a:ext cx="568" cy="419"/>
              </a:xfrm>
              <a:prstGeom prst="line">
                <a:avLst/>
              </a:prstGeom>
              <a:noFill/>
              <a:ln w="28575">
                <a:solidFill>
                  <a:srgbClr val="FFFF00"/>
                </a:solidFill>
                <a:round/>
                <a:headEnd/>
                <a:tailEnd type="stealth" w="lg" len="lg"/>
              </a:ln>
              <a:effectLst/>
            </p:spPr>
            <p:txBody>
              <a:bodyPr/>
              <a:lstStyle/>
              <a:p>
                <a:endParaRPr lang="en-CA"/>
              </a:p>
            </p:txBody>
          </p:sp>
          <p:sp>
            <p:nvSpPr>
              <p:cNvPr id="274465" name="Line 33"/>
              <p:cNvSpPr>
                <a:spLocks noChangeShapeType="1"/>
              </p:cNvSpPr>
              <p:nvPr/>
            </p:nvSpPr>
            <p:spPr bwMode="auto">
              <a:xfrm flipH="1" flipV="1">
                <a:off x="3995" y="2845"/>
                <a:ext cx="334" cy="573"/>
              </a:xfrm>
              <a:prstGeom prst="line">
                <a:avLst/>
              </a:prstGeom>
              <a:noFill/>
              <a:ln w="28575">
                <a:solidFill>
                  <a:srgbClr val="FFFF00"/>
                </a:solidFill>
                <a:round/>
                <a:headEnd/>
                <a:tailEnd type="stealth" w="lg" len="lg"/>
              </a:ln>
              <a:effectLst/>
            </p:spPr>
            <p:txBody>
              <a:bodyPr/>
              <a:lstStyle/>
              <a:p>
                <a:endParaRPr lang="en-CA"/>
              </a:p>
            </p:txBody>
          </p:sp>
          <p:sp>
            <p:nvSpPr>
              <p:cNvPr id="274466" name="Line 34"/>
              <p:cNvSpPr>
                <a:spLocks noChangeShapeType="1"/>
              </p:cNvSpPr>
              <p:nvPr/>
            </p:nvSpPr>
            <p:spPr bwMode="auto">
              <a:xfrm flipV="1">
                <a:off x="4328" y="3031"/>
                <a:ext cx="490" cy="396"/>
              </a:xfrm>
              <a:prstGeom prst="line">
                <a:avLst/>
              </a:prstGeom>
              <a:noFill/>
              <a:ln w="28575">
                <a:solidFill>
                  <a:srgbClr val="FFFF00"/>
                </a:solidFill>
                <a:round/>
                <a:headEnd/>
                <a:tailEnd type="stealth" w="lg" len="lg"/>
              </a:ln>
              <a:effectLst/>
            </p:spPr>
            <p:txBody>
              <a:bodyPr/>
              <a:lstStyle/>
              <a:p>
                <a:endParaRPr lang="en-CA"/>
              </a:p>
            </p:txBody>
          </p:sp>
          <p:sp>
            <p:nvSpPr>
              <p:cNvPr id="274467" name="Line 35"/>
              <p:cNvSpPr>
                <a:spLocks noChangeShapeType="1"/>
              </p:cNvSpPr>
              <p:nvPr/>
            </p:nvSpPr>
            <p:spPr bwMode="auto">
              <a:xfrm flipV="1">
                <a:off x="4332" y="3268"/>
                <a:ext cx="655" cy="155"/>
              </a:xfrm>
              <a:prstGeom prst="line">
                <a:avLst/>
              </a:prstGeom>
              <a:noFill/>
              <a:ln w="28575">
                <a:solidFill>
                  <a:srgbClr val="FFFF00"/>
                </a:solidFill>
                <a:round/>
                <a:headEnd/>
                <a:tailEnd type="stealth" w="lg" len="lg"/>
              </a:ln>
              <a:effectLst/>
            </p:spPr>
            <p:txBody>
              <a:bodyPr/>
              <a:lstStyle/>
              <a:p>
                <a:endParaRPr lang="en-CA"/>
              </a:p>
            </p:txBody>
          </p:sp>
          <p:sp>
            <p:nvSpPr>
              <p:cNvPr id="274468" name="Line 36"/>
              <p:cNvSpPr>
                <a:spLocks noChangeShapeType="1"/>
              </p:cNvSpPr>
              <p:nvPr/>
            </p:nvSpPr>
            <p:spPr bwMode="auto">
              <a:xfrm flipH="1" flipV="1">
                <a:off x="3670" y="3211"/>
                <a:ext cx="653" cy="213"/>
              </a:xfrm>
              <a:prstGeom prst="line">
                <a:avLst/>
              </a:prstGeom>
              <a:noFill/>
              <a:ln w="28575">
                <a:solidFill>
                  <a:srgbClr val="FFFF00"/>
                </a:solidFill>
                <a:round/>
                <a:headEnd/>
                <a:tailEnd type="stealth" w="lg" len="lg"/>
              </a:ln>
              <a:effectLst/>
            </p:spPr>
            <p:txBody>
              <a:bodyPr/>
              <a:lstStyle/>
              <a:p>
                <a:endParaRPr lang="en-CA"/>
              </a:p>
            </p:txBody>
          </p:sp>
        </p:grpSp>
        <p:sp>
          <p:nvSpPr>
            <p:cNvPr id="274469" name="Rectangle 37"/>
            <p:cNvSpPr>
              <a:spLocks noChangeArrowheads="1"/>
            </p:cNvSpPr>
            <p:nvPr/>
          </p:nvSpPr>
          <p:spPr bwMode="auto">
            <a:xfrm>
              <a:off x="476251" y="4189810"/>
              <a:ext cx="2105025" cy="161925"/>
            </a:xfrm>
            <a:prstGeom prst="rect">
              <a:avLst/>
            </a:prstGeom>
            <a:solidFill>
              <a:srgbClr val="00B8FF"/>
            </a:solidFill>
            <a:ln w="9525">
              <a:solidFill>
                <a:schemeClr val="tx1"/>
              </a:solidFill>
              <a:miter lim="800000"/>
              <a:headEnd/>
              <a:tailEnd/>
            </a:ln>
            <a:effectLst/>
          </p:spPr>
          <p:txBody>
            <a:bodyPr wrap="none" anchor="ctr"/>
            <a:lstStyle/>
            <a:p>
              <a:endParaRPr lang="en-CA"/>
            </a:p>
          </p:txBody>
        </p:sp>
        <p:grpSp>
          <p:nvGrpSpPr>
            <p:cNvPr id="5" name="Group 39"/>
            <p:cNvGrpSpPr>
              <a:grpSpLocks/>
            </p:cNvGrpSpPr>
            <p:nvPr/>
          </p:nvGrpSpPr>
          <p:grpSpPr bwMode="auto">
            <a:xfrm rot="358012">
              <a:off x="3114675" y="3315891"/>
              <a:ext cx="1397000" cy="846534"/>
              <a:chOff x="209" y="2796"/>
              <a:chExt cx="880" cy="711"/>
            </a:xfrm>
          </p:grpSpPr>
          <p:grpSp>
            <p:nvGrpSpPr>
              <p:cNvPr id="6" name="Group 40"/>
              <p:cNvGrpSpPr>
                <a:grpSpLocks/>
              </p:cNvGrpSpPr>
              <p:nvPr/>
            </p:nvGrpSpPr>
            <p:grpSpPr bwMode="auto">
              <a:xfrm rot="-178888">
                <a:off x="209" y="2796"/>
                <a:ext cx="228" cy="281"/>
                <a:chOff x="744" y="2522"/>
                <a:chExt cx="312" cy="384"/>
              </a:xfrm>
            </p:grpSpPr>
            <p:sp>
              <p:nvSpPr>
                <p:cNvPr id="274473" name="Oval 41"/>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74474" name="AutoShape 42"/>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74475" name="Line 43"/>
              <p:cNvSpPr>
                <a:spLocks noChangeShapeType="1"/>
              </p:cNvSpPr>
              <p:nvPr/>
            </p:nvSpPr>
            <p:spPr bwMode="auto">
              <a:xfrm>
                <a:off x="461" y="3042"/>
                <a:ext cx="628" cy="465"/>
              </a:xfrm>
              <a:prstGeom prst="line">
                <a:avLst/>
              </a:prstGeom>
              <a:noFill/>
              <a:ln w="76200">
                <a:solidFill>
                  <a:srgbClr val="FFFF00"/>
                </a:solidFill>
                <a:round/>
                <a:headEnd/>
                <a:tailEnd type="stealth" w="lg" len="lg"/>
              </a:ln>
              <a:effectLst/>
            </p:spPr>
            <p:txBody>
              <a:bodyPr/>
              <a:lstStyle/>
              <a:p>
                <a:endParaRPr lang="en-CA"/>
              </a:p>
            </p:txBody>
          </p:sp>
        </p:grpSp>
        <p:grpSp>
          <p:nvGrpSpPr>
            <p:cNvPr id="7" name="Group 44"/>
            <p:cNvGrpSpPr>
              <a:grpSpLocks/>
            </p:cNvGrpSpPr>
            <p:nvPr/>
          </p:nvGrpSpPr>
          <p:grpSpPr bwMode="auto">
            <a:xfrm>
              <a:off x="3598863" y="3598069"/>
              <a:ext cx="1581150" cy="1185863"/>
              <a:chOff x="3600" y="2721"/>
              <a:chExt cx="1414" cy="1414"/>
            </a:xfrm>
          </p:grpSpPr>
          <p:sp>
            <p:nvSpPr>
              <p:cNvPr id="274477" name="AutoShape 45"/>
              <p:cNvSpPr>
                <a:spLocks noChangeArrowheads="1"/>
              </p:cNvSpPr>
              <p:nvPr/>
            </p:nvSpPr>
            <p:spPr bwMode="auto">
              <a:xfrm>
                <a:off x="3600" y="2721"/>
                <a:ext cx="1414" cy="1414"/>
              </a:xfrm>
              <a:custGeom>
                <a:avLst/>
                <a:gdLst>
                  <a:gd name="G0" fmla="+- 108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96480"/>
                  <a:gd name="G21" fmla="sin G19 11796480"/>
                  <a:gd name="G22" fmla="+- G20 10800 0"/>
                  <a:gd name="G23" fmla="+- G21 10800 0"/>
                  <a:gd name="G24" fmla="+- 10800 0 G20"/>
                  <a:gd name="G25" fmla="+- 10800 10800 0"/>
                  <a:gd name="G26" fmla="?: G9 G17 G25"/>
                  <a:gd name="G27" fmla="?: G9 0 21600"/>
                  <a:gd name="G28" fmla="cos 10800 11796480"/>
                  <a:gd name="G29" fmla="sin 10800 11796480"/>
                  <a:gd name="G30" fmla="sin 108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0 w 21600"/>
                  <a:gd name="T15" fmla="*/ 10800 h 21600"/>
                  <a:gd name="T16" fmla="*/ 10800 w 21600"/>
                  <a:gd name="T17" fmla="*/ 0 h 21600"/>
                  <a:gd name="T18" fmla="*/ 216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0" y="10800"/>
                    </a:moveTo>
                    <a:cubicBezTo>
                      <a:pt x="0" y="4835"/>
                      <a:pt x="4835" y="0"/>
                      <a:pt x="10800" y="0"/>
                    </a:cubicBezTo>
                    <a:cubicBezTo>
                      <a:pt x="16764" y="-1"/>
                      <a:pt x="21599" y="4835"/>
                      <a:pt x="21600" y="10799"/>
                    </a:cubicBezTo>
                    <a:lnTo>
                      <a:pt x="21600" y="10800"/>
                    </a:lnTo>
                    <a:cubicBezTo>
                      <a:pt x="21600" y="4835"/>
                      <a:pt x="16764" y="0"/>
                      <a:pt x="10800" y="0"/>
                    </a:cubicBezTo>
                    <a:cubicBezTo>
                      <a:pt x="4835" y="0"/>
                      <a:pt x="0" y="4835"/>
                      <a:pt x="0" y="10800"/>
                    </a:cubicBezTo>
                    <a:close/>
                  </a:path>
                </a:pathLst>
              </a:custGeom>
              <a:solidFill>
                <a:srgbClr val="00B8FF"/>
              </a:solidFill>
              <a:ln w="28575" algn="ctr">
                <a:solidFill>
                  <a:srgbClr val="FFFF00"/>
                </a:solidFill>
                <a:miter lim="800000"/>
                <a:headEnd/>
                <a:tailEnd type="none" w="lg" len="lg"/>
              </a:ln>
              <a:effectLst/>
            </p:spPr>
            <p:txBody>
              <a:bodyPr/>
              <a:lstStyle/>
              <a:p>
                <a:endParaRPr lang="en-CA"/>
              </a:p>
            </p:txBody>
          </p:sp>
          <p:sp>
            <p:nvSpPr>
              <p:cNvPr id="274478" name="Line 46"/>
              <p:cNvSpPr>
                <a:spLocks noChangeShapeType="1"/>
              </p:cNvSpPr>
              <p:nvPr/>
            </p:nvSpPr>
            <p:spPr bwMode="auto">
              <a:xfrm flipH="1" flipV="1">
                <a:off x="4312" y="2739"/>
                <a:ext cx="15" cy="686"/>
              </a:xfrm>
              <a:prstGeom prst="line">
                <a:avLst/>
              </a:prstGeom>
              <a:noFill/>
              <a:ln w="28575">
                <a:solidFill>
                  <a:srgbClr val="FFFF00"/>
                </a:solidFill>
                <a:round/>
                <a:headEnd/>
                <a:tailEnd type="stealth" w="lg" len="lg"/>
              </a:ln>
              <a:effectLst/>
            </p:spPr>
            <p:txBody>
              <a:bodyPr/>
              <a:lstStyle/>
              <a:p>
                <a:endParaRPr lang="en-CA"/>
              </a:p>
            </p:txBody>
          </p:sp>
          <p:sp>
            <p:nvSpPr>
              <p:cNvPr id="274479" name="Line 47"/>
              <p:cNvSpPr>
                <a:spLocks noChangeShapeType="1"/>
              </p:cNvSpPr>
              <p:nvPr/>
            </p:nvSpPr>
            <p:spPr bwMode="auto">
              <a:xfrm flipV="1">
                <a:off x="4341" y="2836"/>
                <a:ext cx="253" cy="574"/>
              </a:xfrm>
              <a:prstGeom prst="line">
                <a:avLst/>
              </a:prstGeom>
              <a:noFill/>
              <a:ln w="28575">
                <a:solidFill>
                  <a:srgbClr val="FFFF00"/>
                </a:solidFill>
                <a:round/>
                <a:headEnd/>
                <a:tailEnd type="stealth" w="lg" len="lg"/>
              </a:ln>
              <a:effectLst/>
            </p:spPr>
            <p:txBody>
              <a:bodyPr/>
              <a:lstStyle/>
              <a:p>
                <a:endParaRPr lang="en-CA"/>
              </a:p>
            </p:txBody>
          </p:sp>
          <p:sp>
            <p:nvSpPr>
              <p:cNvPr id="274480" name="Line 48"/>
              <p:cNvSpPr>
                <a:spLocks noChangeShapeType="1"/>
              </p:cNvSpPr>
              <p:nvPr/>
            </p:nvSpPr>
            <p:spPr bwMode="auto">
              <a:xfrm flipH="1" flipV="1">
                <a:off x="3770" y="3013"/>
                <a:ext cx="568" cy="419"/>
              </a:xfrm>
              <a:prstGeom prst="line">
                <a:avLst/>
              </a:prstGeom>
              <a:noFill/>
              <a:ln w="28575">
                <a:solidFill>
                  <a:srgbClr val="FFFF00"/>
                </a:solidFill>
                <a:round/>
                <a:headEnd/>
                <a:tailEnd type="stealth" w="lg" len="lg"/>
              </a:ln>
              <a:effectLst/>
            </p:spPr>
            <p:txBody>
              <a:bodyPr/>
              <a:lstStyle/>
              <a:p>
                <a:endParaRPr lang="en-CA"/>
              </a:p>
            </p:txBody>
          </p:sp>
          <p:sp>
            <p:nvSpPr>
              <p:cNvPr id="274481" name="Line 49"/>
              <p:cNvSpPr>
                <a:spLocks noChangeShapeType="1"/>
              </p:cNvSpPr>
              <p:nvPr/>
            </p:nvSpPr>
            <p:spPr bwMode="auto">
              <a:xfrm flipH="1" flipV="1">
                <a:off x="3995" y="2845"/>
                <a:ext cx="334" cy="573"/>
              </a:xfrm>
              <a:prstGeom prst="line">
                <a:avLst/>
              </a:prstGeom>
              <a:noFill/>
              <a:ln w="28575">
                <a:solidFill>
                  <a:srgbClr val="FFFF00"/>
                </a:solidFill>
                <a:round/>
                <a:headEnd/>
                <a:tailEnd type="stealth" w="lg" len="lg"/>
              </a:ln>
              <a:effectLst/>
            </p:spPr>
            <p:txBody>
              <a:bodyPr/>
              <a:lstStyle/>
              <a:p>
                <a:endParaRPr lang="en-CA"/>
              </a:p>
            </p:txBody>
          </p:sp>
          <p:sp>
            <p:nvSpPr>
              <p:cNvPr id="274482" name="Line 50"/>
              <p:cNvSpPr>
                <a:spLocks noChangeShapeType="1"/>
              </p:cNvSpPr>
              <p:nvPr/>
            </p:nvSpPr>
            <p:spPr bwMode="auto">
              <a:xfrm flipV="1">
                <a:off x="4328" y="3031"/>
                <a:ext cx="490" cy="396"/>
              </a:xfrm>
              <a:prstGeom prst="line">
                <a:avLst/>
              </a:prstGeom>
              <a:noFill/>
              <a:ln w="28575">
                <a:solidFill>
                  <a:srgbClr val="FFFF00"/>
                </a:solidFill>
                <a:round/>
                <a:headEnd/>
                <a:tailEnd type="stealth" w="lg" len="lg"/>
              </a:ln>
              <a:effectLst/>
            </p:spPr>
            <p:txBody>
              <a:bodyPr/>
              <a:lstStyle/>
              <a:p>
                <a:endParaRPr lang="en-CA"/>
              </a:p>
            </p:txBody>
          </p:sp>
          <p:sp>
            <p:nvSpPr>
              <p:cNvPr id="274483" name="Line 51"/>
              <p:cNvSpPr>
                <a:spLocks noChangeShapeType="1"/>
              </p:cNvSpPr>
              <p:nvPr/>
            </p:nvSpPr>
            <p:spPr bwMode="auto">
              <a:xfrm flipV="1">
                <a:off x="4332" y="3268"/>
                <a:ext cx="655" cy="155"/>
              </a:xfrm>
              <a:prstGeom prst="line">
                <a:avLst/>
              </a:prstGeom>
              <a:noFill/>
              <a:ln w="28575">
                <a:solidFill>
                  <a:srgbClr val="FFFF00"/>
                </a:solidFill>
                <a:round/>
                <a:headEnd/>
                <a:tailEnd type="stealth" w="lg" len="lg"/>
              </a:ln>
              <a:effectLst/>
            </p:spPr>
            <p:txBody>
              <a:bodyPr/>
              <a:lstStyle/>
              <a:p>
                <a:endParaRPr lang="en-CA"/>
              </a:p>
            </p:txBody>
          </p:sp>
          <p:sp>
            <p:nvSpPr>
              <p:cNvPr id="274484" name="Line 52"/>
              <p:cNvSpPr>
                <a:spLocks noChangeShapeType="1"/>
              </p:cNvSpPr>
              <p:nvPr/>
            </p:nvSpPr>
            <p:spPr bwMode="auto">
              <a:xfrm flipH="1" flipV="1">
                <a:off x="3670" y="3211"/>
                <a:ext cx="653" cy="213"/>
              </a:xfrm>
              <a:prstGeom prst="line">
                <a:avLst/>
              </a:prstGeom>
              <a:noFill/>
              <a:ln w="28575">
                <a:solidFill>
                  <a:srgbClr val="FFFF00"/>
                </a:solidFill>
                <a:round/>
                <a:headEnd/>
                <a:tailEnd type="stealth" w="lg" len="lg"/>
              </a:ln>
              <a:effectLst/>
            </p:spPr>
            <p:txBody>
              <a:bodyPr/>
              <a:lstStyle/>
              <a:p>
                <a:endParaRPr lang="en-CA"/>
              </a:p>
            </p:txBody>
          </p:sp>
        </p:grpSp>
        <p:sp>
          <p:nvSpPr>
            <p:cNvPr id="274485" name="Rectangle 53"/>
            <p:cNvSpPr>
              <a:spLocks noChangeArrowheads="1"/>
            </p:cNvSpPr>
            <p:nvPr/>
          </p:nvSpPr>
          <p:spPr bwMode="auto">
            <a:xfrm>
              <a:off x="3371851" y="4189810"/>
              <a:ext cx="2105025" cy="161925"/>
            </a:xfrm>
            <a:prstGeom prst="rect">
              <a:avLst/>
            </a:prstGeom>
            <a:solidFill>
              <a:srgbClr val="00B8FF"/>
            </a:solidFill>
            <a:ln w="9525">
              <a:solidFill>
                <a:schemeClr val="tx1"/>
              </a:solidFill>
              <a:miter lim="800000"/>
              <a:headEnd/>
              <a:tailEnd/>
            </a:ln>
            <a:effectLst/>
          </p:spPr>
          <p:txBody>
            <a:bodyPr wrap="none" anchor="ctr"/>
            <a:lstStyle/>
            <a:p>
              <a:endParaRPr lang="en-CA"/>
            </a:p>
          </p:txBody>
        </p:sp>
        <p:grpSp>
          <p:nvGrpSpPr>
            <p:cNvPr id="8" name="Group 54"/>
            <p:cNvGrpSpPr>
              <a:grpSpLocks/>
            </p:cNvGrpSpPr>
            <p:nvPr/>
          </p:nvGrpSpPr>
          <p:grpSpPr bwMode="auto">
            <a:xfrm rot="-1014230">
              <a:off x="5888038" y="3505200"/>
              <a:ext cx="1397000" cy="846535"/>
              <a:chOff x="209" y="2796"/>
              <a:chExt cx="880" cy="711"/>
            </a:xfrm>
          </p:grpSpPr>
          <p:grpSp>
            <p:nvGrpSpPr>
              <p:cNvPr id="9" name="Group 55"/>
              <p:cNvGrpSpPr>
                <a:grpSpLocks/>
              </p:cNvGrpSpPr>
              <p:nvPr/>
            </p:nvGrpSpPr>
            <p:grpSpPr bwMode="auto">
              <a:xfrm rot="-178888">
                <a:off x="209" y="2796"/>
                <a:ext cx="228" cy="281"/>
                <a:chOff x="744" y="2522"/>
                <a:chExt cx="312" cy="384"/>
              </a:xfrm>
            </p:grpSpPr>
            <p:sp>
              <p:nvSpPr>
                <p:cNvPr id="274488" name="Oval 56"/>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74489" name="AutoShape 57"/>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74490" name="Line 58"/>
              <p:cNvSpPr>
                <a:spLocks noChangeShapeType="1"/>
              </p:cNvSpPr>
              <p:nvPr/>
            </p:nvSpPr>
            <p:spPr bwMode="auto">
              <a:xfrm>
                <a:off x="461" y="3042"/>
                <a:ext cx="628" cy="465"/>
              </a:xfrm>
              <a:prstGeom prst="line">
                <a:avLst/>
              </a:prstGeom>
              <a:noFill/>
              <a:ln w="76200">
                <a:solidFill>
                  <a:srgbClr val="FFFF00"/>
                </a:solidFill>
                <a:round/>
                <a:headEnd/>
                <a:tailEnd type="stealth" w="lg" len="lg"/>
              </a:ln>
              <a:effectLst/>
            </p:spPr>
            <p:txBody>
              <a:bodyPr/>
              <a:lstStyle/>
              <a:p>
                <a:endParaRPr lang="en-CA"/>
              </a:p>
            </p:txBody>
          </p:sp>
        </p:grpSp>
        <p:grpSp>
          <p:nvGrpSpPr>
            <p:cNvPr id="10" name="Group 59"/>
            <p:cNvGrpSpPr>
              <a:grpSpLocks/>
            </p:cNvGrpSpPr>
            <p:nvPr/>
          </p:nvGrpSpPr>
          <p:grpSpPr bwMode="auto">
            <a:xfrm>
              <a:off x="6931025" y="3864769"/>
              <a:ext cx="920750" cy="690563"/>
              <a:chOff x="3600" y="2721"/>
              <a:chExt cx="1414" cy="1414"/>
            </a:xfrm>
          </p:grpSpPr>
          <p:sp>
            <p:nvSpPr>
              <p:cNvPr id="274492" name="AutoShape 60"/>
              <p:cNvSpPr>
                <a:spLocks noChangeArrowheads="1"/>
              </p:cNvSpPr>
              <p:nvPr/>
            </p:nvSpPr>
            <p:spPr bwMode="auto">
              <a:xfrm>
                <a:off x="3600" y="2721"/>
                <a:ext cx="1414" cy="1414"/>
              </a:xfrm>
              <a:custGeom>
                <a:avLst/>
                <a:gdLst>
                  <a:gd name="G0" fmla="+- 108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96480"/>
                  <a:gd name="G21" fmla="sin G19 11796480"/>
                  <a:gd name="G22" fmla="+- G20 10800 0"/>
                  <a:gd name="G23" fmla="+- G21 10800 0"/>
                  <a:gd name="G24" fmla="+- 10800 0 G20"/>
                  <a:gd name="G25" fmla="+- 10800 10800 0"/>
                  <a:gd name="G26" fmla="?: G9 G17 G25"/>
                  <a:gd name="G27" fmla="?: G9 0 21600"/>
                  <a:gd name="G28" fmla="cos 10800 11796480"/>
                  <a:gd name="G29" fmla="sin 10800 11796480"/>
                  <a:gd name="G30" fmla="sin 108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0 w 21600"/>
                  <a:gd name="T15" fmla="*/ 10800 h 21600"/>
                  <a:gd name="T16" fmla="*/ 10800 w 21600"/>
                  <a:gd name="T17" fmla="*/ 0 h 21600"/>
                  <a:gd name="T18" fmla="*/ 216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0" y="10800"/>
                    </a:moveTo>
                    <a:cubicBezTo>
                      <a:pt x="0" y="4835"/>
                      <a:pt x="4835" y="0"/>
                      <a:pt x="10800" y="0"/>
                    </a:cubicBezTo>
                    <a:cubicBezTo>
                      <a:pt x="16764" y="-1"/>
                      <a:pt x="21599" y="4835"/>
                      <a:pt x="21600" y="10799"/>
                    </a:cubicBezTo>
                    <a:lnTo>
                      <a:pt x="21600" y="10800"/>
                    </a:lnTo>
                    <a:cubicBezTo>
                      <a:pt x="21600" y="4835"/>
                      <a:pt x="16764" y="0"/>
                      <a:pt x="10800" y="0"/>
                    </a:cubicBezTo>
                    <a:cubicBezTo>
                      <a:pt x="4835" y="0"/>
                      <a:pt x="0" y="4835"/>
                      <a:pt x="0" y="10800"/>
                    </a:cubicBezTo>
                    <a:close/>
                  </a:path>
                </a:pathLst>
              </a:custGeom>
              <a:solidFill>
                <a:srgbClr val="00B8FF"/>
              </a:solidFill>
              <a:ln w="28575" algn="ctr">
                <a:solidFill>
                  <a:srgbClr val="FFFF00"/>
                </a:solidFill>
                <a:miter lim="800000"/>
                <a:headEnd/>
                <a:tailEnd type="none" w="lg" len="lg"/>
              </a:ln>
              <a:effectLst/>
            </p:spPr>
            <p:txBody>
              <a:bodyPr/>
              <a:lstStyle/>
              <a:p>
                <a:endParaRPr lang="en-CA"/>
              </a:p>
            </p:txBody>
          </p:sp>
          <p:sp>
            <p:nvSpPr>
              <p:cNvPr id="274493" name="Line 61"/>
              <p:cNvSpPr>
                <a:spLocks noChangeShapeType="1"/>
              </p:cNvSpPr>
              <p:nvPr/>
            </p:nvSpPr>
            <p:spPr bwMode="auto">
              <a:xfrm flipH="1" flipV="1">
                <a:off x="4312" y="2739"/>
                <a:ext cx="15" cy="686"/>
              </a:xfrm>
              <a:prstGeom prst="line">
                <a:avLst/>
              </a:prstGeom>
              <a:noFill/>
              <a:ln w="28575">
                <a:solidFill>
                  <a:srgbClr val="FFFF00"/>
                </a:solidFill>
                <a:round/>
                <a:headEnd/>
                <a:tailEnd type="stealth" w="lg" len="lg"/>
              </a:ln>
              <a:effectLst/>
            </p:spPr>
            <p:txBody>
              <a:bodyPr/>
              <a:lstStyle/>
              <a:p>
                <a:endParaRPr lang="en-CA"/>
              </a:p>
            </p:txBody>
          </p:sp>
          <p:sp>
            <p:nvSpPr>
              <p:cNvPr id="274494" name="Line 62"/>
              <p:cNvSpPr>
                <a:spLocks noChangeShapeType="1"/>
              </p:cNvSpPr>
              <p:nvPr/>
            </p:nvSpPr>
            <p:spPr bwMode="auto">
              <a:xfrm flipV="1">
                <a:off x="4341" y="2836"/>
                <a:ext cx="253" cy="574"/>
              </a:xfrm>
              <a:prstGeom prst="line">
                <a:avLst/>
              </a:prstGeom>
              <a:noFill/>
              <a:ln w="28575">
                <a:solidFill>
                  <a:srgbClr val="FFFF00"/>
                </a:solidFill>
                <a:round/>
                <a:headEnd/>
                <a:tailEnd type="stealth" w="lg" len="lg"/>
              </a:ln>
              <a:effectLst/>
            </p:spPr>
            <p:txBody>
              <a:bodyPr/>
              <a:lstStyle/>
              <a:p>
                <a:endParaRPr lang="en-CA"/>
              </a:p>
            </p:txBody>
          </p:sp>
          <p:sp>
            <p:nvSpPr>
              <p:cNvPr id="274495" name="Line 63"/>
              <p:cNvSpPr>
                <a:spLocks noChangeShapeType="1"/>
              </p:cNvSpPr>
              <p:nvPr/>
            </p:nvSpPr>
            <p:spPr bwMode="auto">
              <a:xfrm flipH="1" flipV="1">
                <a:off x="3770" y="3013"/>
                <a:ext cx="568" cy="419"/>
              </a:xfrm>
              <a:prstGeom prst="line">
                <a:avLst/>
              </a:prstGeom>
              <a:noFill/>
              <a:ln w="28575">
                <a:solidFill>
                  <a:srgbClr val="FFFF00"/>
                </a:solidFill>
                <a:round/>
                <a:headEnd/>
                <a:tailEnd type="stealth" w="lg" len="lg"/>
              </a:ln>
              <a:effectLst/>
            </p:spPr>
            <p:txBody>
              <a:bodyPr/>
              <a:lstStyle/>
              <a:p>
                <a:endParaRPr lang="en-CA"/>
              </a:p>
            </p:txBody>
          </p:sp>
          <p:sp>
            <p:nvSpPr>
              <p:cNvPr id="274496" name="Line 64"/>
              <p:cNvSpPr>
                <a:spLocks noChangeShapeType="1"/>
              </p:cNvSpPr>
              <p:nvPr/>
            </p:nvSpPr>
            <p:spPr bwMode="auto">
              <a:xfrm flipH="1" flipV="1">
                <a:off x="3995" y="2845"/>
                <a:ext cx="334" cy="573"/>
              </a:xfrm>
              <a:prstGeom prst="line">
                <a:avLst/>
              </a:prstGeom>
              <a:noFill/>
              <a:ln w="28575">
                <a:solidFill>
                  <a:srgbClr val="FFFF00"/>
                </a:solidFill>
                <a:round/>
                <a:headEnd/>
                <a:tailEnd type="stealth" w="lg" len="lg"/>
              </a:ln>
              <a:effectLst/>
            </p:spPr>
            <p:txBody>
              <a:bodyPr/>
              <a:lstStyle/>
              <a:p>
                <a:endParaRPr lang="en-CA"/>
              </a:p>
            </p:txBody>
          </p:sp>
          <p:sp>
            <p:nvSpPr>
              <p:cNvPr id="274497" name="Line 65"/>
              <p:cNvSpPr>
                <a:spLocks noChangeShapeType="1"/>
              </p:cNvSpPr>
              <p:nvPr/>
            </p:nvSpPr>
            <p:spPr bwMode="auto">
              <a:xfrm flipV="1">
                <a:off x="4328" y="3031"/>
                <a:ext cx="490" cy="396"/>
              </a:xfrm>
              <a:prstGeom prst="line">
                <a:avLst/>
              </a:prstGeom>
              <a:noFill/>
              <a:ln w="28575">
                <a:solidFill>
                  <a:srgbClr val="FFFF00"/>
                </a:solidFill>
                <a:round/>
                <a:headEnd/>
                <a:tailEnd type="stealth" w="lg" len="lg"/>
              </a:ln>
              <a:effectLst/>
            </p:spPr>
            <p:txBody>
              <a:bodyPr/>
              <a:lstStyle/>
              <a:p>
                <a:endParaRPr lang="en-CA"/>
              </a:p>
            </p:txBody>
          </p:sp>
          <p:sp>
            <p:nvSpPr>
              <p:cNvPr id="274498" name="Line 66"/>
              <p:cNvSpPr>
                <a:spLocks noChangeShapeType="1"/>
              </p:cNvSpPr>
              <p:nvPr/>
            </p:nvSpPr>
            <p:spPr bwMode="auto">
              <a:xfrm flipV="1">
                <a:off x="4332" y="3268"/>
                <a:ext cx="655" cy="155"/>
              </a:xfrm>
              <a:prstGeom prst="line">
                <a:avLst/>
              </a:prstGeom>
              <a:noFill/>
              <a:ln w="28575">
                <a:solidFill>
                  <a:srgbClr val="FFFF00"/>
                </a:solidFill>
                <a:round/>
                <a:headEnd/>
                <a:tailEnd type="stealth" w="lg" len="lg"/>
              </a:ln>
              <a:effectLst/>
            </p:spPr>
            <p:txBody>
              <a:bodyPr/>
              <a:lstStyle/>
              <a:p>
                <a:endParaRPr lang="en-CA"/>
              </a:p>
            </p:txBody>
          </p:sp>
          <p:sp>
            <p:nvSpPr>
              <p:cNvPr id="274499" name="Line 67"/>
              <p:cNvSpPr>
                <a:spLocks noChangeShapeType="1"/>
              </p:cNvSpPr>
              <p:nvPr/>
            </p:nvSpPr>
            <p:spPr bwMode="auto">
              <a:xfrm flipH="1" flipV="1">
                <a:off x="3670" y="3211"/>
                <a:ext cx="653" cy="213"/>
              </a:xfrm>
              <a:prstGeom prst="line">
                <a:avLst/>
              </a:prstGeom>
              <a:noFill/>
              <a:ln w="28575">
                <a:solidFill>
                  <a:srgbClr val="FFFF00"/>
                </a:solidFill>
                <a:round/>
                <a:headEnd/>
                <a:tailEnd type="stealth" w="lg" len="lg"/>
              </a:ln>
              <a:effectLst/>
            </p:spPr>
            <p:txBody>
              <a:bodyPr/>
              <a:lstStyle/>
              <a:p>
                <a:endParaRPr lang="en-CA"/>
              </a:p>
            </p:txBody>
          </p:sp>
        </p:grpSp>
        <p:sp>
          <p:nvSpPr>
            <p:cNvPr id="274500" name="Rectangle 68"/>
            <p:cNvSpPr>
              <a:spLocks noChangeArrowheads="1"/>
            </p:cNvSpPr>
            <p:nvPr/>
          </p:nvSpPr>
          <p:spPr bwMode="auto">
            <a:xfrm>
              <a:off x="6430964" y="4189810"/>
              <a:ext cx="2105025" cy="161925"/>
            </a:xfrm>
            <a:prstGeom prst="rect">
              <a:avLst/>
            </a:prstGeom>
            <a:solidFill>
              <a:srgbClr val="00B8FF"/>
            </a:solidFill>
            <a:ln w="9525">
              <a:solidFill>
                <a:schemeClr val="tx1"/>
              </a:solidFill>
              <a:miter lim="800000"/>
              <a:headEnd/>
              <a:tailEnd/>
            </a:ln>
            <a:effectLst/>
          </p:spPr>
          <p:txBody>
            <a:bodyPr wrap="none" anchor="ctr"/>
            <a:lstStyle/>
            <a:p>
              <a:endParaRPr lang="en-CA"/>
            </a:p>
          </p:txBody>
        </p:sp>
        <p:grpSp>
          <p:nvGrpSpPr>
            <p:cNvPr id="11" name="Group 78"/>
            <p:cNvGrpSpPr>
              <a:grpSpLocks/>
            </p:cNvGrpSpPr>
            <p:nvPr/>
          </p:nvGrpSpPr>
          <p:grpSpPr bwMode="auto">
            <a:xfrm>
              <a:off x="115889" y="3069431"/>
              <a:ext cx="1373187" cy="1139429"/>
              <a:chOff x="73" y="2578"/>
              <a:chExt cx="865" cy="957"/>
            </a:xfrm>
          </p:grpSpPr>
          <p:sp>
            <p:nvSpPr>
              <p:cNvPr id="274503" name="Arc 71"/>
              <p:cNvSpPr>
                <a:spLocks/>
              </p:cNvSpPr>
              <p:nvPr/>
            </p:nvSpPr>
            <p:spPr bwMode="auto">
              <a:xfrm flipH="1">
                <a:off x="228" y="2832"/>
                <a:ext cx="698" cy="667"/>
              </a:xfrm>
              <a:custGeom>
                <a:avLst/>
                <a:gdLst>
                  <a:gd name="G0" fmla="+- 0 0 0"/>
                  <a:gd name="G1" fmla="+- 20629 0 0"/>
                  <a:gd name="G2" fmla="+- 21600 0 0"/>
                  <a:gd name="T0" fmla="*/ 6403 w 21600"/>
                  <a:gd name="T1" fmla="*/ 0 h 20629"/>
                  <a:gd name="T2" fmla="*/ 21600 w 21600"/>
                  <a:gd name="T3" fmla="*/ 20629 h 20629"/>
                  <a:gd name="T4" fmla="*/ 0 w 21600"/>
                  <a:gd name="T5" fmla="*/ 20629 h 20629"/>
                </a:gdLst>
                <a:ahLst/>
                <a:cxnLst>
                  <a:cxn ang="0">
                    <a:pos x="T0" y="T1"/>
                  </a:cxn>
                  <a:cxn ang="0">
                    <a:pos x="T2" y="T3"/>
                  </a:cxn>
                  <a:cxn ang="0">
                    <a:pos x="T4" y="T5"/>
                  </a:cxn>
                </a:cxnLst>
                <a:rect l="0" t="0" r="r" b="b"/>
                <a:pathLst>
                  <a:path w="21600" h="20629" fill="none" extrusionOk="0">
                    <a:moveTo>
                      <a:pt x="6403" y="-1"/>
                    </a:moveTo>
                    <a:cubicBezTo>
                      <a:pt x="15440" y="2805"/>
                      <a:pt x="21600" y="11166"/>
                      <a:pt x="21600" y="20629"/>
                    </a:cubicBezTo>
                  </a:path>
                  <a:path w="21600" h="20629" stroke="0" extrusionOk="0">
                    <a:moveTo>
                      <a:pt x="6403" y="-1"/>
                    </a:moveTo>
                    <a:cubicBezTo>
                      <a:pt x="15440" y="2805"/>
                      <a:pt x="21600" y="11166"/>
                      <a:pt x="21600" y="20629"/>
                    </a:cubicBezTo>
                    <a:lnTo>
                      <a:pt x="0" y="20629"/>
                    </a:lnTo>
                    <a:close/>
                  </a:path>
                </a:pathLst>
              </a:custGeom>
              <a:noFill/>
              <a:ln w="57150">
                <a:solidFill>
                  <a:srgbClr val="FF0000"/>
                </a:solidFill>
                <a:round/>
                <a:headEnd/>
                <a:tailEnd/>
              </a:ln>
              <a:effectLst/>
            </p:spPr>
            <p:txBody>
              <a:bodyPr/>
              <a:lstStyle/>
              <a:p>
                <a:endParaRPr lang="en-CA"/>
              </a:p>
            </p:txBody>
          </p:sp>
          <p:sp>
            <p:nvSpPr>
              <p:cNvPr id="274505" name="Line 73"/>
              <p:cNvSpPr>
                <a:spLocks noChangeShapeType="1"/>
              </p:cNvSpPr>
              <p:nvPr/>
            </p:nvSpPr>
            <p:spPr bwMode="auto">
              <a:xfrm rot="21600000">
                <a:off x="73" y="3505"/>
                <a:ext cx="865" cy="0"/>
              </a:xfrm>
              <a:prstGeom prst="line">
                <a:avLst/>
              </a:prstGeom>
              <a:noFill/>
              <a:ln w="57150">
                <a:solidFill>
                  <a:srgbClr val="FF0000"/>
                </a:solidFill>
                <a:round/>
                <a:headEnd/>
                <a:tailEnd/>
              </a:ln>
              <a:effectLst/>
            </p:spPr>
            <p:txBody>
              <a:bodyPr/>
              <a:lstStyle/>
              <a:p>
                <a:endParaRPr lang="en-CA"/>
              </a:p>
            </p:txBody>
          </p:sp>
          <p:sp>
            <p:nvSpPr>
              <p:cNvPr id="274506" name="Line 74"/>
              <p:cNvSpPr>
                <a:spLocks noChangeShapeType="1"/>
              </p:cNvSpPr>
              <p:nvPr/>
            </p:nvSpPr>
            <p:spPr bwMode="auto">
              <a:xfrm rot="25541466">
                <a:off x="321" y="2998"/>
                <a:ext cx="957" cy="117"/>
              </a:xfrm>
              <a:prstGeom prst="line">
                <a:avLst/>
              </a:prstGeom>
              <a:noFill/>
              <a:ln w="57150">
                <a:solidFill>
                  <a:srgbClr val="FF0000"/>
                </a:solidFill>
                <a:round/>
                <a:headEnd/>
                <a:tailEnd/>
              </a:ln>
              <a:effectLst/>
            </p:spPr>
            <p:txBody>
              <a:bodyPr/>
              <a:lstStyle/>
              <a:p>
                <a:endParaRPr lang="en-CA"/>
              </a:p>
            </p:txBody>
          </p:sp>
        </p:grpSp>
        <p:grpSp>
          <p:nvGrpSpPr>
            <p:cNvPr id="12" name="Group 83"/>
            <p:cNvGrpSpPr>
              <a:grpSpLocks/>
            </p:cNvGrpSpPr>
            <p:nvPr/>
          </p:nvGrpSpPr>
          <p:grpSpPr bwMode="auto">
            <a:xfrm>
              <a:off x="3040064" y="3359944"/>
              <a:ext cx="1373187" cy="969169"/>
              <a:chOff x="1915" y="2822"/>
              <a:chExt cx="865" cy="814"/>
            </a:xfrm>
          </p:grpSpPr>
          <p:sp>
            <p:nvSpPr>
              <p:cNvPr id="274507" name="Arc 75"/>
              <p:cNvSpPr>
                <a:spLocks/>
              </p:cNvSpPr>
              <p:nvPr/>
            </p:nvSpPr>
            <p:spPr bwMode="auto">
              <a:xfrm flipH="1">
                <a:off x="2070" y="3041"/>
                <a:ext cx="698" cy="467"/>
              </a:xfrm>
              <a:custGeom>
                <a:avLst/>
                <a:gdLst>
                  <a:gd name="G0" fmla="+- 0 0 0"/>
                  <a:gd name="G1" fmla="+- 14454 0 0"/>
                  <a:gd name="G2" fmla="+- 21600 0 0"/>
                  <a:gd name="T0" fmla="*/ 16051 w 21600"/>
                  <a:gd name="T1" fmla="*/ 0 h 14454"/>
                  <a:gd name="T2" fmla="*/ 21600 w 21600"/>
                  <a:gd name="T3" fmla="*/ 14454 h 14454"/>
                  <a:gd name="T4" fmla="*/ 0 w 21600"/>
                  <a:gd name="T5" fmla="*/ 14454 h 14454"/>
                </a:gdLst>
                <a:ahLst/>
                <a:cxnLst>
                  <a:cxn ang="0">
                    <a:pos x="T0" y="T1"/>
                  </a:cxn>
                  <a:cxn ang="0">
                    <a:pos x="T2" y="T3"/>
                  </a:cxn>
                  <a:cxn ang="0">
                    <a:pos x="T4" y="T5"/>
                  </a:cxn>
                </a:cxnLst>
                <a:rect l="0" t="0" r="r" b="b"/>
                <a:pathLst>
                  <a:path w="21600" h="14454" fill="none" extrusionOk="0">
                    <a:moveTo>
                      <a:pt x="16051" y="-1"/>
                    </a:moveTo>
                    <a:cubicBezTo>
                      <a:pt x="19623" y="3966"/>
                      <a:pt x="21600" y="9115"/>
                      <a:pt x="21600" y="14454"/>
                    </a:cubicBezTo>
                  </a:path>
                  <a:path w="21600" h="14454" stroke="0" extrusionOk="0">
                    <a:moveTo>
                      <a:pt x="16051" y="-1"/>
                    </a:moveTo>
                    <a:cubicBezTo>
                      <a:pt x="19623" y="3966"/>
                      <a:pt x="21600" y="9115"/>
                      <a:pt x="21600" y="14454"/>
                    </a:cubicBezTo>
                    <a:lnTo>
                      <a:pt x="0" y="14454"/>
                    </a:lnTo>
                    <a:close/>
                  </a:path>
                </a:pathLst>
              </a:custGeom>
              <a:noFill/>
              <a:ln w="57150">
                <a:solidFill>
                  <a:srgbClr val="FF0000"/>
                </a:solidFill>
                <a:round/>
                <a:headEnd/>
                <a:tailEnd/>
              </a:ln>
              <a:effectLst/>
            </p:spPr>
            <p:txBody>
              <a:bodyPr/>
              <a:lstStyle/>
              <a:p>
                <a:endParaRPr lang="en-CA"/>
              </a:p>
            </p:txBody>
          </p:sp>
          <p:sp>
            <p:nvSpPr>
              <p:cNvPr id="274508" name="Line 76"/>
              <p:cNvSpPr>
                <a:spLocks noChangeShapeType="1"/>
              </p:cNvSpPr>
              <p:nvPr/>
            </p:nvSpPr>
            <p:spPr bwMode="auto">
              <a:xfrm rot="21600000">
                <a:off x="1915" y="3514"/>
                <a:ext cx="865" cy="1"/>
              </a:xfrm>
              <a:prstGeom prst="line">
                <a:avLst/>
              </a:prstGeom>
              <a:noFill/>
              <a:ln w="57150">
                <a:solidFill>
                  <a:srgbClr val="FF0000"/>
                </a:solidFill>
                <a:round/>
                <a:headEnd/>
                <a:tailEnd/>
              </a:ln>
              <a:effectLst/>
            </p:spPr>
            <p:txBody>
              <a:bodyPr/>
              <a:lstStyle/>
              <a:p>
                <a:endParaRPr lang="en-CA"/>
              </a:p>
            </p:txBody>
          </p:sp>
          <p:sp>
            <p:nvSpPr>
              <p:cNvPr id="274509" name="Line 77"/>
              <p:cNvSpPr>
                <a:spLocks noChangeShapeType="1"/>
              </p:cNvSpPr>
              <p:nvPr/>
            </p:nvSpPr>
            <p:spPr bwMode="auto">
              <a:xfrm rot="3941466" flipH="1">
                <a:off x="2046" y="3049"/>
                <a:ext cx="814" cy="360"/>
              </a:xfrm>
              <a:prstGeom prst="line">
                <a:avLst/>
              </a:prstGeom>
              <a:noFill/>
              <a:ln w="57150">
                <a:solidFill>
                  <a:srgbClr val="FF0000"/>
                </a:solidFill>
                <a:round/>
                <a:headEnd/>
                <a:tailEnd/>
              </a:ln>
              <a:effectLst/>
            </p:spPr>
            <p:txBody>
              <a:bodyPr/>
              <a:lstStyle/>
              <a:p>
                <a:endParaRPr lang="en-CA"/>
              </a:p>
            </p:txBody>
          </p:sp>
        </p:grpSp>
        <p:grpSp>
          <p:nvGrpSpPr>
            <p:cNvPr id="13" name="Group 82"/>
            <p:cNvGrpSpPr>
              <a:grpSpLocks/>
            </p:cNvGrpSpPr>
            <p:nvPr/>
          </p:nvGrpSpPr>
          <p:grpSpPr bwMode="auto">
            <a:xfrm>
              <a:off x="6045200" y="3639741"/>
              <a:ext cx="1373188" cy="746522"/>
              <a:chOff x="3808" y="3057"/>
              <a:chExt cx="865" cy="627"/>
            </a:xfrm>
          </p:grpSpPr>
          <p:sp>
            <p:nvSpPr>
              <p:cNvPr id="274511" name="Arc 79"/>
              <p:cNvSpPr>
                <a:spLocks/>
              </p:cNvSpPr>
              <p:nvPr/>
            </p:nvSpPr>
            <p:spPr bwMode="auto">
              <a:xfrm flipH="1">
                <a:off x="3963" y="3272"/>
                <a:ext cx="698" cy="239"/>
              </a:xfrm>
              <a:custGeom>
                <a:avLst/>
                <a:gdLst>
                  <a:gd name="G0" fmla="+- 0 0 0"/>
                  <a:gd name="G1" fmla="+- 7401 0 0"/>
                  <a:gd name="G2" fmla="+- 21600 0 0"/>
                  <a:gd name="T0" fmla="*/ 20292 w 21600"/>
                  <a:gd name="T1" fmla="*/ 0 h 7401"/>
                  <a:gd name="T2" fmla="*/ 21600 w 21600"/>
                  <a:gd name="T3" fmla="*/ 7401 h 7401"/>
                  <a:gd name="T4" fmla="*/ 0 w 21600"/>
                  <a:gd name="T5" fmla="*/ 7401 h 7401"/>
                </a:gdLst>
                <a:ahLst/>
                <a:cxnLst>
                  <a:cxn ang="0">
                    <a:pos x="T0" y="T1"/>
                  </a:cxn>
                  <a:cxn ang="0">
                    <a:pos x="T2" y="T3"/>
                  </a:cxn>
                  <a:cxn ang="0">
                    <a:pos x="T4" y="T5"/>
                  </a:cxn>
                </a:cxnLst>
                <a:rect l="0" t="0" r="r" b="b"/>
                <a:pathLst>
                  <a:path w="21600" h="7401" fill="none" extrusionOk="0">
                    <a:moveTo>
                      <a:pt x="20292" y="-1"/>
                    </a:moveTo>
                    <a:cubicBezTo>
                      <a:pt x="21157" y="2371"/>
                      <a:pt x="21600" y="4876"/>
                      <a:pt x="21600" y="7401"/>
                    </a:cubicBezTo>
                  </a:path>
                  <a:path w="21600" h="7401" stroke="0" extrusionOk="0">
                    <a:moveTo>
                      <a:pt x="20292" y="-1"/>
                    </a:moveTo>
                    <a:cubicBezTo>
                      <a:pt x="21157" y="2371"/>
                      <a:pt x="21600" y="4876"/>
                      <a:pt x="21600" y="7401"/>
                    </a:cubicBezTo>
                    <a:lnTo>
                      <a:pt x="0" y="7401"/>
                    </a:lnTo>
                    <a:close/>
                  </a:path>
                </a:pathLst>
              </a:custGeom>
              <a:noFill/>
              <a:ln w="57150">
                <a:solidFill>
                  <a:srgbClr val="FF0000"/>
                </a:solidFill>
                <a:round/>
                <a:headEnd/>
                <a:tailEnd/>
              </a:ln>
              <a:effectLst/>
            </p:spPr>
            <p:txBody>
              <a:bodyPr/>
              <a:lstStyle/>
              <a:p>
                <a:endParaRPr lang="en-CA"/>
              </a:p>
            </p:txBody>
          </p:sp>
          <p:sp>
            <p:nvSpPr>
              <p:cNvPr id="274512" name="Line 80"/>
              <p:cNvSpPr>
                <a:spLocks noChangeShapeType="1"/>
              </p:cNvSpPr>
              <p:nvPr/>
            </p:nvSpPr>
            <p:spPr bwMode="auto">
              <a:xfrm rot="21600000">
                <a:off x="3808" y="3517"/>
                <a:ext cx="865" cy="1"/>
              </a:xfrm>
              <a:prstGeom prst="line">
                <a:avLst/>
              </a:prstGeom>
              <a:noFill/>
              <a:ln w="57150">
                <a:solidFill>
                  <a:srgbClr val="FF0000"/>
                </a:solidFill>
                <a:round/>
                <a:headEnd/>
                <a:tailEnd/>
              </a:ln>
              <a:effectLst/>
            </p:spPr>
            <p:txBody>
              <a:bodyPr/>
              <a:lstStyle/>
              <a:p>
                <a:endParaRPr lang="en-CA"/>
              </a:p>
            </p:txBody>
          </p:sp>
          <p:sp>
            <p:nvSpPr>
              <p:cNvPr id="274513" name="Line 81"/>
              <p:cNvSpPr>
                <a:spLocks noChangeShapeType="1"/>
              </p:cNvSpPr>
              <p:nvPr/>
            </p:nvSpPr>
            <p:spPr bwMode="auto">
              <a:xfrm rot="3941466" flipH="1">
                <a:off x="3951" y="3059"/>
                <a:ext cx="627" cy="623"/>
              </a:xfrm>
              <a:prstGeom prst="line">
                <a:avLst/>
              </a:prstGeom>
              <a:noFill/>
              <a:ln w="57150">
                <a:solidFill>
                  <a:srgbClr val="FF0000"/>
                </a:solidFill>
                <a:round/>
                <a:headEnd/>
                <a:tailEnd/>
              </a:ln>
              <a:effectLst/>
            </p:spPr>
            <p:txBody>
              <a:bodyPr/>
              <a:lstStyle/>
              <a:p>
                <a:endParaRPr lang="en-CA"/>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74435">
                                            <p:txEl>
                                              <p:pRg st="0" end="0"/>
                                            </p:txEl>
                                          </p:spTgt>
                                        </p:tgtEl>
                                        <p:attrNameLst>
                                          <p:attrName>style.visibility</p:attrName>
                                        </p:attrNameLst>
                                      </p:cBhvr>
                                      <p:to>
                                        <p:strVal val="visible"/>
                                      </p:to>
                                    </p:set>
                                    <p:anim calcmode="discrete" valueType="clr">
                                      <p:cBhvr override="childStyle">
                                        <p:cTn id="7" dur="80"/>
                                        <p:tgtEl>
                                          <p:spTgt spid="27443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7443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7443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74435">
                                            <p:txEl>
                                              <p:pRg st="1" end="1"/>
                                            </p:txEl>
                                          </p:spTgt>
                                        </p:tgtEl>
                                        <p:attrNameLst>
                                          <p:attrName>style.visibility</p:attrName>
                                        </p:attrNameLst>
                                      </p:cBhvr>
                                      <p:to>
                                        <p:strVal val="visible"/>
                                      </p:to>
                                    </p:set>
                                    <p:anim calcmode="discrete" valueType="clr">
                                      <p:cBhvr override="childStyle">
                                        <p:cTn id="14" dur="80"/>
                                        <p:tgtEl>
                                          <p:spTgt spid="27443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7443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74435">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539552" y="267494"/>
            <a:ext cx="7772400" cy="685800"/>
          </a:xfrm>
        </p:spPr>
        <p:txBody>
          <a:bodyPr/>
          <a:lstStyle/>
          <a:p>
            <a:r>
              <a:rPr lang="en-US" dirty="0"/>
              <a:t>Diffuse and Ambient</a:t>
            </a:r>
            <a:endParaRPr lang="en-CA" dirty="0"/>
          </a:p>
        </p:txBody>
      </p:sp>
      <p:sp>
        <p:nvSpPr>
          <p:cNvPr id="272387" name="Rectangle 3"/>
          <p:cNvSpPr>
            <a:spLocks noGrp="1" noChangeArrowheads="1"/>
          </p:cNvSpPr>
          <p:nvPr>
            <p:ph type="body" idx="1"/>
          </p:nvPr>
        </p:nvSpPr>
        <p:spPr>
          <a:xfrm>
            <a:off x="611560" y="1131590"/>
            <a:ext cx="7772400" cy="3200400"/>
          </a:xfrm>
        </p:spPr>
        <p:txBody>
          <a:bodyPr>
            <a:normAutofit/>
          </a:bodyPr>
          <a:lstStyle/>
          <a:p>
            <a:r>
              <a:rPr lang="en-US" sz="2800" dirty="0"/>
              <a:t>Often the diffuse and ambient lights are often set to the same </a:t>
            </a:r>
            <a:r>
              <a:rPr lang="en-US" sz="2800" dirty="0" err="1"/>
              <a:t>colour</a:t>
            </a:r>
            <a:r>
              <a:rPr lang="en-US" sz="2800" dirty="0"/>
              <a:t> in the computer.</a:t>
            </a:r>
          </a:p>
          <a:p>
            <a:r>
              <a:rPr lang="en-US" sz="2800" dirty="0"/>
              <a:t>There are some exceptions…we’ll see them later (mainly metals, etc.)</a:t>
            </a:r>
          </a:p>
          <a:p>
            <a:endParaRPr lang="en-CA" sz="2800" dirty="0"/>
          </a:p>
        </p:txBody>
      </p:sp>
      <p:sp>
        <p:nvSpPr>
          <p:cNvPr id="27238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72387">
                                            <p:txEl>
                                              <p:pRg st="0" end="0"/>
                                            </p:txEl>
                                          </p:spTgt>
                                        </p:tgtEl>
                                        <p:attrNameLst>
                                          <p:attrName>style.visibility</p:attrName>
                                        </p:attrNameLst>
                                      </p:cBhvr>
                                      <p:to>
                                        <p:strVal val="visible"/>
                                      </p:to>
                                    </p:set>
                                    <p:anim calcmode="discrete" valueType="clr">
                                      <p:cBhvr override="childStyle">
                                        <p:cTn id="7" dur="80"/>
                                        <p:tgtEl>
                                          <p:spTgt spid="27238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7238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7238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72387">
                                            <p:txEl>
                                              <p:pRg st="1" end="1"/>
                                            </p:txEl>
                                          </p:spTgt>
                                        </p:tgtEl>
                                        <p:attrNameLst>
                                          <p:attrName>style.visibility</p:attrName>
                                        </p:attrNameLst>
                                      </p:cBhvr>
                                      <p:to>
                                        <p:strVal val="visible"/>
                                      </p:to>
                                    </p:set>
                                    <p:anim calcmode="discrete" valueType="clr">
                                      <p:cBhvr override="childStyle">
                                        <p:cTn id="14" dur="80"/>
                                        <p:tgtEl>
                                          <p:spTgt spid="27238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7238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7238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72388"/>
                                        </p:tgtEl>
                                        <p:attrNameLst>
                                          <p:attrName>style.visibility</p:attrName>
                                        </p:attrNameLst>
                                      </p:cBhvr>
                                      <p:to>
                                        <p:strVal val="visible"/>
                                      </p:to>
                                    </p:set>
                                    <p:animEffect transition="in" filter="fade">
                                      <p:cBhvr>
                                        <p:cTn id="21" dur="5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7" grpId="0" build="p"/>
      <p:bldP spid="27238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539552" y="123478"/>
            <a:ext cx="7543800" cy="608410"/>
          </a:xfrm>
        </p:spPr>
        <p:txBody>
          <a:bodyPr/>
          <a:lstStyle/>
          <a:p>
            <a:r>
              <a:rPr lang="en-US" dirty="0"/>
              <a:t>Specular</a:t>
            </a:r>
            <a:endParaRPr lang="en-CA" dirty="0"/>
          </a:p>
        </p:txBody>
      </p:sp>
      <p:sp>
        <p:nvSpPr>
          <p:cNvPr id="276483" name="Rectangle 3"/>
          <p:cNvSpPr>
            <a:spLocks noGrp="1" noChangeArrowheads="1"/>
          </p:cNvSpPr>
          <p:nvPr>
            <p:ph type="body" idx="1"/>
          </p:nvPr>
        </p:nvSpPr>
        <p:spPr>
          <a:xfrm>
            <a:off x="858838" y="921544"/>
            <a:ext cx="7988300" cy="1729979"/>
          </a:xfrm>
        </p:spPr>
        <p:txBody>
          <a:bodyPr>
            <a:normAutofit fontScale="92500" lnSpcReduction="20000"/>
          </a:bodyPr>
          <a:lstStyle/>
          <a:p>
            <a:r>
              <a:rPr lang="en-US" dirty="0"/>
              <a:t>The ‘shininess’ or ‘luster’ of something</a:t>
            </a:r>
          </a:p>
          <a:p>
            <a:r>
              <a:rPr lang="en-US" dirty="0"/>
              <a:t>A </a:t>
            </a:r>
            <a:r>
              <a:rPr lang="en-US" b="1" dirty="0"/>
              <a:t>mirror</a:t>
            </a:r>
            <a:r>
              <a:rPr lang="en-US" dirty="0"/>
              <a:t> has perfect specular reflection</a:t>
            </a:r>
          </a:p>
          <a:p>
            <a:pPr lvl="1"/>
            <a:r>
              <a:rPr lang="en-US" dirty="0"/>
              <a:t>The light entering is </a:t>
            </a:r>
            <a:r>
              <a:rPr lang="en-US" i="1" u="sng" dirty="0"/>
              <a:t>perfectly</a:t>
            </a:r>
            <a:r>
              <a:rPr lang="en-US" dirty="0"/>
              <a:t> reflected</a:t>
            </a:r>
          </a:p>
          <a:p>
            <a:pPr lvl="1"/>
            <a:r>
              <a:rPr lang="en-US" dirty="0"/>
              <a:t>Reflection exits at </a:t>
            </a:r>
            <a:r>
              <a:rPr lang="en-US" i="1" dirty="0"/>
              <a:t>same angle as enters</a:t>
            </a:r>
          </a:p>
          <a:p>
            <a:endParaRPr lang="en-US" dirty="0"/>
          </a:p>
          <a:p>
            <a:endParaRPr lang="en-CA" dirty="0"/>
          </a:p>
        </p:txBody>
      </p:sp>
      <p:sp>
        <p:nvSpPr>
          <p:cNvPr id="27648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21"/>
          <p:cNvGrpSpPr>
            <a:grpSpLocks/>
          </p:cNvGrpSpPr>
          <p:nvPr/>
        </p:nvGrpSpPr>
        <p:grpSpPr bwMode="auto">
          <a:xfrm rot="-1003724">
            <a:off x="3324226" y="3211116"/>
            <a:ext cx="1285875" cy="1398984"/>
            <a:chOff x="511" y="2468"/>
            <a:chExt cx="628" cy="911"/>
          </a:xfrm>
        </p:grpSpPr>
        <p:grpSp>
          <p:nvGrpSpPr>
            <p:cNvPr id="3" name="Group 6"/>
            <p:cNvGrpSpPr>
              <a:grpSpLocks/>
            </p:cNvGrpSpPr>
            <p:nvPr/>
          </p:nvGrpSpPr>
          <p:grpSpPr bwMode="auto">
            <a:xfrm rot="1965719">
              <a:off x="541" y="2468"/>
              <a:ext cx="228" cy="281"/>
              <a:chOff x="744" y="2522"/>
              <a:chExt cx="312" cy="384"/>
            </a:xfrm>
          </p:grpSpPr>
          <p:sp>
            <p:nvSpPr>
              <p:cNvPr id="276487" name="Oval 7"/>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76488" name="AutoShape 8"/>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76489" name="Line 9"/>
            <p:cNvSpPr>
              <a:spLocks noChangeShapeType="1"/>
            </p:cNvSpPr>
            <p:nvPr/>
          </p:nvSpPr>
          <p:spPr bwMode="auto">
            <a:xfrm rot="2144606">
              <a:off x="511" y="2914"/>
              <a:ext cx="628" cy="465"/>
            </a:xfrm>
            <a:prstGeom prst="line">
              <a:avLst/>
            </a:prstGeom>
            <a:noFill/>
            <a:ln w="76200">
              <a:solidFill>
                <a:srgbClr val="FFFF00"/>
              </a:solidFill>
              <a:round/>
              <a:headEnd/>
              <a:tailEnd type="stealth" w="lg" len="lg"/>
            </a:ln>
            <a:effectLst/>
          </p:spPr>
          <p:txBody>
            <a:bodyPr/>
            <a:lstStyle/>
            <a:p>
              <a:endParaRPr lang="en-CA"/>
            </a:p>
          </p:txBody>
        </p:sp>
      </p:grpSp>
      <p:sp>
        <p:nvSpPr>
          <p:cNvPr id="276499" name="Rectangle 19"/>
          <p:cNvSpPr>
            <a:spLocks noChangeArrowheads="1"/>
          </p:cNvSpPr>
          <p:nvPr/>
        </p:nvSpPr>
        <p:spPr bwMode="auto">
          <a:xfrm>
            <a:off x="2722564" y="4737497"/>
            <a:ext cx="3659187" cy="208359"/>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276503" name="Arc 23"/>
          <p:cNvSpPr>
            <a:spLocks/>
          </p:cNvSpPr>
          <p:nvPr/>
        </p:nvSpPr>
        <p:spPr bwMode="auto">
          <a:xfrm flipH="1">
            <a:off x="3506788" y="3334941"/>
            <a:ext cx="1042987" cy="1343025"/>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276504" name="Line 24"/>
          <p:cNvSpPr>
            <a:spLocks noChangeShapeType="1"/>
          </p:cNvSpPr>
          <p:nvPr/>
        </p:nvSpPr>
        <p:spPr bwMode="auto">
          <a:xfrm>
            <a:off x="2767013" y="2801541"/>
            <a:ext cx="1790700" cy="1927622"/>
          </a:xfrm>
          <a:prstGeom prst="line">
            <a:avLst/>
          </a:prstGeom>
          <a:noFill/>
          <a:ln w="57150">
            <a:solidFill>
              <a:srgbClr val="FF0000"/>
            </a:solidFill>
            <a:round/>
            <a:headEnd/>
            <a:tailEnd/>
          </a:ln>
          <a:effectLst/>
        </p:spPr>
        <p:txBody>
          <a:bodyPr/>
          <a:lstStyle/>
          <a:p>
            <a:endParaRPr lang="en-CA"/>
          </a:p>
        </p:txBody>
      </p:sp>
      <p:sp>
        <p:nvSpPr>
          <p:cNvPr id="276505" name="Line 25"/>
          <p:cNvSpPr>
            <a:spLocks noChangeShapeType="1"/>
          </p:cNvSpPr>
          <p:nvPr/>
        </p:nvSpPr>
        <p:spPr bwMode="auto">
          <a:xfrm rot="3941466">
            <a:off x="3372760" y="3057926"/>
            <a:ext cx="2326472" cy="971864"/>
          </a:xfrm>
          <a:prstGeom prst="line">
            <a:avLst/>
          </a:prstGeom>
          <a:noFill/>
          <a:ln w="57150">
            <a:solidFill>
              <a:srgbClr val="FF0000"/>
            </a:solidFill>
            <a:round/>
            <a:headEnd/>
            <a:tailEnd/>
          </a:ln>
          <a:effectLst/>
        </p:spPr>
        <p:txBody>
          <a:bodyPr/>
          <a:lstStyle/>
          <a:p>
            <a:endParaRPr lang="en-CA"/>
          </a:p>
        </p:txBody>
      </p:sp>
      <p:sp>
        <p:nvSpPr>
          <p:cNvPr id="276512" name="Line 32"/>
          <p:cNvSpPr>
            <a:spLocks noChangeShapeType="1"/>
          </p:cNvSpPr>
          <p:nvPr/>
        </p:nvSpPr>
        <p:spPr bwMode="auto">
          <a:xfrm rot="20459117" flipH="1">
            <a:off x="4359276" y="3863579"/>
            <a:ext cx="1285875" cy="714375"/>
          </a:xfrm>
          <a:prstGeom prst="line">
            <a:avLst/>
          </a:prstGeom>
          <a:noFill/>
          <a:ln w="76200">
            <a:solidFill>
              <a:srgbClr val="FFFF00"/>
            </a:solidFill>
            <a:round/>
            <a:headEnd type="stealth" w="lg" len="lg"/>
            <a:tailEnd type="none" w="lg" len="lg"/>
          </a:ln>
          <a:effectLst/>
        </p:spPr>
        <p:txBody>
          <a:bodyPr/>
          <a:lstStyle/>
          <a:p>
            <a:endParaRPr lang="en-CA"/>
          </a:p>
        </p:txBody>
      </p:sp>
      <p:grpSp>
        <p:nvGrpSpPr>
          <p:cNvPr id="5" name="Group 40"/>
          <p:cNvGrpSpPr>
            <a:grpSpLocks/>
          </p:cNvGrpSpPr>
          <p:nvPr/>
        </p:nvGrpSpPr>
        <p:grpSpPr bwMode="auto">
          <a:xfrm>
            <a:off x="4533900" y="2794397"/>
            <a:ext cx="1790700" cy="1927622"/>
            <a:chOff x="2856" y="2347"/>
            <a:chExt cx="1128" cy="1619"/>
          </a:xfrm>
        </p:grpSpPr>
        <p:sp>
          <p:nvSpPr>
            <p:cNvPr id="276517" name="Arc 37"/>
            <p:cNvSpPr>
              <a:spLocks/>
            </p:cNvSpPr>
            <p:nvPr/>
          </p:nvSpPr>
          <p:spPr bwMode="auto">
            <a:xfrm>
              <a:off x="2881" y="2801"/>
              <a:ext cx="657" cy="1128"/>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276518" name="Line 38"/>
            <p:cNvSpPr>
              <a:spLocks noChangeShapeType="1"/>
            </p:cNvSpPr>
            <p:nvPr/>
          </p:nvSpPr>
          <p:spPr bwMode="auto">
            <a:xfrm flipH="1">
              <a:off x="2856" y="2347"/>
              <a:ext cx="1128" cy="1619"/>
            </a:xfrm>
            <a:prstGeom prst="line">
              <a:avLst/>
            </a:prstGeom>
            <a:noFill/>
            <a:ln w="57150">
              <a:solidFill>
                <a:srgbClr val="FF0000"/>
              </a:solidFill>
              <a:round/>
              <a:headEnd/>
              <a:tailEnd/>
            </a:ln>
            <a:effectLst/>
          </p:spPr>
          <p:txBody>
            <a:bodyPr/>
            <a:lstStyle/>
            <a:p>
              <a:endParaRPr lang="en-CA"/>
            </a:p>
          </p:txBody>
        </p:sp>
      </p:grpSp>
      <p:sp>
        <p:nvSpPr>
          <p:cNvPr id="276521" name="AutoShape 41"/>
          <p:cNvSpPr>
            <a:spLocks noChangeArrowheads="1"/>
          </p:cNvSpPr>
          <p:nvPr/>
        </p:nvSpPr>
        <p:spPr bwMode="auto">
          <a:xfrm>
            <a:off x="427038" y="2850356"/>
            <a:ext cx="1606550" cy="410766"/>
          </a:xfrm>
          <a:prstGeom prst="roundRect">
            <a:avLst>
              <a:gd name="adj" fmla="val 16667"/>
            </a:avLst>
          </a:prstGeom>
          <a:solidFill>
            <a:srgbClr val="00B8FF"/>
          </a:solidFill>
          <a:ln w="9525">
            <a:solidFill>
              <a:schemeClr val="tx1"/>
            </a:solidFill>
            <a:round/>
            <a:headEnd/>
            <a:tailEnd/>
          </a:ln>
          <a:effectLst/>
        </p:spPr>
        <p:txBody>
          <a:bodyPr wrap="none" anchor="ctr"/>
          <a:lstStyle/>
          <a:p>
            <a:pPr algn="ctr"/>
            <a:r>
              <a:rPr lang="en-GB">
                <a:solidFill>
                  <a:schemeClr val="bg1"/>
                </a:solidFill>
              </a:rPr>
              <a:t>Same angle</a:t>
            </a:r>
          </a:p>
        </p:txBody>
      </p:sp>
      <p:sp>
        <p:nvSpPr>
          <p:cNvPr id="276522" name="Line 42"/>
          <p:cNvSpPr>
            <a:spLocks noChangeShapeType="1"/>
          </p:cNvSpPr>
          <p:nvPr/>
        </p:nvSpPr>
        <p:spPr bwMode="auto">
          <a:xfrm>
            <a:off x="1939925" y="3177778"/>
            <a:ext cx="2205038" cy="509588"/>
          </a:xfrm>
          <a:prstGeom prst="line">
            <a:avLst/>
          </a:prstGeom>
          <a:noFill/>
          <a:ln w="57150">
            <a:solidFill>
              <a:srgbClr val="33CCCC"/>
            </a:solidFill>
            <a:round/>
            <a:headEnd/>
            <a:tailEnd type="stealth" w="lg" len="lg"/>
          </a:ln>
          <a:effectLst/>
        </p:spPr>
        <p:txBody>
          <a:bodyPr/>
          <a:lstStyle/>
          <a:p>
            <a:endParaRPr lang="en-CA"/>
          </a:p>
        </p:txBody>
      </p:sp>
      <p:sp>
        <p:nvSpPr>
          <p:cNvPr id="276523" name="Line 43"/>
          <p:cNvSpPr>
            <a:spLocks noChangeShapeType="1"/>
          </p:cNvSpPr>
          <p:nvPr/>
        </p:nvSpPr>
        <p:spPr bwMode="auto">
          <a:xfrm>
            <a:off x="1979614" y="3162300"/>
            <a:ext cx="3100387" cy="448866"/>
          </a:xfrm>
          <a:prstGeom prst="line">
            <a:avLst/>
          </a:prstGeom>
          <a:noFill/>
          <a:ln w="57150">
            <a:solidFill>
              <a:srgbClr val="33CCCC"/>
            </a:solidFill>
            <a:round/>
            <a:headEnd/>
            <a:tailEnd type="stealth" w="lg" len="lg"/>
          </a:ln>
          <a:effectLst/>
        </p:spPr>
        <p:txBody>
          <a:bodyPr/>
          <a:lstStyle/>
          <a:p>
            <a:endParaRPr lang="en-CA"/>
          </a:p>
        </p:txBody>
      </p:sp>
      <p:pic>
        <p:nvPicPr>
          <p:cNvPr id="276524" name="Picture 44" descr="alice_looking_glass_2"/>
          <p:cNvPicPr>
            <a:picLocks noChangeAspect="1" noChangeArrowheads="1"/>
          </p:cNvPicPr>
          <p:nvPr/>
        </p:nvPicPr>
        <p:blipFill>
          <a:blip r:embed="rId3" cstate="print"/>
          <a:srcRect/>
          <a:stretch>
            <a:fillRect/>
          </a:stretch>
        </p:blipFill>
        <p:spPr bwMode="auto">
          <a:xfrm>
            <a:off x="6904038" y="2647950"/>
            <a:ext cx="2024062" cy="187761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76483">
                                            <p:txEl>
                                              <p:pRg st="0" end="0"/>
                                            </p:txEl>
                                          </p:spTgt>
                                        </p:tgtEl>
                                        <p:attrNameLst>
                                          <p:attrName>style.visibility</p:attrName>
                                        </p:attrNameLst>
                                      </p:cBhvr>
                                      <p:to>
                                        <p:strVal val="visible"/>
                                      </p:to>
                                    </p:set>
                                    <p:anim calcmode="discrete" valueType="clr">
                                      <p:cBhvr override="childStyle">
                                        <p:cTn id="7" dur="80"/>
                                        <p:tgtEl>
                                          <p:spTgt spid="27648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7648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7648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76483">
                                            <p:txEl>
                                              <p:pRg st="1" end="1"/>
                                            </p:txEl>
                                          </p:spTgt>
                                        </p:tgtEl>
                                        <p:attrNameLst>
                                          <p:attrName>style.visibility</p:attrName>
                                        </p:attrNameLst>
                                      </p:cBhvr>
                                      <p:to>
                                        <p:strVal val="visible"/>
                                      </p:to>
                                    </p:set>
                                    <p:anim calcmode="discrete" valueType="clr">
                                      <p:cBhvr override="childStyle">
                                        <p:cTn id="14" dur="80"/>
                                        <p:tgtEl>
                                          <p:spTgt spid="27648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76483">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76483">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76524"/>
                                        </p:tgtEl>
                                        <p:attrNameLst>
                                          <p:attrName>style.visibility</p:attrName>
                                        </p:attrNameLst>
                                      </p:cBhvr>
                                      <p:to>
                                        <p:strVal val="visible"/>
                                      </p:to>
                                    </p:set>
                                    <p:animEffect transition="in" filter="checkerboard(across)">
                                      <p:cBhvr>
                                        <p:cTn id="21" dur="500"/>
                                        <p:tgtEl>
                                          <p:spTgt spid="276524"/>
                                        </p:tgtEl>
                                      </p:cBhvr>
                                    </p:animEffec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grpId="0" nodeType="clickEffect">
                                  <p:stCondLst>
                                    <p:cond delay="0"/>
                                  </p:stCondLst>
                                  <p:iterate type="lt">
                                    <p:tmPct val="50000"/>
                                  </p:iterate>
                                  <p:childTnLst>
                                    <p:set>
                                      <p:cBhvr>
                                        <p:cTn id="25" dur="1" fill="hold">
                                          <p:stCondLst>
                                            <p:cond delay="0"/>
                                          </p:stCondLst>
                                        </p:cTn>
                                        <p:tgtEl>
                                          <p:spTgt spid="276483">
                                            <p:txEl>
                                              <p:pRg st="2" end="2"/>
                                            </p:txEl>
                                          </p:spTgt>
                                        </p:tgtEl>
                                        <p:attrNameLst>
                                          <p:attrName>style.visibility</p:attrName>
                                        </p:attrNameLst>
                                      </p:cBhvr>
                                      <p:to>
                                        <p:strVal val="visible"/>
                                      </p:to>
                                    </p:set>
                                    <p:anim calcmode="discrete" valueType="clr">
                                      <p:cBhvr override="childStyle">
                                        <p:cTn id="26" dur="80"/>
                                        <p:tgtEl>
                                          <p:spTgt spid="27648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76483">
                                            <p:txEl>
                                              <p:pRg st="2" end="2"/>
                                            </p:txEl>
                                          </p:spTgt>
                                        </p:tgtEl>
                                        <p:attrNameLst>
                                          <p:attrName>fillcolor</p:attrName>
                                        </p:attrNameLst>
                                      </p:cBhvr>
                                      <p:tavLst>
                                        <p:tav tm="0">
                                          <p:val>
                                            <p:clrVal>
                                              <a:schemeClr val="accent2"/>
                                            </p:clrVal>
                                          </p:val>
                                        </p:tav>
                                        <p:tav tm="50000">
                                          <p:val>
                                            <p:clrVal>
                                              <a:schemeClr val="hlink"/>
                                            </p:clrVal>
                                          </p:val>
                                        </p:tav>
                                      </p:tavLst>
                                    </p:anim>
                                    <p:set>
                                      <p:cBhvr>
                                        <p:cTn id="28" dur="80"/>
                                        <p:tgtEl>
                                          <p:spTgt spid="276483">
                                            <p:txEl>
                                              <p:pRg st="2" end="2"/>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276483">
                                            <p:txEl>
                                              <p:pRg st="3" end="3"/>
                                            </p:txEl>
                                          </p:spTgt>
                                        </p:tgtEl>
                                        <p:attrNameLst>
                                          <p:attrName>style.visibility</p:attrName>
                                        </p:attrNameLst>
                                      </p:cBhvr>
                                      <p:to>
                                        <p:strVal val="visible"/>
                                      </p:to>
                                    </p:set>
                                    <p:anim calcmode="discrete" valueType="clr">
                                      <p:cBhvr override="childStyle">
                                        <p:cTn id="33" dur="80"/>
                                        <p:tgtEl>
                                          <p:spTgt spid="27648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76483">
                                            <p:txEl>
                                              <p:pRg st="3" end="3"/>
                                            </p:txEl>
                                          </p:spTgt>
                                        </p:tgtEl>
                                        <p:attrNameLst>
                                          <p:attrName>fillcolor</p:attrName>
                                        </p:attrNameLst>
                                      </p:cBhvr>
                                      <p:tavLst>
                                        <p:tav tm="0">
                                          <p:val>
                                            <p:clrVal>
                                              <a:schemeClr val="accent2"/>
                                            </p:clrVal>
                                          </p:val>
                                        </p:tav>
                                        <p:tav tm="50000">
                                          <p:val>
                                            <p:clrVal>
                                              <a:schemeClr val="hlink"/>
                                            </p:clrVal>
                                          </p:val>
                                        </p:tav>
                                      </p:tavLst>
                                    </p:anim>
                                    <p:set>
                                      <p:cBhvr>
                                        <p:cTn id="35" dur="80"/>
                                        <p:tgtEl>
                                          <p:spTgt spid="276483">
                                            <p:txEl>
                                              <p:pRg st="3" end="3"/>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276499"/>
                                        </p:tgtEl>
                                        <p:attrNameLst>
                                          <p:attrName>style.visibility</p:attrName>
                                        </p:attrNameLst>
                                      </p:cBhvr>
                                      <p:to>
                                        <p:strVal val="visible"/>
                                      </p:to>
                                    </p:set>
                                    <p:animEffect transition="in" filter="checkerboard(across)">
                                      <p:cBhvr>
                                        <p:cTn id="40" dur="500"/>
                                        <p:tgtEl>
                                          <p:spTgt spid="276499"/>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checkerboard(across)">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276512"/>
                                        </p:tgtEl>
                                        <p:attrNameLst>
                                          <p:attrName>style.visibility</p:attrName>
                                        </p:attrNameLst>
                                      </p:cBhvr>
                                      <p:to>
                                        <p:strVal val="visible"/>
                                      </p:to>
                                    </p:set>
                                    <p:animEffect transition="in" filter="checkerboard(across)">
                                      <p:cBhvr>
                                        <p:cTn id="50" dur="500"/>
                                        <p:tgtEl>
                                          <p:spTgt spid="276512"/>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checkerboard(across)">
                                      <p:cBhvr>
                                        <p:cTn id="55" dur="500"/>
                                        <p:tgtEl>
                                          <p:spTgt spid="5"/>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276521"/>
                                        </p:tgtEl>
                                        <p:attrNameLst>
                                          <p:attrName>style.visibility</p:attrName>
                                        </p:attrNameLst>
                                      </p:cBhvr>
                                      <p:to>
                                        <p:strVal val="visible"/>
                                      </p:to>
                                    </p:set>
                                    <p:animEffect transition="in" filter="checkerboard(across)">
                                      <p:cBhvr>
                                        <p:cTn id="60" dur="500"/>
                                        <p:tgtEl>
                                          <p:spTgt spid="276521"/>
                                        </p:tgtEl>
                                      </p:cBhvr>
                                    </p:animEffect>
                                  </p:childTnLst>
                                </p:cTn>
                              </p:par>
                            </p:childTnLst>
                          </p:cTn>
                        </p:par>
                        <p:par>
                          <p:cTn id="61" fill="hold">
                            <p:stCondLst>
                              <p:cond delay="500"/>
                            </p:stCondLst>
                            <p:childTnLst>
                              <p:par>
                                <p:cTn id="62" presetID="5" presetClass="entr" presetSubtype="10" fill="hold" grpId="0" nodeType="afterEffect">
                                  <p:stCondLst>
                                    <p:cond delay="0"/>
                                  </p:stCondLst>
                                  <p:childTnLst>
                                    <p:set>
                                      <p:cBhvr>
                                        <p:cTn id="63" dur="1" fill="hold">
                                          <p:stCondLst>
                                            <p:cond delay="0"/>
                                          </p:stCondLst>
                                        </p:cTn>
                                        <p:tgtEl>
                                          <p:spTgt spid="276522"/>
                                        </p:tgtEl>
                                        <p:attrNameLst>
                                          <p:attrName>style.visibility</p:attrName>
                                        </p:attrNameLst>
                                      </p:cBhvr>
                                      <p:to>
                                        <p:strVal val="visible"/>
                                      </p:to>
                                    </p:set>
                                    <p:animEffect transition="in" filter="checkerboard(across)">
                                      <p:cBhvr>
                                        <p:cTn id="64" dur="500"/>
                                        <p:tgtEl>
                                          <p:spTgt spid="276522"/>
                                        </p:tgtEl>
                                      </p:cBhvr>
                                    </p:animEffect>
                                  </p:childTnLst>
                                </p:cTn>
                              </p:par>
                            </p:childTnLst>
                          </p:cTn>
                        </p:par>
                        <p:par>
                          <p:cTn id="65" fill="hold">
                            <p:stCondLst>
                              <p:cond delay="1000"/>
                            </p:stCondLst>
                            <p:childTnLst>
                              <p:par>
                                <p:cTn id="66" presetID="5" presetClass="entr" presetSubtype="10" fill="hold" grpId="0" nodeType="afterEffect">
                                  <p:stCondLst>
                                    <p:cond delay="0"/>
                                  </p:stCondLst>
                                  <p:childTnLst>
                                    <p:set>
                                      <p:cBhvr>
                                        <p:cTn id="67" dur="1" fill="hold">
                                          <p:stCondLst>
                                            <p:cond delay="0"/>
                                          </p:stCondLst>
                                        </p:cTn>
                                        <p:tgtEl>
                                          <p:spTgt spid="276523"/>
                                        </p:tgtEl>
                                        <p:attrNameLst>
                                          <p:attrName>style.visibility</p:attrName>
                                        </p:attrNameLst>
                                      </p:cBhvr>
                                      <p:to>
                                        <p:strVal val="visible"/>
                                      </p:to>
                                    </p:set>
                                    <p:animEffect transition="in" filter="checkerboard(across)">
                                      <p:cBhvr>
                                        <p:cTn id="68" dur="500"/>
                                        <p:tgtEl>
                                          <p:spTgt spid="27652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76484"/>
                                        </p:tgtEl>
                                        <p:attrNameLst>
                                          <p:attrName>style.visibility</p:attrName>
                                        </p:attrNameLst>
                                      </p:cBhvr>
                                      <p:to>
                                        <p:strVal val="visible"/>
                                      </p:to>
                                    </p:set>
                                    <p:animEffect transition="in" filter="fade">
                                      <p:cBhvr>
                                        <p:cTn id="73" dur="500"/>
                                        <p:tgtEl>
                                          <p:spTgt spid="276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3" grpId="0" build="p"/>
      <p:bldP spid="276484" grpId="0" animBg="1"/>
      <p:bldP spid="276499" grpId="0" animBg="1"/>
      <p:bldP spid="276512" grpId="0" animBg="1"/>
      <p:bldP spid="276521" grpId="0" animBg="1"/>
      <p:bldP spid="276522" grpId="0" animBg="1"/>
      <p:bldP spid="2765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40"/>
          <p:cNvGrpSpPr>
            <a:grpSpLocks/>
          </p:cNvGrpSpPr>
          <p:nvPr/>
        </p:nvGrpSpPr>
        <p:grpSpPr bwMode="auto">
          <a:xfrm>
            <a:off x="2755302" y="2265446"/>
            <a:ext cx="1790700" cy="1927622"/>
            <a:chOff x="2856" y="2347"/>
            <a:chExt cx="1128" cy="1619"/>
          </a:xfrm>
        </p:grpSpPr>
        <p:sp>
          <p:nvSpPr>
            <p:cNvPr id="37" name="Arc 37"/>
            <p:cNvSpPr>
              <a:spLocks/>
            </p:cNvSpPr>
            <p:nvPr/>
          </p:nvSpPr>
          <p:spPr bwMode="auto">
            <a:xfrm>
              <a:off x="2881" y="2801"/>
              <a:ext cx="657" cy="1128"/>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38" name="Line 38"/>
            <p:cNvSpPr>
              <a:spLocks noChangeShapeType="1"/>
            </p:cNvSpPr>
            <p:nvPr/>
          </p:nvSpPr>
          <p:spPr bwMode="auto">
            <a:xfrm flipH="1">
              <a:off x="2856" y="2347"/>
              <a:ext cx="1128" cy="1619"/>
            </a:xfrm>
            <a:prstGeom prst="line">
              <a:avLst/>
            </a:prstGeom>
            <a:noFill/>
            <a:ln w="57150">
              <a:solidFill>
                <a:srgbClr val="FF0000"/>
              </a:solidFill>
              <a:round/>
              <a:headEnd/>
              <a:tailEnd/>
            </a:ln>
            <a:effectLst/>
          </p:spPr>
          <p:txBody>
            <a:bodyPr/>
            <a:lstStyle/>
            <a:p>
              <a:endParaRPr lang="en-CA"/>
            </a:p>
          </p:txBody>
        </p:sp>
      </p:grpSp>
      <p:sp>
        <p:nvSpPr>
          <p:cNvPr id="29" name="Line 24"/>
          <p:cNvSpPr>
            <a:spLocks noChangeShapeType="1"/>
          </p:cNvSpPr>
          <p:nvPr/>
        </p:nvSpPr>
        <p:spPr bwMode="auto">
          <a:xfrm>
            <a:off x="988415" y="2272590"/>
            <a:ext cx="1790700" cy="1927622"/>
          </a:xfrm>
          <a:prstGeom prst="line">
            <a:avLst/>
          </a:prstGeom>
          <a:noFill/>
          <a:ln w="57150">
            <a:solidFill>
              <a:srgbClr val="FF0000"/>
            </a:solidFill>
            <a:round/>
            <a:headEnd/>
            <a:tailEnd/>
          </a:ln>
          <a:effectLst/>
        </p:spPr>
        <p:txBody>
          <a:bodyPr/>
          <a:lstStyle/>
          <a:p>
            <a:endParaRPr lang="en-CA"/>
          </a:p>
        </p:txBody>
      </p:sp>
      <p:sp>
        <p:nvSpPr>
          <p:cNvPr id="42" name="Title 41"/>
          <p:cNvSpPr>
            <a:spLocks noGrp="1"/>
          </p:cNvSpPr>
          <p:nvPr>
            <p:ph type="title"/>
          </p:nvPr>
        </p:nvSpPr>
        <p:spPr>
          <a:xfrm>
            <a:off x="179512" y="267494"/>
            <a:ext cx="8507288" cy="685800"/>
          </a:xfrm>
        </p:spPr>
        <p:txBody>
          <a:bodyPr/>
          <a:lstStyle/>
          <a:p>
            <a:r>
              <a:rPr lang="en-CA" dirty="0"/>
              <a:t>Extreme case: Jerk kid with LASER*</a:t>
            </a:r>
          </a:p>
        </p:txBody>
      </p:sp>
      <p:sp>
        <p:nvSpPr>
          <p:cNvPr id="276484" name="AutoShape 4"/>
          <p:cNvSpPr>
            <a:spLocks noChangeArrowheads="1"/>
          </p:cNvSpPr>
          <p:nvPr/>
        </p:nvSpPr>
        <p:spPr bwMode="auto">
          <a:xfrm>
            <a:off x="8534400" y="473199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22" name="Line 9"/>
          <p:cNvSpPr>
            <a:spLocks noChangeShapeType="1"/>
          </p:cNvSpPr>
          <p:nvPr/>
        </p:nvSpPr>
        <p:spPr bwMode="auto">
          <a:xfrm rot="1140882">
            <a:off x="750653" y="2640492"/>
            <a:ext cx="2298678" cy="1276518"/>
          </a:xfrm>
          <a:prstGeom prst="line">
            <a:avLst/>
          </a:prstGeom>
          <a:noFill/>
          <a:ln w="127000">
            <a:solidFill>
              <a:srgbClr val="FFFF00"/>
            </a:solidFill>
            <a:round/>
            <a:headEnd/>
            <a:tailEnd type="stealth" w="lg" len="lg"/>
          </a:ln>
          <a:effectLst/>
        </p:spPr>
        <p:txBody>
          <a:bodyPr/>
          <a:lstStyle/>
          <a:p>
            <a:endParaRPr lang="en-CA"/>
          </a:p>
        </p:txBody>
      </p:sp>
      <p:sp>
        <p:nvSpPr>
          <p:cNvPr id="27" name="Rectangle 19"/>
          <p:cNvSpPr>
            <a:spLocks noChangeArrowheads="1"/>
          </p:cNvSpPr>
          <p:nvPr/>
        </p:nvSpPr>
        <p:spPr bwMode="auto">
          <a:xfrm>
            <a:off x="943966" y="4208546"/>
            <a:ext cx="3659187" cy="208359"/>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28" name="Arc 23"/>
          <p:cNvSpPr>
            <a:spLocks/>
          </p:cNvSpPr>
          <p:nvPr/>
        </p:nvSpPr>
        <p:spPr bwMode="auto">
          <a:xfrm flipH="1">
            <a:off x="1728190" y="2805990"/>
            <a:ext cx="1042987" cy="1343025"/>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34" name="Line 25"/>
          <p:cNvSpPr>
            <a:spLocks noChangeShapeType="1"/>
          </p:cNvSpPr>
          <p:nvPr/>
        </p:nvSpPr>
        <p:spPr bwMode="auto">
          <a:xfrm rot="3941466">
            <a:off x="1594162" y="2528975"/>
            <a:ext cx="2326472" cy="971864"/>
          </a:xfrm>
          <a:prstGeom prst="line">
            <a:avLst/>
          </a:prstGeom>
          <a:noFill/>
          <a:ln w="57150">
            <a:solidFill>
              <a:srgbClr val="FF0000"/>
            </a:solidFill>
            <a:round/>
            <a:headEnd/>
            <a:tailEnd/>
          </a:ln>
          <a:effectLst/>
        </p:spPr>
        <p:txBody>
          <a:bodyPr/>
          <a:lstStyle/>
          <a:p>
            <a:endParaRPr lang="en-CA"/>
          </a:p>
        </p:txBody>
      </p:sp>
      <p:sp>
        <p:nvSpPr>
          <p:cNvPr id="44" name="TextBox 43"/>
          <p:cNvSpPr txBox="1"/>
          <p:nvPr/>
        </p:nvSpPr>
        <p:spPr>
          <a:xfrm>
            <a:off x="4427984" y="4774168"/>
            <a:ext cx="4032448" cy="369332"/>
          </a:xfrm>
          <a:prstGeom prst="rect">
            <a:avLst/>
          </a:prstGeom>
          <a:noFill/>
        </p:spPr>
        <p:txBody>
          <a:bodyPr wrap="square" rtlCol="0">
            <a:spAutoFit/>
          </a:bodyPr>
          <a:lstStyle/>
          <a:p>
            <a:r>
              <a:rPr lang="en-CA" dirty="0"/>
              <a:t>*also: LASER is an </a:t>
            </a:r>
            <a:r>
              <a:rPr lang="en-CA" b="1" i="1" u="sng" dirty="0"/>
              <a:t>acronym</a:t>
            </a:r>
            <a:r>
              <a:rPr lang="en-CA" dirty="0"/>
              <a:t>, people!</a:t>
            </a:r>
          </a:p>
        </p:txBody>
      </p:sp>
      <p:sp>
        <p:nvSpPr>
          <p:cNvPr id="47" name="Rectangle 46"/>
          <p:cNvSpPr/>
          <p:nvPr/>
        </p:nvSpPr>
        <p:spPr>
          <a:xfrm rot="2700000">
            <a:off x="118579" y="1698389"/>
            <a:ext cx="967430" cy="432048"/>
          </a:xfrm>
          <a:prstGeom prst="rect">
            <a:avLst/>
          </a:prstGeom>
          <a:gradFill flip="none" rotWithShape="1">
            <a:gsLst>
              <a:gs pos="0">
                <a:srgbClr val="000000"/>
              </a:gs>
              <a:gs pos="39999">
                <a:srgbClr val="0A128C"/>
              </a:gs>
              <a:gs pos="70000">
                <a:srgbClr val="181CC7"/>
              </a:gs>
              <a:gs pos="88000">
                <a:srgbClr val="7005D4"/>
              </a:gs>
              <a:gs pos="100000">
                <a:srgbClr val="8C3D91"/>
              </a:gs>
            </a:gsLst>
            <a:lin ang="0" scaled="0"/>
            <a:tileRect/>
          </a:gra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3494" name="Picture 6" descr="http://image.shutterstock.com/display_pic_with_logo/697483/126431345/stock-vector-vector-illustration-of-human-eye-in-vintage-engraved-style-isolated-grouped-transparent-background-126431345.jpg"/>
          <p:cNvPicPr>
            <a:picLocks noChangeAspect="1" noChangeArrowheads="1"/>
          </p:cNvPicPr>
          <p:nvPr/>
        </p:nvPicPr>
        <p:blipFill>
          <a:blip r:embed="rId3" cstate="print"/>
          <a:srcRect b="7566"/>
          <a:stretch>
            <a:fillRect/>
          </a:stretch>
        </p:blipFill>
        <p:spPr bwMode="auto">
          <a:xfrm>
            <a:off x="4193058" y="1204738"/>
            <a:ext cx="1656184" cy="1296144"/>
          </a:xfrm>
          <a:prstGeom prst="rect">
            <a:avLst/>
          </a:prstGeom>
          <a:noFill/>
        </p:spPr>
      </p:pic>
      <p:sp>
        <p:nvSpPr>
          <p:cNvPr id="35" name="Line 32"/>
          <p:cNvSpPr>
            <a:spLocks noChangeShapeType="1"/>
          </p:cNvSpPr>
          <p:nvPr/>
        </p:nvSpPr>
        <p:spPr bwMode="auto">
          <a:xfrm rot="20459117" flipH="1">
            <a:off x="2438922" y="2488201"/>
            <a:ext cx="2489377" cy="1382987"/>
          </a:xfrm>
          <a:prstGeom prst="line">
            <a:avLst/>
          </a:prstGeom>
          <a:noFill/>
          <a:ln w="127000">
            <a:solidFill>
              <a:srgbClr val="FFFF00"/>
            </a:solidFill>
            <a:round/>
            <a:headEnd type="stealth"/>
            <a:tailEnd type="none" w="lg" len="lg"/>
          </a:ln>
          <a:effectLst/>
        </p:spPr>
        <p:txBody>
          <a:bodyPr/>
          <a:lstStyle/>
          <a:p>
            <a:endParaRPr lang="en-CA"/>
          </a:p>
        </p:txBody>
      </p:sp>
      <p:sp>
        <p:nvSpPr>
          <p:cNvPr id="48" name="Rounded Rectangular Callout 47"/>
          <p:cNvSpPr/>
          <p:nvPr/>
        </p:nvSpPr>
        <p:spPr>
          <a:xfrm>
            <a:off x="6084168" y="1131590"/>
            <a:ext cx="1944216" cy="1008112"/>
          </a:xfrm>
          <a:prstGeom prst="wedgeRoundRectCallout">
            <a:avLst>
              <a:gd name="adj1" fmla="val -74262"/>
              <a:gd name="adj2" fmla="val 23316"/>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solidFill>
                  <a:schemeClr val="bg1"/>
                </a:solidFill>
              </a:rPr>
              <a:t>Ouch! Stupid little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2755303" y="2265446"/>
            <a:ext cx="1874838" cy="2115741"/>
            <a:chOff x="2856" y="2347"/>
            <a:chExt cx="1181" cy="1777"/>
          </a:xfrm>
        </p:grpSpPr>
        <p:sp>
          <p:nvSpPr>
            <p:cNvPr id="37" name="Arc 37"/>
            <p:cNvSpPr>
              <a:spLocks/>
            </p:cNvSpPr>
            <p:nvPr/>
          </p:nvSpPr>
          <p:spPr bwMode="auto">
            <a:xfrm>
              <a:off x="2881" y="2801"/>
              <a:ext cx="657" cy="1128"/>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7030A0"/>
              </a:solidFill>
              <a:round/>
              <a:headEnd/>
              <a:tailEnd/>
            </a:ln>
            <a:effectLst/>
          </p:spPr>
          <p:txBody>
            <a:bodyPr/>
            <a:lstStyle/>
            <a:p>
              <a:endParaRPr lang="en-CA"/>
            </a:p>
          </p:txBody>
        </p:sp>
        <p:sp>
          <p:nvSpPr>
            <p:cNvPr id="38" name="Line 38"/>
            <p:cNvSpPr>
              <a:spLocks noChangeShapeType="1"/>
            </p:cNvSpPr>
            <p:nvPr/>
          </p:nvSpPr>
          <p:spPr bwMode="auto">
            <a:xfrm flipH="1">
              <a:off x="2856" y="2347"/>
              <a:ext cx="1128" cy="1619"/>
            </a:xfrm>
            <a:prstGeom prst="line">
              <a:avLst/>
            </a:prstGeom>
            <a:noFill/>
            <a:ln w="57150">
              <a:solidFill>
                <a:srgbClr val="7030A0"/>
              </a:solidFill>
              <a:round/>
              <a:headEnd/>
              <a:tailEnd/>
            </a:ln>
            <a:effectLst/>
          </p:spPr>
          <p:txBody>
            <a:bodyPr/>
            <a:lstStyle/>
            <a:p>
              <a:endParaRPr lang="en-CA"/>
            </a:p>
          </p:txBody>
        </p:sp>
        <p:sp>
          <p:nvSpPr>
            <p:cNvPr id="40" name="Arc 37"/>
            <p:cNvSpPr>
              <a:spLocks/>
            </p:cNvSpPr>
            <p:nvPr/>
          </p:nvSpPr>
          <p:spPr bwMode="auto">
            <a:xfrm rot="2422418">
              <a:off x="3380" y="2996"/>
              <a:ext cx="657" cy="1128"/>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7030A0"/>
              </a:solidFill>
              <a:round/>
              <a:headEnd/>
              <a:tailEnd/>
            </a:ln>
            <a:effectLst/>
          </p:spPr>
          <p:txBody>
            <a:bodyPr/>
            <a:lstStyle/>
            <a:p>
              <a:endParaRPr lang="en-CA"/>
            </a:p>
          </p:txBody>
        </p:sp>
      </p:grpSp>
      <p:sp>
        <p:nvSpPr>
          <p:cNvPr id="29" name="Line 24"/>
          <p:cNvSpPr>
            <a:spLocks noChangeShapeType="1"/>
          </p:cNvSpPr>
          <p:nvPr/>
        </p:nvSpPr>
        <p:spPr bwMode="auto">
          <a:xfrm>
            <a:off x="988415" y="2272590"/>
            <a:ext cx="1790700" cy="1927622"/>
          </a:xfrm>
          <a:prstGeom prst="line">
            <a:avLst/>
          </a:prstGeom>
          <a:noFill/>
          <a:ln w="57150">
            <a:solidFill>
              <a:srgbClr val="FF0000"/>
            </a:solidFill>
            <a:round/>
            <a:headEnd/>
            <a:tailEnd/>
          </a:ln>
          <a:effectLst/>
        </p:spPr>
        <p:txBody>
          <a:bodyPr/>
          <a:lstStyle/>
          <a:p>
            <a:endParaRPr lang="en-CA"/>
          </a:p>
        </p:txBody>
      </p:sp>
      <p:sp>
        <p:nvSpPr>
          <p:cNvPr id="42" name="Title 41"/>
          <p:cNvSpPr>
            <a:spLocks noGrp="1"/>
          </p:cNvSpPr>
          <p:nvPr>
            <p:ph type="title"/>
          </p:nvPr>
        </p:nvSpPr>
        <p:spPr>
          <a:xfrm>
            <a:off x="179512" y="267494"/>
            <a:ext cx="8507288" cy="685800"/>
          </a:xfrm>
        </p:spPr>
        <p:txBody>
          <a:bodyPr/>
          <a:lstStyle/>
          <a:p>
            <a:r>
              <a:rPr lang="en-CA" dirty="0"/>
              <a:t>Extreme case: Jerk kid with LASER*</a:t>
            </a:r>
          </a:p>
        </p:txBody>
      </p:sp>
      <p:sp>
        <p:nvSpPr>
          <p:cNvPr id="276484" name="AutoShape 4"/>
          <p:cNvSpPr>
            <a:spLocks noChangeArrowheads="1"/>
          </p:cNvSpPr>
          <p:nvPr/>
        </p:nvSpPr>
        <p:spPr bwMode="auto">
          <a:xfrm>
            <a:off x="8534400" y="473199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22" name="Line 9"/>
          <p:cNvSpPr>
            <a:spLocks noChangeShapeType="1"/>
          </p:cNvSpPr>
          <p:nvPr/>
        </p:nvSpPr>
        <p:spPr bwMode="auto">
          <a:xfrm rot="1140882">
            <a:off x="750653" y="2640492"/>
            <a:ext cx="2298678" cy="1276518"/>
          </a:xfrm>
          <a:prstGeom prst="line">
            <a:avLst/>
          </a:prstGeom>
          <a:noFill/>
          <a:ln w="127000">
            <a:solidFill>
              <a:srgbClr val="FFFF00"/>
            </a:solidFill>
            <a:round/>
            <a:headEnd/>
            <a:tailEnd type="stealth" w="lg" len="lg"/>
          </a:ln>
          <a:effectLst/>
        </p:spPr>
        <p:txBody>
          <a:bodyPr/>
          <a:lstStyle/>
          <a:p>
            <a:endParaRPr lang="en-CA"/>
          </a:p>
        </p:txBody>
      </p:sp>
      <p:sp>
        <p:nvSpPr>
          <p:cNvPr id="27" name="Rectangle 19"/>
          <p:cNvSpPr>
            <a:spLocks noChangeArrowheads="1"/>
          </p:cNvSpPr>
          <p:nvPr/>
        </p:nvSpPr>
        <p:spPr bwMode="auto">
          <a:xfrm>
            <a:off x="943966" y="4208546"/>
            <a:ext cx="3659187" cy="208359"/>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28" name="Arc 23"/>
          <p:cNvSpPr>
            <a:spLocks/>
          </p:cNvSpPr>
          <p:nvPr/>
        </p:nvSpPr>
        <p:spPr bwMode="auto">
          <a:xfrm flipH="1">
            <a:off x="1728190" y="2805990"/>
            <a:ext cx="1042987" cy="1343025"/>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34" name="Line 25"/>
          <p:cNvSpPr>
            <a:spLocks noChangeShapeType="1"/>
          </p:cNvSpPr>
          <p:nvPr/>
        </p:nvSpPr>
        <p:spPr bwMode="auto">
          <a:xfrm rot="3941466">
            <a:off x="1594162" y="2528975"/>
            <a:ext cx="2326472" cy="971864"/>
          </a:xfrm>
          <a:prstGeom prst="line">
            <a:avLst/>
          </a:prstGeom>
          <a:noFill/>
          <a:ln w="57150">
            <a:solidFill>
              <a:srgbClr val="FF0000"/>
            </a:solidFill>
            <a:round/>
            <a:headEnd/>
            <a:tailEnd/>
          </a:ln>
          <a:effectLst/>
        </p:spPr>
        <p:txBody>
          <a:bodyPr/>
          <a:lstStyle/>
          <a:p>
            <a:endParaRPr lang="en-CA"/>
          </a:p>
        </p:txBody>
      </p:sp>
      <p:sp>
        <p:nvSpPr>
          <p:cNvPr id="44" name="TextBox 43"/>
          <p:cNvSpPr txBox="1"/>
          <p:nvPr/>
        </p:nvSpPr>
        <p:spPr>
          <a:xfrm>
            <a:off x="4427984" y="4774168"/>
            <a:ext cx="4032448" cy="369332"/>
          </a:xfrm>
          <a:prstGeom prst="rect">
            <a:avLst/>
          </a:prstGeom>
          <a:noFill/>
        </p:spPr>
        <p:txBody>
          <a:bodyPr wrap="square" rtlCol="0">
            <a:spAutoFit/>
          </a:bodyPr>
          <a:lstStyle/>
          <a:p>
            <a:r>
              <a:rPr lang="en-CA" dirty="0"/>
              <a:t>*also: LASER is an </a:t>
            </a:r>
            <a:r>
              <a:rPr lang="en-CA" b="1" i="1" u="sng" dirty="0"/>
              <a:t>acronym</a:t>
            </a:r>
            <a:r>
              <a:rPr lang="en-CA" dirty="0"/>
              <a:t>, people!</a:t>
            </a:r>
          </a:p>
        </p:txBody>
      </p:sp>
      <p:sp>
        <p:nvSpPr>
          <p:cNvPr id="47" name="Rectangle 46"/>
          <p:cNvSpPr/>
          <p:nvPr/>
        </p:nvSpPr>
        <p:spPr>
          <a:xfrm rot="2700000">
            <a:off x="118580" y="1698388"/>
            <a:ext cx="967430" cy="432048"/>
          </a:xfrm>
          <a:prstGeom prst="rect">
            <a:avLst/>
          </a:prstGeom>
          <a:gradFill flip="none" rotWithShape="1">
            <a:gsLst>
              <a:gs pos="0">
                <a:srgbClr val="000000"/>
              </a:gs>
              <a:gs pos="39999">
                <a:srgbClr val="0A128C"/>
              </a:gs>
              <a:gs pos="70000">
                <a:srgbClr val="181CC7"/>
              </a:gs>
              <a:gs pos="88000">
                <a:srgbClr val="7005D4"/>
              </a:gs>
              <a:gs pos="100000">
                <a:srgbClr val="8C3D91"/>
              </a:gs>
            </a:gsLst>
            <a:lin ang="0" scaled="0"/>
            <a:tileRect/>
          </a:gra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3494" name="Picture 6" descr="http://image.shutterstock.com/display_pic_with_logo/697483/126431345/stock-vector-vector-illustration-of-human-eye-in-vintage-engraved-style-isolated-grouped-transparent-background-126431345.jpg"/>
          <p:cNvPicPr>
            <a:picLocks noChangeAspect="1" noChangeArrowheads="1"/>
          </p:cNvPicPr>
          <p:nvPr/>
        </p:nvPicPr>
        <p:blipFill>
          <a:blip r:embed="rId3" cstate="print"/>
          <a:srcRect b="7566"/>
          <a:stretch>
            <a:fillRect/>
          </a:stretch>
        </p:blipFill>
        <p:spPr bwMode="auto">
          <a:xfrm>
            <a:off x="5148064" y="2787774"/>
            <a:ext cx="1656184" cy="1296144"/>
          </a:xfrm>
          <a:prstGeom prst="rect">
            <a:avLst/>
          </a:prstGeom>
          <a:noFill/>
        </p:spPr>
      </p:pic>
      <p:sp>
        <p:nvSpPr>
          <p:cNvPr id="35" name="Line 32"/>
          <p:cNvSpPr>
            <a:spLocks noChangeShapeType="1"/>
          </p:cNvSpPr>
          <p:nvPr/>
        </p:nvSpPr>
        <p:spPr bwMode="auto">
          <a:xfrm rot="20459117" flipH="1">
            <a:off x="2442307" y="2508431"/>
            <a:ext cx="2491525" cy="1361828"/>
          </a:xfrm>
          <a:prstGeom prst="line">
            <a:avLst/>
          </a:prstGeom>
          <a:noFill/>
          <a:ln w="127000">
            <a:solidFill>
              <a:srgbClr val="FFFF00"/>
            </a:solidFill>
            <a:round/>
            <a:headEnd type="stealth"/>
            <a:tailEnd type="none" w="lg" len="lg"/>
          </a:ln>
          <a:effectLst/>
        </p:spPr>
        <p:txBody>
          <a:bodyPr/>
          <a:lstStyle/>
          <a:p>
            <a:endParaRPr lang="en-CA"/>
          </a:p>
        </p:txBody>
      </p:sp>
      <p:graphicFrame>
        <p:nvGraphicFramePr>
          <p:cNvPr id="17" name="Table 16"/>
          <p:cNvGraphicFramePr>
            <a:graphicFrameLocks noGrp="1"/>
          </p:cNvGraphicFramePr>
          <p:nvPr/>
        </p:nvGraphicFramePr>
        <p:xfrm>
          <a:off x="7164288" y="267494"/>
          <a:ext cx="1584176" cy="4457700"/>
        </p:xfrm>
        <a:graphic>
          <a:graphicData uri="http://schemas.openxmlformats.org/drawingml/2006/table">
            <a:tbl>
              <a:tblPr>
                <a:tableStyleId>{69C7853C-536D-4A76-A0AE-DD22124D55A5}</a:tableStyleId>
              </a:tblPr>
              <a:tblGrid>
                <a:gridCol w="792088">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190500">
                <a:tc>
                  <a:txBody>
                    <a:bodyPr/>
                    <a:lstStyle/>
                    <a:p>
                      <a:pPr algn="ctr" fontAlgn="b"/>
                      <a:r>
                        <a:rPr lang="en-CA" sz="1400" u="none" strike="noStrike" dirty="0"/>
                        <a:t>Angle</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a:t>Intensity</a:t>
                      </a:r>
                      <a:endParaRPr lang="en-CA" sz="1400" b="0" i="0" u="none" strike="noStrike">
                        <a:solidFill>
                          <a:srgbClr val="FFFFFF"/>
                        </a:solidFill>
                        <a:latin typeface="Calibri"/>
                      </a:endParaRPr>
                    </a:p>
                  </a:txBody>
                  <a:tcPr marL="9525" marR="9525" marT="9525" marB="0" anchor="b"/>
                </a:tc>
                <a:extLst>
                  <a:ext uri="{0D108BD9-81ED-4DB2-BD59-A6C34878D82A}">
                    <a16:rowId xmlns:a16="http://schemas.microsoft.com/office/drawing/2014/main" val="10000"/>
                  </a:ext>
                </a:extLst>
              </a:tr>
              <a:tr h="190500">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1"/>
                  </a:ext>
                </a:extLst>
              </a:tr>
              <a:tr h="190500">
                <a:tc>
                  <a:txBody>
                    <a:bodyPr/>
                    <a:lstStyle/>
                    <a:p>
                      <a:pPr algn="ctr" fontAlgn="b"/>
                      <a:r>
                        <a:rPr lang="en-CA" sz="1400" u="none" strike="noStrike"/>
                        <a:t>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2"/>
                  </a:ext>
                </a:extLst>
              </a:tr>
              <a:tr h="190500">
                <a:tc>
                  <a:txBody>
                    <a:bodyPr/>
                    <a:lstStyle/>
                    <a:p>
                      <a:pPr algn="ctr" fontAlgn="b"/>
                      <a:r>
                        <a:rPr lang="en-CA" sz="1400" u="none" strike="noStrike"/>
                        <a:t>10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3"/>
                  </a:ext>
                </a:extLst>
              </a:tr>
              <a:tr h="190500">
                <a:tc>
                  <a:txBody>
                    <a:bodyPr/>
                    <a:lstStyle/>
                    <a:p>
                      <a:pPr algn="ctr" fontAlgn="b"/>
                      <a:r>
                        <a:rPr lang="en-CA" sz="1400" u="none" strike="noStrike"/>
                        <a:t>15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4"/>
                  </a:ext>
                </a:extLst>
              </a:tr>
              <a:tr h="190500">
                <a:tc>
                  <a:txBody>
                    <a:bodyPr/>
                    <a:lstStyle/>
                    <a:p>
                      <a:pPr algn="ctr" fontAlgn="b"/>
                      <a:r>
                        <a:rPr lang="en-CA" sz="1400" u="none" strike="noStrike"/>
                        <a:t>20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5"/>
                  </a:ext>
                </a:extLst>
              </a:tr>
              <a:tr h="190500">
                <a:tc>
                  <a:txBody>
                    <a:bodyPr/>
                    <a:lstStyle/>
                    <a:p>
                      <a:pPr algn="ctr" fontAlgn="b"/>
                      <a:r>
                        <a:rPr lang="en-CA" sz="1400" u="none" strike="noStrike"/>
                        <a:t>25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6"/>
                  </a:ext>
                </a:extLst>
              </a:tr>
              <a:tr h="190500">
                <a:tc>
                  <a:txBody>
                    <a:bodyPr/>
                    <a:lstStyle/>
                    <a:p>
                      <a:pPr algn="ctr" fontAlgn="b"/>
                      <a:r>
                        <a:rPr lang="en-CA" sz="1400" u="none" strike="noStrike"/>
                        <a:t>30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7"/>
                  </a:ext>
                </a:extLst>
              </a:tr>
              <a:tr h="190500">
                <a:tc>
                  <a:txBody>
                    <a:bodyPr/>
                    <a:lstStyle/>
                    <a:p>
                      <a:pPr algn="ctr" fontAlgn="b"/>
                      <a:r>
                        <a:rPr lang="en-CA" sz="1400" u="none" strike="noStrike" dirty="0"/>
                        <a:t>35</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8"/>
                  </a:ext>
                </a:extLst>
              </a:tr>
              <a:tr h="190500">
                <a:tc>
                  <a:txBody>
                    <a:bodyPr/>
                    <a:lstStyle/>
                    <a:p>
                      <a:pPr algn="ctr" fontAlgn="b"/>
                      <a:r>
                        <a:rPr lang="en-CA" sz="1400" u="none" strike="noStrike"/>
                        <a:t>40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10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9"/>
                  </a:ext>
                </a:extLst>
              </a:tr>
              <a:tr h="190500">
                <a:tc>
                  <a:txBody>
                    <a:bodyPr/>
                    <a:lstStyle/>
                    <a:p>
                      <a:pPr algn="ctr" fontAlgn="b"/>
                      <a:r>
                        <a:rPr lang="en-CA" sz="1400" u="none" strike="noStrike"/>
                        <a:t>45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100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0"/>
                  </a:ext>
                </a:extLst>
              </a:tr>
              <a:tr h="190500">
                <a:tc>
                  <a:txBody>
                    <a:bodyPr/>
                    <a:lstStyle/>
                    <a:p>
                      <a:pPr algn="ctr" fontAlgn="b"/>
                      <a:r>
                        <a:rPr lang="en-CA" sz="1400" u="none" strike="noStrike"/>
                        <a:t>50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10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1"/>
                  </a:ext>
                </a:extLst>
              </a:tr>
              <a:tr h="190500">
                <a:tc>
                  <a:txBody>
                    <a:bodyPr/>
                    <a:lstStyle/>
                    <a:p>
                      <a:pPr algn="ctr" fontAlgn="b"/>
                      <a:r>
                        <a:rPr lang="en-CA" sz="1400" u="none" strike="noStrike"/>
                        <a:t>55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2"/>
                  </a:ext>
                </a:extLst>
              </a:tr>
              <a:tr h="190500">
                <a:tc>
                  <a:txBody>
                    <a:bodyPr/>
                    <a:lstStyle/>
                    <a:p>
                      <a:pPr algn="ctr" fontAlgn="b"/>
                      <a:r>
                        <a:rPr lang="en-CA" sz="1400" u="none" strike="noStrike"/>
                        <a:t>60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3"/>
                  </a:ext>
                </a:extLst>
              </a:tr>
              <a:tr h="190500">
                <a:tc>
                  <a:txBody>
                    <a:bodyPr/>
                    <a:lstStyle/>
                    <a:p>
                      <a:pPr algn="ctr" fontAlgn="b"/>
                      <a:r>
                        <a:rPr lang="en-CA" sz="1400" u="none" strike="noStrike"/>
                        <a:t>65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9525" marR="9525" marT="9525" marB="0" anchor="b"/>
                </a:tc>
                <a:extLst>
                  <a:ext uri="{0D108BD9-81ED-4DB2-BD59-A6C34878D82A}">
                    <a16:rowId xmlns:a16="http://schemas.microsoft.com/office/drawing/2014/main" val="10014"/>
                  </a:ext>
                </a:extLst>
              </a:tr>
              <a:tr h="190500">
                <a:tc>
                  <a:txBody>
                    <a:bodyPr/>
                    <a:lstStyle/>
                    <a:p>
                      <a:pPr algn="ctr" fontAlgn="b"/>
                      <a:r>
                        <a:rPr lang="en-CA" sz="1400" u="none" strike="noStrike"/>
                        <a:t>70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5"/>
                  </a:ext>
                </a:extLst>
              </a:tr>
              <a:tr h="190500">
                <a:tc>
                  <a:txBody>
                    <a:bodyPr/>
                    <a:lstStyle/>
                    <a:p>
                      <a:pPr algn="ctr" fontAlgn="b"/>
                      <a:r>
                        <a:rPr lang="en-CA" sz="1400" u="none" strike="noStrike"/>
                        <a:t>75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6"/>
                  </a:ext>
                </a:extLst>
              </a:tr>
              <a:tr h="190500">
                <a:tc>
                  <a:txBody>
                    <a:bodyPr/>
                    <a:lstStyle/>
                    <a:p>
                      <a:pPr algn="ctr" fontAlgn="b"/>
                      <a:r>
                        <a:rPr lang="en-CA" sz="1400" u="none" strike="noStrike"/>
                        <a:t>80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7"/>
                  </a:ext>
                </a:extLst>
              </a:tr>
              <a:tr h="190500">
                <a:tc>
                  <a:txBody>
                    <a:bodyPr/>
                    <a:lstStyle/>
                    <a:p>
                      <a:pPr algn="ctr" fontAlgn="b"/>
                      <a:r>
                        <a:rPr lang="en-CA" sz="1400" u="none" strike="noStrike"/>
                        <a:t>85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8"/>
                  </a:ext>
                </a:extLst>
              </a:tr>
              <a:tr h="190500">
                <a:tc>
                  <a:txBody>
                    <a:bodyPr/>
                    <a:lstStyle/>
                    <a:p>
                      <a:pPr algn="ctr" fontAlgn="b"/>
                      <a:r>
                        <a:rPr lang="en-CA" sz="1400" u="none" strike="noStrike"/>
                        <a:t>90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9"/>
                  </a:ext>
                </a:extLst>
              </a:tr>
            </a:tbl>
          </a:graphicData>
        </a:graphic>
      </p:graphicFrame>
      <p:sp>
        <p:nvSpPr>
          <p:cNvPr id="18" name="Rounded Rectangle 17"/>
          <p:cNvSpPr/>
          <p:nvPr/>
        </p:nvSpPr>
        <p:spPr>
          <a:xfrm>
            <a:off x="7020272" y="2211710"/>
            <a:ext cx="1872208" cy="792088"/>
          </a:xfrm>
          <a:prstGeom prst="roundRect">
            <a:avLst/>
          </a:prstGeom>
          <a:noFill/>
          <a:ln w="857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p:cNvSpPr/>
          <p:nvPr/>
        </p:nvSpPr>
        <p:spPr>
          <a:xfrm>
            <a:off x="2555776" y="4083918"/>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utoRev="1" fill="hold" grpId="0" nodeType="clickEffect">
                                  <p:stCondLst>
                                    <p:cond delay="0"/>
                                  </p:stCondLst>
                                  <p:childTnLst>
                                    <p:animScale>
                                      <p:cBhvr>
                                        <p:cTn id="6" dur="500" fill="hold"/>
                                        <p:tgtEl>
                                          <p:spTgt spid="1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41"/>
          <p:cNvSpPr>
            <a:spLocks noGrp="1"/>
          </p:cNvSpPr>
          <p:nvPr>
            <p:ph type="title"/>
          </p:nvPr>
        </p:nvSpPr>
        <p:spPr>
          <a:xfrm>
            <a:off x="179512" y="267494"/>
            <a:ext cx="8507288" cy="685800"/>
          </a:xfrm>
        </p:spPr>
        <p:txBody>
          <a:bodyPr/>
          <a:lstStyle/>
          <a:p>
            <a:r>
              <a:rPr lang="en-CA" dirty="0"/>
              <a:t>Extreme case: Jerk kid with LASER</a:t>
            </a:r>
          </a:p>
        </p:txBody>
      </p:sp>
      <p:sp>
        <p:nvSpPr>
          <p:cNvPr id="276484" name="AutoShape 4"/>
          <p:cNvSpPr>
            <a:spLocks noChangeArrowheads="1"/>
          </p:cNvSpPr>
          <p:nvPr/>
        </p:nvSpPr>
        <p:spPr bwMode="auto">
          <a:xfrm>
            <a:off x="8534400" y="473199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aphicFrame>
        <p:nvGraphicFramePr>
          <p:cNvPr id="17" name="Table 16"/>
          <p:cNvGraphicFramePr>
            <a:graphicFrameLocks noGrp="1"/>
          </p:cNvGraphicFramePr>
          <p:nvPr/>
        </p:nvGraphicFramePr>
        <p:xfrm>
          <a:off x="7164288" y="267494"/>
          <a:ext cx="1584176" cy="4457700"/>
        </p:xfrm>
        <a:graphic>
          <a:graphicData uri="http://schemas.openxmlformats.org/drawingml/2006/table">
            <a:tbl>
              <a:tblPr>
                <a:tableStyleId>{69C7853C-536D-4A76-A0AE-DD22124D55A5}</a:tableStyleId>
              </a:tblPr>
              <a:tblGrid>
                <a:gridCol w="792088">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190500">
                <a:tc>
                  <a:txBody>
                    <a:bodyPr/>
                    <a:lstStyle/>
                    <a:p>
                      <a:pPr algn="ctr" fontAlgn="b"/>
                      <a:r>
                        <a:rPr lang="en-CA" sz="1400" u="none" strike="noStrike" dirty="0"/>
                        <a:t>Angle</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a:t>Intensity</a:t>
                      </a:r>
                      <a:endParaRPr lang="en-CA" sz="1400" b="0" i="0" u="none" strike="noStrike">
                        <a:solidFill>
                          <a:srgbClr val="FFFFFF"/>
                        </a:solidFill>
                        <a:latin typeface="Calibri"/>
                      </a:endParaRPr>
                    </a:p>
                  </a:txBody>
                  <a:tcPr marL="9525" marR="9525" marT="9525" marB="0" anchor="b"/>
                </a:tc>
                <a:extLst>
                  <a:ext uri="{0D108BD9-81ED-4DB2-BD59-A6C34878D82A}">
                    <a16:rowId xmlns:a16="http://schemas.microsoft.com/office/drawing/2014/main" val="10000"/>
                  </a:ext>
                </a:extLst>
              </a:tr>
              <a:tr h="190500">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1"/>
                  </a:ext>
                </a:extLst>
              </a:tr>
              <a:tr h="190500">
                <a:tc>
                  <a:txBody>
                    <a:bodyPr/>
                    <a:lstStyle/>
                    <a:p>
                      <a:pPr algn="ctr" fontAlgn="b"/>
                      <a:r>
                        <a:rPr lang="en-CA" sz="1400" u="none" strike="noStrike"/>
                        <a:t>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2"/>
                  </a:ext>
                </a:extLst>
              </a:tr>
              <a:tr h="190500">
                <a:tc>
                  <a:txBody>
                    <a:bodyPr/>
                    <a:lstStyle/>
                    <a:p>
                      <a:pPr algn="ctr" fontAlgn="b"/>
                      <a:r>
                        <a:rPr lang="en-CA" sz="1400" u="none" strike="noStrike" dirty="0"/>
                        <a:t>10</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3"/>
                  </a:ext>
                </a:extLst>
              </a:tr>
              <a:tr h="190500">
                <a:tc>
                  <a:txBody>
                    <a:bodyPr/>
                    <a:lstStyle/>
                    <a:p>
                      <a:pPr algn="ctr" fontAlgn="b"/>
                      <a:r>
                        <a:rPr lang="en-CA" sz="1400" u="none" strike="noStrike"/>
                        <a:t>15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4"/>
                  </a:ext>
                </a:extLst>
              </a:tr>
              <a:tr h="190500">
                <a:tc>
                  <a:txBody>
                    <a:bodyPr/>
                    <a:lstStyle/>
                    <a:p>
                      <a:pPr algn="ctr" fontAlgn="b"/>
                      <a:r>
                        <a:rPr lang="en-CA" sz="1400" u="none" strike="noStrike"/>
                        <a:t>20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5"/>
                  </a:ext>
                </a:extLst>
              </a:tr>
              <a:tr h="190500">
                <a:tc>
                  <a:txBody>
                    <a:bodyPr/>
                    <a:lstStyle/>
                    <a:p>
                      <a:pPr algn="ctr" fontAlgn="b"/>
                      <a:r>
                        <a:rPr lang="en-CA" sz="1400" u="none" strike="noStrike"/>
                        <a:t>25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6"/>
                  </a:ext>
                </a:extLst>
              </a:tr>
              <a:tr h="190500">
                <a:tc>
                  <a:txBody>
                    <a:bodyPr/>
                    <a:lstStyle/>
                    <a:p>
                      <a:pPr algn="ctr" fontAlgn="b"/>
                      <a:r>
                        <a:rPr lang="en-CA" sz="1400" u="none" strike="noStrike"/>
                        <a:t>30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7"/>
                  </a:ext>
                </a:extLst>
              </a:tr>
              <a:tr h="190500">
                <a:tc>
                  <a:txBody>
                    <a:bodyPr/>
                    <a:lstStyle/>
                    <a:p>
                      <a:pPr algn="ctr" fontAlgn="b"/>
                      <a:r>
                        <a:rPr lang="en-CA" sz="1400" u="none" strike="noStrike" dirty="0"/>
                        <a:t>35</a:t>
                      </a:r>
                      <a:endParaRPr lang="en-CA" sz="1400" b="0" i="0" u="none" strike="noStrike" dirty="0">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8"/>
                  </a:ext>
                </a:extLst>
              </a:tr>
              <a:tr h="190500">
                <a:tc>
                  <a:txBody>
                    <a:bodyPr/>
                    <a:lstStyle/>
                    <a:p>
                      <a:pPr algn="ctr" fontAlgn="b"/>
                      <a:r>
                        <a:rPr lang="en-CA" sz="1400" u="none" strike="noStrike"/>
                        <a:t>40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10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09"/>
                  </a:ext>
                </a:extLst>
              </a:tr>
              <a:tr h="190500">
                <a:tc>
                  <a:txBody>
                    <a:bodyPr/>
                    <a:lstStyle/>
                    <a:p>
                      <a:pPr algn="ctr" fontAlgn="b"/>
                      <a:r>
                        <a:rPr lang="en-CA" sz="1400" u="none" strike="noStrike"/>
                        <a:t>45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100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0"/>
                  </a:ext>
                </a:extLst>
              </a:tr>
              <a:tr h="190500">
                <a:tc>
                  <a:txBody>
                    <a:bodyPr/>
                    <a:lstStyle/>
                    <a:p>
                      <a:pPr algn="ctr" fontAlgn="b"/>
                      <a:r>
                        <a:rPr lang="en-CA" sz="1400" u="none" strike="noStrike"/>
                        <a:t>50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10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1"/>
                  </a:ext>
                </a:extLst>
              </a:tr>
              <a:tr h="190500">
                <a:tc>
                  <a:txBody>
                    <a:bodyPr/>
                    <a:lstStyle/>
                    <a:p>
                      <a:pPr algn="ctr" fontAlgn="b"/>
                      <a:r>
                        <a:rPr lang="en-CA" sz="1400" u="none" strike="noStrike"/>
                        <a:t>55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2"/>
                  </a:ext>
                </a:extLst>
              </a:tr>
              <a:tr h="190500">
                <a:tc>
                  <a:txBody>
                    <a:bodyPr/>
                    <a:lstStyle/>
                    <a:p>
                      <a:pPr algn="ctr" fontAlgn="b"/>
                      <a:r>
                        <a:rPr lang="en-CA" sz="1400" u="none" strike="noStrike"/>
                        <a:t>60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3"/>
                  </a:ext>
                </a:extLst>
              </a:tr>
              <a:tr h="190500">
                <a:tc>
                  <a:txBody>
                    <a:bodyPr/>
                    <a:lstStyle/>
                    <a:p>
                      <a:pPr algn="ctr" fontAlgn="b"/>
                      <a:r>
                        <a:rPr lang="en-CA" sz="1400" u="none" strike="noStrike"/>
                        <a:t>65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9525" marR="9525" marT="9525" marB="0" anchor="b"/>
                </a:tc>
                <a:extLst>
                  <a:ext uri="{0D108BD9-81ED-4DB2-BD59-A6C34878D82A}">
                    <a16:rowId xmlns:a16="http://schemas.microsoft.com/office/drawing/2014/main" val="10014"/>
                  </a:ext>
                </a:extLst>
              </a:tr>
              <a:tr h="190500">
                <a:tc>
                  <a:txBody>
                    <a:bodyPr/>
                    <a:lstStyle/>
                    <a:p>
                      <a:pPr algn="ctr" fontAlgn="b"/>
                      <a:r>
                        <a:rPr lang="en-CA" sz="1400" u="none" strike="noStrike"/>
                        <a:t>70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5"/>
                  </a:ext>
                </a:extLst>
              </a:tr>
              <a:tr h="190500">
                <a:tc>
                  <a:txBody>
                    <a:bodyPr/>
                    <a:lstStyle/>
                    <a:p>
                      <a:pPr algn="ctr" fontAlgn="b"/>
                      <a:r>
                        <a:rPr lang="en-CA" sz="1400" u="none" strike="noStrike"/>
                        <a:t>75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6"/>
                  </a:ext>
                </a:extLst>
              </a:tr>
              <a:tr h="190500">
                <a:tc>
                  <a:txBody>
                    <a:bodyPr/>
                    <a:lstStyle/>
                    <a:p>
                      <a:pPr algn="ctr" fontAlgn="b"/>
                      <a:r>
                        <a:rPr lang="en-CA" sz="1400" u="none" strike="noStrike"/>
                        <a:t>80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7"/>
                  </a:ext>
                </a:extLst>
              </a:tr>
              <a:tr h="190500">
                <a:tc>
                  <a:txBody>
                    <a:bodyPr/>
                    <a:lstStyle/>
                    <a:p>
                      <a:pPr algn="ctr" fontAlgn="b"/>
                      <a:r>
                        <a:rPr lang="en-CA" sz="1400" u="none" strike="noStrike"/>
                        <a:t>85</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8"/>
                  </a:ext>
                </a:extLst>
              </a:tr>
              <a:tr h="190500">
                <a:tc>
                  <a:txBody>
                    <a:bodyPr/>
                    <a:lstStyle/>
                    <a:p>
                      <a:pPr algn="ctr" fontAlgn="b"/>
                      <a:r>
                        <a:rPr lang="en-CA" sz="1400" u="none" strike="noStrike"/>
                        <a:t>90</a:t>
                      </a:r>
                      <a:endParaRPr lang="en-CA" sz="1400" b="0" i="0" u="none" strike="noStrike">
                        <a:solidFill>
                          <a:srgbClr val="FFFFFF"/>
                        </a:solidFill>
                        <a:latin typeface="Calibri"/>
                      </a:endParaRPr>
                    </a:p>
                  </a:txBody>
                  <a:tcPr marL="9525" marR="9525" marT="9525"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9525" marR="9525" marT="9525" marB="0" anchor="b"/>
                </a:tc>
                <a:extLst>
                  <a:ext uri="{0D108BD9-81ED-4DB2-BD59-A6C34878D82A}">
                    <a16:rowId xmlns:a16="http://schemas.microsoft.com/office/drawing/2014/main" val="10019"/>
                  </a:ext>
                </a:extLst>
              </a:tr>
            </a:tbl>
          </a:graphicData>
        </a:graphic>
      </p:graphicFrame>
      <p:pic>
        <p:nvPicPr>
          <p:cNvPr id="6" name="Picture 2"/>
          <p:cNvPicPr>
            <a:picLocks noChangeAspect="1" noChangeArrowheads="1"/>
          </p:cNvPicPr>
          <p:nvPr/>
        </p:nvPicPr>
        <p:blipFill>
          <a:blip r:embed="rId3" cstate="print"/>
          <a:srcRect/>
          <a:stretch>
            <a:fillRect/>
          </a:stretch>
        </p:blipFill>
        <p:spPr bwMode="auto">
          <a:xfrm>
            <a:off x="395536" y="1131590"/>
            <a:ext cx="5895975" cy="3535363"/>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2755302" y="2265446"/>
            <a:ext cx="1790700" cy="1927622"/>
            <a:chOff x="2856" y="2347"/>
            <a:chExt cx="1128" cy="1619"/>
          </a:xfrm>
        </p:grpSpPr>
        <p:sp>
          <p:nvSpPr>
            <p:cNvPr id="37" name="Arc 37"/>
            <p:cNvSpPr>
              <a:spLocks/>
            </p:cNvSpPr>
            <p:nvPr/>
          </p:nvSpPr>
          <p:spPr bwMode="auto">
            <a:xfrm>
              <a:off x="2881" y="2801"/>
              <a:ext cx="657" cy="1128"/>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38" name="Line 38"/>
            <p:cNvSpPr>
              <a:spLocks noChangeShapeType="1"/>
            </p:cNvSpPr>
            <p:nvPr/>
          </p:nvSpPr>
          <p:spPr bwMode="auto">
            <a:xfrm flipH="1">
              <a:off x="2856" y="2347"/>
              <a:ext cx="1128" cy="1619"/>
            </a:xfrm>
            <a:prstGeom prst="line">
              <a:avLst/>
            </a:prstGeom>
            <a:noFill/>
            <a:ln w="57150">
              <a:solidFill>
                <a:srgbClr val="FF0000"/>
              </a:solidFill>
              <a:round/>
              <a:headEnd/>
              <a:tailEnd/>
            </a:ln>
            <a:effectLst/>
          </p:spPr>
          <p:txBody>
            <a:bodyPr/>
            <a:lstStyle/>
            <a:p>
              <a:endParaRPr lang="en-CA"/>
            </a:p>
          </p:txBody>
        </p:sp>
      </p:grpSp>
      <p:sp>
        <p:nvSpPr>
          <p:cNvPr id="29" name="Line 24"/>
          <p:cNvSpPr>
            <a:spLocks noChangeShapeType="1"/>
          </p:cNvSpPr>
          <p:nvPr/>
        </p:nvSpPr>
        <p:spPr bwMode="auto">
          <a:xfrm>
            <a:off x="988415" y="2272590"/>
            <a:ext cx="1790700" cy="1927622"/>
          </a:xfrm>
          <a:prstGeom prst="line">
            <a:avLst/>
          </a:prstGeom>
          <a:noFill/>
          <a:ln w="57150">
            <a:solidFill>
              <a:srgbClr val="FF0000"/>
            </a:solidFill>
            <a:round/>
            <a:headEnd/>
            <a:tailEnd/>
          </a:ln>
          <a:effectLst/>
        </p:spPr>
        <p:txBody>
          <a:bodyPr/>
          <a:lstStyle/>
          <a:p>
            <a:endParaRPr lang="en-CA"/>
          </a:p>
        </p:txBody>
      </p:sp>
      <p:sp>
        <p:nvSpPr>
          <p:cNvPr id="42" name="Title 41"/>
          <p:cNvSpPr>
            <a:spLocks noGrp="1"/>
          </p:cNvSpPr>
          <p:nvPr>
            <p:ph type="title"/>
          </p:nvPr>
        </p:nvSpPr>
        <p:spPr>
          <a:xfrm>
            <a:off x="179512" y="267494"/>
            <a:ext cx="8507288" cy="685800"/>
          </a:xfrm>
        </p:spPr>
        <p:txBody>
          <a:bodyPr/>
          <a:lstStyle/>
          <a:p>
            <a:r>
              <a:rPr lang="en-CA" sz="3200" dirty="0"/>
              <a:t>Now, instead of LASER, is flashlight...</a:t>
            </a:r>
          </a:p>
        </p:txBody>
      </p:sp>
      <p:sp>
        <p:nvSpPr>
          <p:cNvPr id="276484" name="AutoShape 4"/>
          <p:cNvSpPr>
            <a:spLocks noChangeArrowheads="1"/>
          </p:cNvSpPr>
          <p:nvPr/>
        </p:nvSpPr>
        <p:spPr bwMode="auto">
          <a:xfrm>
            <a:off x="8534400" y="473199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22" name="Line 9"/>
          <p:cNvSpPr>
            <a:spLocks noChangeShapeType="1"/>
          </p:cNvSpPr>
          <p:nvPr/>
        </p:nvSpPr>
        <p:spPr bwMode="auto">
          <a:xfrm rot="1140882">
            <a:off x="756798" y="2623359"/>
            <a:ext cx="2298678" cy="1276518"/>
          </a:xfrm>
          <a:prstGeom prst="line">
            <a:avLst/>
          </a:prstGeom>
          <a:noFill/>
          <a:ln w="127000">
            <a:solidFill>
              <a:srgbClr val="FFFF00"/>
            </a:solidFill>
            <a:round/>
            <a:headEnd/>
            <a:tailEnd type="stealth" w="lg" len="lg"/>
          </a:ln>
          <a:effectLst/>
        </p:spPr>
        <p:txBody>
          <a:bodyPr/>
          <a:lstStyle/>
          <a:p>
            <a:endParaRPr lang="en-CA"/>
          </a:p>
        </p:txBody>
      </p:sp>
      <p:sp>
        <p:nvSpPr>
          <p:cNvPr id="27" name="Rectangle 19"/>
          <p:cNvSpPr>
            <a:spLocks noChangeArrowheads="1"/>
          </p:cNvSpPr>
          <p:nvPr/>
        </p:nvSpPr>
        <p:spPr bwMode="auto">
          <a:xfrm>
            <a:off x="943966" y="4208546"/>
            <a:ext cx="3659187" cy="208359"/>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28" name="Arc 23"/>
          <p:cNvSpPr>
            <a:spLocks/>
          </p:cNvSpPr>
          <p:nvPr/>
        </p:nvSpPr>
        <p:spPr bwMode="auto">
          <a:xfrm flipH="1">
            <a:off x="1728190" y="2805990"/>
            <a:ext cx="1042987" cy="1343025"/>
          </a:xfrm>
          <a:custGeom>
            <a:avLst/>
            <a:gdLst>
              <a:gd name="G0" fmla="+- 0 0 0"/>
              <a:gd name="G1" fmla="+- 21600 0 0"/>
              <a:gd name="G2" fmla="+- 21600 0 0"/>
              <a:gd name="T0" fmla="*/ 98 w 12585"/>
              <a:gd name="T1" fmla="*/ 0 h 21600"/>
              <a:gd name="T2" fmla="*/ 12585 w 12585"/>
              <a:gd name="T3" fmla="*/ 4045 h 21600"/>
              <a:gd name="T4" fmla="*/ 0 w 12585"/>
              <a:gd name="T5" fmla="*/ 21600 h 21600"/>
            </a:gdLst>
            <a:ahLst/>
            <a:cxnLst>
              <a:cxn ang="0">
                <a:pos x="T0" y="T1"/>
              </a:cxn>
              <a:cxn ang="0">
                <a:pos x="T2" y="T3"/>
              </a:cxn>
              <a:cxn ang="0">
                <a:pos x="T4" y="T5"/>
              </a:cxn>
            </a:cxnLst>
            <a:rect l="0" t="0" r="r" b="b"/>
            <a:pathLst>
              <a:path w="12585" h="21600" fill="none" extrusionOk="0">
                <a:moveTo>
                  <a:pt x="97" y="0"/>
                </a:moveTo>
                <a:cubicBezTo>
                  <a:pt x="4579" y="20"/>
                  <a:pt x="8943" y="1434"/>
                  <a:pt x="12584" y="4045"/>
                </a:cubicBezTo>
              </a:path>
              <a:path w="12585" h="21600" stroke="0" extrusionOk="0">
                <a:moveTo>
                  <a:pt x="97" y="0"/>
                </a:moveTo>
                <a:cubicBezTo>
                  <a:pt x="4579" y="20"/>
                  <a:pt x="8943" y="1434"/>
                  <a:pt x="12584" y="4045"/>
                </a:cubicBezTo>
                <a:lnTo>
                  <a:pt x="0" y="21600"/>
                </a:lnTo>
                <a:close/>
              </a:path>
            </a:pathLst>
          </a:custGeom>
          <a:noFill/>
          <a:ln w="57150">
            <a:solidFill>
              <a:srgbClr val="FF0000"/>
            </a:solidFill>
            <a:round/>
            <a:headEnd/>
            <a:tailEnd/>
          </a:ln>
          <a:effectLst/>
        </p:spPr>
        <p:txBody>
          <a:bodyPr/>
          <a:lstStyle/>
          <a:p>
            <a:endParaRPr lang="en-CA"/>
          </a:p>
        </p:txBody>
      </p:sp>
      <p:sp>
        <p:nvSpPr>
          <p:cNvPr id="34" name="Line 25"/>
          <p:cNvSpPr>
            <a:spLocks noChangeShapeType="1"/>
          </p:cNvSpPr>
          <p:nvPr/>
        </p:nvSpPr>
        <p:spPr bwMode="auto">
          <a:xfrm rot="3941466">
            <a:off x="1594162" y="2528975"/>
            <a:ext cx="2326472" cy="971864"/>
          </a:xfrm>
          <a:prstGeom prst="line">
            <a:avLst/>
          </a:prstGeom>
          <a:noFill/>
          <a:ln w="57150">
            <a:solidFill>
              <a:srgbClr val="FF0000"/>
            </a:solidFill>
            <a:round/>
            <a:headEnd/>
            <a:tailEnd/>
          </a:ln>
          <a:effectLst/>
        </p:spPr>
        <p:txBody>
          <a:bodyPr/>
          <a:lstStyle/>
          <a:p>
            <a:endParaRPr lang="en-CA"/>
          </a:p>
        </p:txBody>
      </p:sp>
      <p:pic>
        <p:nvPicPr>
          <p:cNvPr id="63494" name="Picture 6" descr="http://image.shutterstock.com/display_pic_with_logo/697483/126431345/stock-vector-vector-illustration-of-human-eye-in-vintage-engraved-style-isolated-grouped-transparent-background-126431345.jpg"/>
          <p:cNvPicPr>
            <a:picLocks noChangeAspect="1" noChangeArrowheads="1"/>
          </p:cNvPicPr>
          <p:nvPr/>
        </p:nvPicPr>
        <p:blipFill>
          <a:blip r:embed="rId3" cstate="print"/>
          <a:srcRect b="7566"/>
          <a:stretch>
            <a:fillRect/>
          </a:stretch>
        </p:blipFill>
        <p:spPr bwMode="auto">
          <a:xfrm>
            <a:off x="4572000" y="915566"/>
            <a:ext cx="1656184" cy="1296144"/>
          </a:xfrm>
          <a:prstGeom prst="rect">
            <a:avLst/>
          </a:prstGeom>
          <a:noFill/>
        </p:spPr>
      </p:pic>
      <p:sp>
        <p:nvSpPr>
          <p:cNvPr id="35" name="Line 32"/>
          <p:cNvSpPr>
            <a:spLocks noChangeShapeType="1"/>
          </p:cNvSpPr>
          <p:nvPr/>
        </p:nvSpPr>
        <p:spPr bwMode="auto">
          <a:xfrm rot="20459117" flipH="1">
            <a:off x="2438922" y="2488201"/>
            <a:ext cx="2489377" cy="1382987"/>
          </a:xfrm>
          <a:prstGeom prst="line">
            <a:avLst/>
          </a:prstGeom>
          <a:noFill/>
          <a:ln w="127000">
            <a:solidFill>
              <a:srgbClr val="FFFF00"/>
            </a:solidFill>
            <a:round/>
            <a:headEnd type="stealth"/>
            <a:tailEnd type="none" w="lg" len="lg"/>
          </a:ln>
          <a:effectLst/>
        </p:spPr>
        <p:txBody>
          <a:bodyPr/>
          <a:lstStyle/>
          <a:p>
            <a:endParaRPr lang="en-CA"/>
          </a:p>
        </p:txBody>
      </p:sp>
      <p:grpSp>
        <p:nvGrpSpPr>
          <p:cNvPr id="20" name="Group 6"/>
          <p:cNvGrpSpPr>
            <a:grpSpLocks/>
          </p:cNvGrpSpPr>
          <p:nvPr/>
        </p:nvGrpSpPr>
        <p:grpSpPr bwMode="auto">
          <a:xfrm rot="961995">
            <a:off x="374039" y="1691724"/>
            <a:ext cx="466846" cy="431520"/>
            <a:chOff x="744" y="2522"/>
            <a:chExt cx="312" cy="384"/>
          </a:xfrm>
        </p:grpSpPr>
        <p:sp>
          <p:nvSpPr>
            <p:cNvPr id="23" name="Oval 7"/>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4" name="AutoShape 8"/>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5" name="Line 32"/>
          <p:cNvSpPr>
            <a:spLocks noChangeShapeType="1"/>
          </p:cNvSpPr>
          <p:nvPr/>
        </p:nvSpPr>
        <p:spPr bwMode="auto">
          <a:xfrm rot="20459117" flipH="1">
            <a:off x="2367634" y="2172607"/>
            <a:ext cx="2248489" cy="1662381"/>
          </a:xfrm>
          <a:prstGeom prst="line">
            <a:avLst/>
          </a:prstGeom>
          <a:noFill/>
          <a:ln w="101600">
            <a:solidFill>
              <a:srgbClr val="FFFF00"/>
            </a:solidFill>
            <a:round/>
            <a:headEnd type="stealth"/>
            <a:tailEnd type="none" w="lg" len="lg"/>
          </a:ln>
          <a:effectLst/>
        </p:spPr>
        <p:txBody>
          <a:bodyPr/>
          <a:lstStyle/>
          <a:p>
            <a:endParaRPr lang="en-CA"/>
          </a:p>
        </p:txBody>
      </p:sp>
      <p:sp>
        <p:nvSpPr>
          <p:cNvPr id="26" name="Line 32"/>
          <p:cNvSpPr>
            <a:spLocks noChangeShapeType="1"/>
          </p:cNvSpPr>
          <p:nvPr/>
        </p:nvSpPr>
        <p:spPr bwMode="auto">
          <a:xfrm rot="20459117" flipH="1">
            <a:off x="2537473" y="2828763"/>
            <a:ext cx="2628892" cy="998142"/>
          </a:xfrm>
          <a:prstGeom prst="line">
            <a:avLst/>
          </a:prstGeom>
          <a:noFill/>
          <a:ln w="76200">
            <a:solidFill>
              <a:srgbClr val="FFFF00"/>
            </a:solidFill>
            <a:round/>
            <a:headEnd type="stealth"/>
            <a:tailEnd type="none" w="lg" len="lg"/>
          </a:ln>
          <a:effectLst/>
        </p:spPr>
        <p:txBody>
          <a:bodyPr/>
          <a:lstStyle/>
          <a:p>
            <a:endParaRPr lang="en-CA"/>
          </a:p>
        </p:txBody>
      </p:sp>
      <p:sp>
        <p:nvSpPr>
          <p:cNvPr id="30" name="Line 32"/>
          <p:cNvSpPr>
            <a:spLocks noChangeShapeType="1"/>
          </p:cNvSpPr>
          <p:nvPr/>
        </p:nvSpPr>
        <p:spPr bwMode="auto">
          <a:xfrm rot="20459117" flipH="1">
            <a:off x="2404390" y="1962137"/>
            <a:ext cx="1886941" cy="1939306"/>
          </a:xfrm>
          <a:prstGeom prst="line">
            <a:avLst/>
          </a:prstGeom>
          <a:noFill/>
          <a:ln w="76200">
            <a:solidFill>
              <a:srgbClr val="FFFF00"/>
            </a:solidFill>
            <a:round/>
            <a:headEnd type="stealth"/>
            <a:tailEnd type="none" w="lg" len="lg"/>
          </a:ln>
          <a:effectLst/>
        </p:spPr>
        <p:txBody>
          <a:bodyPr/>
          <a:lstStyle/>
          <a:p>
            <a:endParaRPr lang="en-CA"/>
          </a:p>
        </p:txBody>
      </p:sp>
      <p:sp>
        <p:nvSpPr>
          <p:cNvPr id="31" name="Line 32"/>
          <p:cNvSpPr>
            <a:spLocks noChangeShapeType="1"/>
          </p:cNvSpPr>
          <p:nvPr/>
        </p:nvSpPr>
        <p:spPr bwMode="auto">
          <a:xfrm rot="20459117" flipH="1">
            <a:off x="2602019" y="3214172"/>
            <a:ext cx="2715824" cy="587364"/>
          </a:xfrm>
          <a:prstGeom prst="line">
            <a:avLst/>
          </a:prstGeom>
          <a:noFill/>
          <a:ln w="50800">
            <a:solidFill>
              <a:srgbClr val="FFFF00"/>
            </a:solidFill>
            <a:round/>
            <a:headEnd type="stealth"/>
            <a:tailEnd type="none" w="lg" len="lg"/>
          </a:ln>
          <a:effectLst/>
        </p:spPr>
        <p:txBody>
          <a:bodyPr/>
          <a:lstStyle/>
          <a:p>
            <a:endParaRPr lang="en-CA"/>
          </a:p>
        </p:txBody>
      </p:sp>
      <p:sp>
        <p:nvSpPr>
          <p:cNvPr id="32" name="Line 32"/>
          <p:cNvSpPr>
            <a:spLocks noChangeShapeType="1"/>
          </p:cNvSpPr>
          <p:nvPr/>
        </p:nvSpPr>
        <p:spPr bwMode="auto">
          <a:xfrm rot="20459117" flipH="1">
            <a:off x="2360902" y="1774449"/>
            <a:ext cx="1669669" cy="2242672"/>
          </a:xfrm>
          <a:prstGeom prst="line">
            <a:avLst/>
          </a:prstGeom>
          <a:noFill/>
          <a:ln w="50800">
            <a:solidFill>
              <a:srgbClr val="FFFF00"/>
            </a:solidFill>
            <a:round/>
            <a:headEnd type="stealth"/>
            <a:tailEnd type="none" w="lg" len="lg"/>
          </a:ln>
          <a:effectLst/>
        </p:spPr>
        <p:txBody>
          <a:bodyPr/>
          <a:lstStyle/>
          <a:p>
            <a:endParaRPr lang="en-CA"/>
          </a:p>
        </p:txBody>
      </p:sp>
      <p:sp>
        <p:nvSpPr>
          <p:cNvPr id="33" name="Line 32"/>
          <p:cNvSpPr>
            <a:spLocks noChangeShapeType="1"/>
          </p:cNvSpPr>
          <p:nvPr/>
        </p:nvSpPr>
        <p:spPr bwMode="auto">
          <a:xfrm rot="20459117" flipH="1">
            <a:off x="2341756" y="1660127"/>
            <a:ext cx="1436150" cy="2399311"/>
          </a:xfrm>
          <a:prstGeom prst="line">
            <a:avLst/>
          </a:prstGeom>
          <a:noFill/>
          <a:ln w="25400">
            <a:solidFill>
              <a:srgbClr val="FFFF00"/>
            </a:solidFill>
            <a:round/>
            <a:headEnd type="stealth"/>
            <a:tailEnd type="none" w="lg" len="lg"/>
          </a:ln>
          <a:effectLst/>
        </p:spPr>
        <p:txBody>
          <a:bodyPr/>
          <a:lstStyle/>
          <a:p>
            <a:endParaRPr lang="en-CA"/>
          </a:p>
        </p:txBody>
      </p:sp>
      <p:sp>
        <p:nvSpPr>
          <p:cNvPr id="36" name="Line 32"/>
          <p:cNvSpPr>
            <a:spLocks noChangeShapeType="1"/>
          </p:cNvSpPr>
          <p:nvPr/>
        </p:nvSpPr>
        <p:spPr bwMode="auto">
          <a:xfrm rot="20459117" flipH="1">
            <a:off x="2652868" y="3517807"/>
            <a:ext cx="2758139" cy="268127"/>
          </a:xfrm>
          <a:prstGeom prst="line">
            <a:avLst/>
          </a:prstGeom>
          <a:noFill/>
          <a:ln w="25400">
            <a:solidFill>
              <a:srgbClr val="FFFF00"/>
            </a:solidFill>
            <a:round/>
            <a:headEnd type="stealth"/>
            <a:tailEnd type="none" w="lg" len="lg"/>
          </a:ln>
          <a:effectLst/>
        </p:spPr>
        <p:txBody>
          <a:bodyPr/>
          <a:lstStyle/>
          <a:p>
            <a:endParaRPr lang="en-CA"/>
          </a:p>
        </p:txBody>
      </p:sp>
      <p:graphicFrame>
        <p:nvGraphicFramePr>
          <p:cNvPr id="39" name="Table 38"/>
          <p:cNvGraphicFramePr>
            <a:graphicFrameLocks noGrp="1"/>
          </p:cNvGraphicFramePr>
          <p:nvPr/>
        </p:nvGraphicFramePr>
        <p:xfrm>
          <a:off x="6660232" y="339494"/>
          <a:ext cx="1939280" cy="4267200"/>
        </p:xfrm>
        <a:graphic>
          <a:graphicData uri="http://schemas.openxmlformats.org/drawingml/2006/table">
            <a:tbl>
              <a:tblPr>
                <a:tableStyleId>{3C2FFA5D-87B4-456A-9821-1D502468CF0F}</a:tableStyleId>
              </a:tblPr>
              <a:tblGrid>
                <a:gridCol w="969640">
                  <a:extLst>
                    <a:ext uri="{9D8B030D-6E8A-4147-A177-3AD203B41FA5}">
                      <a16:colId xmlns:a16="http://schemas.microsoft.com/office/drawing/2014/main" val="20000"/>
                    </a:ext>
                  </a:extLst>
                </a:gridCol>
                <a:gridCol w="969640">
                  <a:extLst>
                    <a:ext uri="{9D8B030D-6E8A-4147-A177-3AD203B41FA5}">
                      <a16:colId xmlns:a16="http://schemas.microsoft.com/office/drawing/2014/main" val="20001"/>
                    </a:ext>
                  </a:extLst>
                </a:gridCol>
              </a:tblGrid>
              <a:tr h="204902">
                <a:tc>
                  <a:txBody>
                    <a:bodyPr/>
                    <a:lstStyle/>
                    <a:p>
                      <a:pPr algn="ctr" fontAlgn="b"/>
                      <a:r>
                        <a:rPr lang="en-CA" sz="1400" u="none" strike="noStrike"/>
                        <a:t>Angle</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Intensity</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0"/>
                  </a:ext>
                </a:extLst>
              </a:tr>
              <a:tr h="204902">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1"/>
                  </a:ext>
                </a:extLst>
              </a:tr>
              <a:tr h="204902">
                <a:tc>
                  <a:txBody>
                    <a:bodyPr/>
                    <a:lstStyle/>
                    <a:p>
                      <a:pPr algn="ctr" fontAlgn="b"/>
                      <a:r>
                        <a:rPr lang="en-CA" sz="1400" u="none" strike="noStrike"/>
                        <a:t>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2"/>
                  </a:ext>
                </a:extLst>
              </a:tr>
              <a:tr h="204902">
                <a:tc>
                  <a:txBody>
                    <a:bodyPr/>
                    <a:lstStyle/>
                    <a:p>
                      <a:pPr algn="ctr" fontAlgn="b"/>
                      <a:r>
                        <a:rPr lang="en-CA" sz="1400" u="none" strike="noStrike"/>
                        <a:t>10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3"/>
                  </a:ext>
                </a:extLst>
              </a:tr>
              <a:tr h="204902">
                <a:tc>
                  <a:txBody>
                    <a:bodyPr/>
                    <a:lstStyle/>
                    <a:p>
                      <a:pPr algn="ctr" fontAlgn="b"/>
                      <a:r>
                        <a:rPr lang="en-CA" sz="1400" u="none" strike="noStrike"/>
                        <a:t>15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4"/>
                  </a:ext>
                </a:extLst>
              </a:tr>
              <a:tr h="204902">
                <a:tc>
                  <a:txBody>
                    <a:bodyPr/>
                    <a:lstStyle/>
                    <a:p>
                      <a:pPr algn="ctr" fontAlgn="b"/>
                      <a:r>
                        <a:rPr lang="en-CA" sz="1400" u="none" strike="noStrike"/>
                        <a:t>20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5"/>
                  </a:ext>
                </a:extLst>
              </a:tr>
              <a:tr h="204902">
                <a:tc>
                  <a:txBody>
                    <a:bodyPr/>
                    <a:lstStyle/>
                    <a:p>
                      <a:pPr algn="ctr" fontAlgn="b"/>
                      <a:r>
                        <a:rPr lang="en-CA" sz="1400" u="none" strike="noStrike"/>
                        <a:t>25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10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6"/>
                  </a:ext>
                </a:extLst>
              </a:tr>
              <a:tr h="204902">
                <a:tc>
                  <a:txBody>
                    <a:bodyPr/>
                    <a:lstStyle/>
                    <a:p>
                      <a:pPr algn="ctr" fontAlgn="b"/>
                      <a:r>
                        <a:rPr lang="en-CA" sz="1400" u="none" strike="noStrike"/>
                        <a:t>30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7"/>
                  </a:ext>
                </a:extLst>
              </a:tr>
              <a:tr h="204902">
                <a:tc>
                  <a:txBody>
                    <a:bodyPr/>
                    <a:lstStyle/>
                    <a:p>
                      <a:pPr algn="ctr" fontAlgn="b"/>
                      <a:r>
                        <a:rPr lang="en-CA" sz="1400" u="none" strike="noStrike"/>
                        <a:t>35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60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8"/>
                  </a:ext>
                </a:extLst>
              </a:tr>
              <a:tr h="204902">
                <a:tc>
                  <a:txBody>
                    <a:bodyPr/>
                    <a:lstStyle/>
                    <a:p>
                      <a:pPr algn="ctr" fontAlgn="b"/>
                      <a:r>
                        <a:rPr lang="en-CA" sz="1400" u="none" strike="noStrike"/>
                        <a:t>40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90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9"/>
                  </a:ext>
                </a:extLst>
              </a:tr>
              <a:tr h="204902">
                <a:tc>
                  <a:txBody>
                    <a:bodyPr/>
                    <a:lstStyle/>
                    <a:p>
                      <a:pPr algn="ctr" fontAlgn="b"/>
                      <a:r>
                        <a:rPr lang="en-CA" sz="1400" u="none" strike="noStrike"/>
                        <a:t>45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100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0"/>
                  </a:ext>
                </a:extLst>
              </a:tr>
              <a:tr h="204902">
                <a:tc>
                  <a:txBody>
                    <a:bodyPr/>
                    <a:lstStyle/>
                    <a:p>
                      <a:pPr algn="ctr" fontAlgn="b"/>
                      <a:r>
                        <a:rPr lang="en-CA" sz="1400" u="none" strike="noStrike"/>
                        <a:t>50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90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1"/>
                  </a:ext>
                </a:extLst>
              </a:tr>
              <a:tr h="204902">
                <a:tc>
                  <a:txBody>
                    <a:bodyPr/>
                    <a:lstStyle/>
                    <a:p>
                      <a:pPr algn="ctr" fontAlgn="b"/>
                      <a:r>
                        <a:rPr lang="en-CA" sz="1400" u="none" strike="noStrike"/>
                        <a:t>55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60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2"/>
                  </a:ext>
                </a:extLst>
              </a:tr>
              <a:tr h="204902">
                <a:tc>
                  <a:txBody>
                    <a:bodyPr/>
                    <a:lstStyle/>
                    <a:p>
                      <a:pPr algn="ctr" fontAlgn="b"/>
                      <a:r>
                        <a:rPr lang="en-CA" sz="1400" u="none" strike="noStrike"/>
                        <a:t>60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3"/>
                  </a:ext>
                </a:extLst>
              </a:tr>
              <a:tr h="204902">
                <a:tc>
                  <a:txBody>
                    <a:bodyPr/>
                    <a:lstStyle/>
                    <a:p>
                      <a:pPr algn="ctr" fontAlgn="b"/>
                      <a:r>
                        <a:rPr lang="en-CA" sz="1400" u="none" strike="noStrike"/>
                        <a:t>65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10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4"/>
                  </a:ext>
                </a:extLst>
              </a:tr>
              <a:tr h="204902">
                <a:tc>
                  <a:txBody>
                    <a:bodyPr/>
                    <a:lstStyle/>
                    <a:p>
                      <a:pPr algn="ctr" fontAlgn="b"/>
                      <a:r>
                        <a:rPr lang="en-CA" sz="1400" u="none" strike="noStrike"/>
                        <a:t>70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5"/>
                  </a:ext>
                </a:extLst>
              </a:tr>
              <a:tr h="204902">
                <a:tc>
                  <a:txBody>
                    <a:bodyPr/>
                    <a:lstStyle/>
                    <a:p>
                      <a:pPr algn="ctr" fontAlgn="b"/>
                      <a:r>
                        <a:rPr lang="en-CA" sz="1400" u="none" strike="noStrike"/>
                        <a:t>75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6"/>
                  </a:ext>
                </a:extLst>
              </a:tr>
              <a:tr h="204902">
                <a:tc>
                  <a:txBody>
                    <a:bodyPr/>
                    <a:lstStyle/>
                    <a:p>
                      <a:pPr algn="ctr" fontAlgn="b"/>
                      <a:r>
                        <a:rPr lang="en-CA" sz="1400" u="none" strike="noStrike"/>
                        <a:t>80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7"/>
                  </a:ext>
                </a:extLst>
              </a:tr>
              <a:tr h="204902">
                <a:tc>
                  <a:txBody>
                    <a:bodyPr/>
                    <a:lstStyle/>
                    <a:p>
                      <a:pPr algn="ctr" fontAlgn="b"/>
                      <a:r>
                        <a:rPr lang="en-CA" sz="1400" u="none" strike="noStrike"/>
                        <a:t>85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8"/>
                  </a:ext>
                </a:extLst>
              </a:tr>
              <a:tr h="204902">
                <a:tc>
                  <a:txBody>
                    <a:bodyPr/>
                    <a:lstStyle/>
                    <a:p>
                      <a:pPr algn="ctr" fontAlgn="b"/>
                      <a:r>
                        <a:rPr lang="en-CA" sz="1400" u="none" strike="noStrike"/>
                        <a:t>90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0" marR="0" marT="0" marB="0" anchor="b"/>
                </a:tc>
                <a:extLst>
                  <a:ext uri="{0D108BD9-81ED-4DB2-BD59-A6C34878D82A}">
                    <a16:rowId xmlns:a16="http://schemas.microsoft.com/office/drawing/2014/main" val="10019"/>
                  </a:ext>
                </a:extLst>
              </a:tr>
            </a:tbl>
          </a:graphicData>
        </a:graphic>
      </p:graphicFrame>
      <p:sp>
        <p:nvSpPr>
          <p:cNvPr id="18" name="Rounded Rectangle 17"/>
          <p:cNvSpPr/>
          <p:nvPr/>
        </p:nvSpPr>
        <p:spPr>
          <a:xfrm>
            <a:off x="6444208" y="1347614"/>
            <a:ext cx="2448272" cy="2520280"/>
          </a:xfrm>
          <a:prstGeom prst="roundRect">
            <a:avLst/>
          </a:prstGeom>
          <a:noFill/>
          <a:ln w="857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p:cNvSpPr/>
          <p:nvPr/>
        </p:nvSpPr>
        <p:spPr>
          <a:xfrm>
            <a:off x="2555776" y="4083918"/>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utoRev="1" fill="hold" grpId="0" nodeType="clickEffect">
                                  <p:stCondLst>
                                    <p:cond delay="0"/>
                                  </p:stCondLst>
                                  <p:childTnLst>
                                    <p:animScale>
                                      <p:cBhvr>
                                        <p:cTn id="6" dur="500" fill="hold"/>
                                        <p:tgtEl>
                                          <p:spTgt spid="1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p:cNvSpPr>
            <a:spLocks noChangeArrowheads="1"/>
          </p:cNvSpPr>
          <p:nvPr/>
        </p:nvSpPr>
        <p:spPr bwMode="auto">
          <a:xfrm>
            <a:off x="2312118" y="3297337"/>
            <a:ext cx="3659187" cy="208359"/>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5" name="Line 25"/>
          <p:cNvSpPr>
            <a:spLocks noChangeShapeType="1"/>
          </p:cNvSpPr>
          <p:nvPr/>
        </p:nvSpPr>
        <p:spPr bwMode="auto">
          <a:xfrm rot="3941466">
            <a:off x="2962314" y="1617766"/>
            <a:ext cx="2326472" cy="971864"/>
          </a:xfrm>
          <a:prstGeom prst="line">
            <a:avLst/>
          </a:prstGeom>
          <a:noFill/>
          <a:ln w="57150">
            <a:solidFill>
              <a:srgbClr val="FF0000"/>
            </a:solidFill>
            <a:round/>
            <a:headEnd/>
            <a:tailEnd/>
          </a:ln>
          <a:effectLst/>
        </p:spPr>
        <p:txBody>
          <a:bodyPr/>
          <a:lstStyle/>
          <a:p>
            <a:endParaRPr lang="en-CA"/>
          </a:p>
        </p:txBody>
      </p:sp>
      <p:sp>
        <p:nvSpPr>
          <p:cNvPr id="6" name="Oval 5"/>
          <p:cNvSpPr/>
          <p:nvPr/>
        </p:nvSpPr>
        <p:spPr>
          <a:xfrm>
            <a:off x="3851920" y="3147815"/>
            <a:ext cx="576064"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Line 25"/>
          <p:cNvSpPr>
            <a:spLocks noChangeShapeType="1"/>
          </p:cNvSpPr>
          <p:nvPr/>
        </p:nvSpPr>
        <p:spPr bwMode="auto">
          <a:xfrm rot="3941466" flipH="1" flipV="1">
            <a:off x="4792242" y="1740294"/>
            <a:ext cx="516044" cy="1553914"/>
          </a:xfrm>
          <a:prstGeom prst="line">
            <a:avLst/>
          </a:prstGeom>
          <a:noFill/>
          <a:ln w="57150">
            <a:solidFill>
              <a:srgbClr val="FFFF00"/>
            </a:solidFill>
            <a:round/>
            <a:headEnd/>
            <a:tailEnd/>
          </a:ln>
          <a:effectLst/>
        </p:spPr>
        <p:txBody>
          <a:bodyPr/>
          <a:lstStyle/>
          <a:p>
            <a:endParaRPr lang="en-CA"/>
          </a:p>
        </p:txBody>
      </p:sp>
      <p:sp>
        <p:nvSpPr>
          <p:cNvPr id="8" name="Sun 7"/>
          <p:cNvSpPr/>
          <p:nvPr/>
        </p:nvSpPr>
        <p:spPr>
          <a:xfrm>
            <a:off x="2457315" y="159482"/>
            <a:ext cx="1668235" cy="1368152"/>
          </a:xfrm>
          <a:prstGeom prst="sun">
            <a:avLst/>
          </a:prstGeom>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p:cNvSpPr txBox="1"/>
          <p:nvPr/>
        </p:nvSpPr>
        <p:spPr>
          <a:xfrm>
            <a:off x="3923927" y="398649"/>
            <a:ext cx="524483" cy="369332"/>
          </a:xfrm>
          <a:prstGeom prst="rect">
            <a:avLst/>
          </a:prstGeom>
          <a:noFill/>
        </p:spPr>
        <p:txBody>
          <a:bodyPr wrap="square" rtlCol="0">
            <a:spAutoFit/>
          </a:bodyPr>
          <a:lstStyle/>
          <a:p>
            <a:r>
              <a:rPr lang="en-CA" dirty="0"/>
              <a:t>1.0</a:t>
            </a:r>
          </a:p>
        </p:txBody>
      </p:sp>
      <p:sp>
        <p:nvSpPr>
          <p:cNvPr id="10" name="TextBox 9"/>
          <p:cNvSpPr txBox="1"/>
          <p:nvPr/>
        </p:nvSpPr>
        <p:spPr>
          <a:xfrm>
            <a:off x="1755312" y="3136364"/>
            <a:ext cx="524483" cy="369332"/>
          </a:xfrm>
          <a:prstGeom prst="rect">
            <a:avLst/>
          </a:prstGeom>
          <a:noFill/>
        </p:spPr>
        <p:txBody>
          <a:bodyPr wrap="square" rtlCol="0">
            <a:spAutoFit/>
          </a:bodyPr>
          <a:lstStyle/>
          <a:p>
            <a:r>
              <a:rPr lang="en-CA" dirty="0"/>
              <a:t>0.0</a:t>
            </a:r>
          </a:p>
        </p:txBody>
      </p:sp>
      <p:sp>
        <p:nvSpPr>
          <p:cNvPr id="11" name="TextBox 10"/>
          <p:cNvSpPr txBox="1"/>
          <p:nvPr/>
        </p:nvSpPr>
        <p:spPr>
          <a:xfrm>
            <a:off x="6167564" y="3282539"/>
            <a:ext cx="524483" cy="369332"/>
          </a:xfrm>
          <a:prstGeom prst="rect">
            <a:avLst/>
          </a:prstGeom>
          <a:noFill/>
        </p:spPr>
        <p:txBody>
          <a:bodyPr wrap="square" rtlCol="0">
            <a:spAutoFit/>
          </a:bodyPr>
          <a:lstStyle/>
          <a:p>
            <a:r>
              <a:rPr lang="en-CA" dirty="0"/>
              <a:t>0.0</a:t>
            </a:r>
          </a:p>
        </p:txBody>
      </p:sp>
      <p:sp>
        <p:nvSpPr>
          <p:cNvPr id="12" name="TextBox 11"/>
          <p:cNvSpPr txBox="1"/>
          <p:nvPr/>
        </p:nvSpPr>
        <p:spPr>
          <a:xfrm>
            <a:off x="4203501" y="4475316"/>
            <a:ext cx="636767" cy="369332"/>
          </a:xfrm>
          <a:prstGeom prst="rect">
            <a:avLst/>
          </a:prstGeom>
          <a:noFill/>
        </p:spPr>
        <p:txBody>
          <a:bodyPr wrap="square" rtlCol="0">
            <a:spAutoFit/>
          </a:bodyPr>
          <a:lstStyle/>
          <a:p>
            <a:r>
              <a:rPr lang="en-CA" dirty="0"/>
              <a:t>-1.0</a:t>
            </a:r>
          </a:p>
        </p:txBody>
      </p:sp>
    </p:spTree>
    <p:extLst>
      <p:ext uri="{BB962C8B-B14F-4D97-AF65-F5344CB8AC3E}">
        <p14:creationId xmlns:p14="http://schemas.microsoft.com/office/powerpoint/2010/main" val="340507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41"/>
          <p:cNvSpPr>
            <a:spLocks noGrp="1"/>
          </p:cNvSpPr>
          <p:nvPr>
            <p:ph type="title"/>
          </p:nvPr>
        </p:nvSpPr>
        <p:spPr>
          <a:xfrm>
            <a:off x="179512" y="267494"/>
            <a:ext cx="8507288" cy="685800"/>
          </a:xfrm>
        </p:spPr>
        <p:txBody>
          <a:bodyPr/>
          <a:lstStyle/>
          <a:p>
            <a:r>
              <a:rPr lang="en-CA" sz="2800" dirty="0"/>
              <a:t>Now, instead of LASER, is flashlight...</a:t>
            </a:r>
          </a:p>
        </p:txBody>
      </p:sp>
      <p:sp>
        <p:nvSpPr>
          <p:cNvPr id="276484" name="AutoShape 4"/>
          <p:cNvSpPr>
            <a:spLocks noChangeArrowheads="1"/>
          </p:cNvSpPr>
          <p:nvPr/>
        </p:nvSpPr>
        <p:spPr bwMode="auto">
          <a:xfrm>
            <a:off x="8534400" y="473199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aphicFrame>
        <p:nvGraphicFramePr>
          <p:cNvPr id="6" name="Table 5"/>
          <p:cNvGraphicFramePr>
            <a:graphicFrameLocks noGrp="1"/>
          </p:cNvGraphicFramePr>
          <p:nvPr/>
        </p:nvGraphicFramePr>
        <p:xfrm>
          <a:off x="6660232" y="339494"/>
          <a:ext cx="1939280" cy="4267200"/>
        </p:xfrm>
        <a:graphic>
          <a:graphicData uri="http://schemas.openxmlformats.org/drawingml/2006/table">
            <a:tbl>
              <a:tblPr>
                <a:tableStyleId>{3C2FFA5D-87B4-456A-9821-1D502468CF0F}</a:tableStyleId>
              </a:tblPr>
              <a:tblGrid>
                <a:gridCol w="969640">
                  <a:extLst>
                    <a:ext uri="{9D8B030D-6E8A-4147-A177-3AD203B41FA5}">
                      <a16:colId xmlns:a16="http://schemas.microsoft.com/office/drawing/2014/main" val="20000"/>
                    </a:ext>
                  </a:extLst>
                </a:gridCol>
                <a:gridCol w="969640">
                  <a:extLst>
                    <a:ext uri="{9D8B030D-6E8A-4147-A177-3AD203B41FA5}">
                      <a16:colId xmlns:a16="http://schemas.microsoft.com/office/drawing/2014/main" val="20001"/>
                    </a:ext>
                  </a:extLst>
                </a:gridCol>
              </a:tblGrid>
              <a:tr h="204902">
                <a:tc>
                  <a:txBody>
                    <a:bodyPr/>
                    <a:lstStyle/>
                    <a:p>
                      <a:pPr algn="ctr" fontAlgn="b"/>
                      <a:r>
                        <a:rPr lang="en-CA" sz="1400" u="none" strike="noStrike"/>
                        <a:t>Angle</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Intensity</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0"/>
                  </a:ext>
                </a:extLst>
              </a:tr>
              <a:tr h="204902">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1"/>
                  </a:ext>
                </a:extLst>
              </a:tr>
              <a:tr h="204902">
                <a:tc>
                  <a:txBody>
                    <a:bodyPr/>
                    <a:lstStyle/>
                    <a:p>
                      <a:pPr algn="ctr" fontAlgn="b"/>
                      <a:r>
                        <a:rPr lang="en-CA" sz="1400" u="none" strike="noStrike"/>
                        <a:t>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2"/>
                  </a:ext>
                </a:extLst>
              </a:tr>
              <a:tr h="204902">
                <a:tc>
                  <a:txBody>
                    <a:bodyPr/>
                    <a:lstStyle/>
                    <a:p>
                      <a:pPr algn="ctr" fontAlgn="b"/>
                      <a:r>
                        <a:rPr lang="en-CA" sz="1400" u="none" strike="noStrike"/>
                        <a:t>10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3"/>
                  </a:ext>
                </a:extLst>
              </a:tr>
              <a:tr h="204902">
                <a:tc>
                  <a:txBody>
                    <a:bodyPr/>
                    <a:lstStyle/>
                    <a:p>
                      <a:pPr algn="ctr" fontAlgn="b"/>
                      <a:r>
                        <a:rPr lang="en-CA" sz="1400" u="none" strike="noStrike"/>
                        <a:t>15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4"/>
                  </a:ext>
                </a:extLst>
              </a:tr>
              <a:tr h="204902">
                <a:tc>
                  <a:txBody>
                    <a:bodyPr/>
                    <a:lstStyle/>
                    <a:p>
                      <a:pPr algn="ctr" fontAlgn="b"/>
                      <a:r>
                        <a:rPr lang="en-CA" sz="1400" u="none" strike="noStrike"/>
                        <a:t>20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5"/>
                  </a:ext>
                </a:extLst>
              </a:tr>
              <a:tr h="204902">
                <a:tc>
                  <a:txBody>
                    <a:bodyPr/>
                    <a:lstStyle/>
                    <a:p>
                      <a:pPr algn="ctr" fontAlgn="b"/>
                      <a:r>
                        <a:rPr lang="en-CA" sz="1400" u="none" strike="noStrike"/>
                        <a:t>25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10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6"/>
                  </a:ext>
                </a:extLst>
              </a:tr>
              <a:tr h="204902">
                <a:tc>
                  <a:txBody>
                    <a:bodyPr/>
                    <a:lstStyle/>
                    <a:p>
                      <a:pPr algn="ctr" fontAlgn="b"/>
                      <a:r>
                        <a:rPr lang="en-CA" sz="1400" u="none" strike="noStrike"/>
                        <a:t>30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7"/>
                  </a:ext>
                </a:extLst>
              </a:tr>
              <a:tr h="204902">
                <a:tc>
                  <a:txBody>
                    <a:bodyPr/>
                    <a:lstStyle/>
                    <a:p>
                      <a:pPr algn="ctr" fontAlgn="b"/>
                      <a:r>
                        <a:rPr lang="en-CA" sz="1400" u="none" strike="noStrike"/>
                        <a:t>35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60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8"/>
                  </a:ext>
                </a:extLst>
              </a:tr>
              <a:tr h="204902">
                <a:tc>
                  <a:txBody>
                    <a:bodyPr/>
                    <a:lstStyle/>
                    <a:p>
                      <a:pPr algn="ctr" fontAlgn="b"/>
                      <a:r>
                        <a:rPr lang="en-CA" sz="1400" u="none" strike="noStrike"/>
                        <a:t>40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90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09"/>
                  </a:ext>
                </a:extLst>
              </a:tr>
              <a:tr h="204902">
                <a:tc>
                  <a:txBody>
                    <a:bodyPr/>
                    <a:lstStyle/>
                    <a:p>
                      <a:pPr algn="ctr" fontAlgn="b"/>
                      <a:r>
                        <a:rPr lang="en-CA" sz="1400" u="none" strike="noStrike"/>
                        <a:t>45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100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0"/>
                  </a:ext>
                </a:extLst>
              </a:tr>
              <a:tr h="204902">
                <a:tc>
                  <a:txBody>
                    <a:bodyPr/>
                    <a:lstStyle/>
                    <a:p>
                      <a:pPr algn="ctr" fontAlgn="b"/>
                      <a:r>
                        <a:rPr lang="en-CA" sz="1400" u="none" strike="noStrike"/>
                        <a:t>50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90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1"/>
                  </a:ext>
                </a:extLst>
              </a:tr>
              <a:tr h="204902">
                <a:tc>
                  <a:txBody>
                    <a:bodyPr/>
                    <a:lstStyle/>
                    <a:p>
                      <a:pPr algn="ctr" fontAlgn="b"/>
                      <a:r>
                        <a:rPr lang="en-CA" sz="1400" u="none" strike="noStrike"/>
                        <a:t>55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60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2"/>
                  </a:ext>
                </a:extLst>
              </a:tr>
              <a:tr h="204902">
                <a:tc>
                  <a:txBody>
                    <a:bodyPr/>
                    <a:lstStyle/>
                    <a:p>
                      <a:pPr algn="ctr" fontAlgn="b"/>
                      <a:r>
                        <a:rPr lang="en-CA" sz="1400" u="none" strike="noStrike"/>
                        <a:t>60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3"/>
                  </a:ext>
                </a:extLst>
              </a:tr>
              <a:tr h="204902">
                <a:tc>
                  <a:txBody>
                    <a:bodyPr/>
                    <a:lstStyle/>
                    <a:p>
                      <a:pPr algn="ctr" fontAlgn="b"/>
                      <a:r>
                        <a:rPr lang="en-CA" sz="1400" u="none" strike="noStrike"/>
                        <a:t>65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10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4"/>
                  </a:ext>
                </a:extLst>
              </a:tr>
              <a:tr h="204902">
                <a:tc>
                  <a:txBody>
                    <a:bodyPr/>
                    <a:lstStyle/>
                    <a:p>
                      <a:pPr algn="ctr" fontAlgn="b"/>
                      <a:r>
                        <a:rPr lang="en-CA" sz="1400" u="none" strike="noStrike"/>
                        <a:t>70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3</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5"/>
                  </a:ext>
                </a:extLst>
              </a:tr>
              <a:tr h="204902">
                <a:tc>
                  <a:txBody>
                    <a:bodyPr/>
                    <a:lstStyle/>
                    <a:p>
                      <a:pPr algn="ctr" fontAlgn="b"/>
                      <a:r>
                        <a:rPr lang="en-CA" sz="1400" u="none" strike="noStrike"/>
                        <a:t>75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6"/>
                  </a:ext>
                </a:extLst>
              </a:tr>
              <a:tr h="204902">
                <a:tc>
                  <a:txBody>
                    <a:bodyPr/>
                    <a:lstStyle/>
                    <a:p>
                      <a:pPr algn="ctr" fontAlgn="b"/>
                      <a:r>
                        <a:rPr lang="en-CA" sz="1400" u="none" strike="noStrike"/>
                        <a:t>80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7"/>
                  </a:ext>
                </a:extLst>
              </a:tr>
              <a:tr h="204902">
                <a:tc>
                  <a:txBody>
                    <a:bodyPr/>
                    <a:lstStyle/>
                    <a:p>
                      <a:pPr algn="ctr" fontAlgn="b"/>
                      <a:r>
                        <a:rPr lang="en-CA" sz="1400" u="none" strike="noStrike"/>
                        <a:t>85</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a:t>0</a:t>
                      </a:r>
                      <a:endParaRPr lang="en-CA" sz="1400" b="0" i="0" u="none" strike="noStrike">
                        <a:solidFill>
                          <a:srgbClr val="FFFFFF"/>
                        </a:solidFill>
                        <a:latin typeface="Calibri"/>
                      </a:endParaRPr>
                    </a:p>
                  </a:txBody>
                  <a:tcPr marL="0" marR="0" marT="0" marB="0" anchor="b"/>
                </a:tc>
                <a:extLst>
                  <a:ext uri="{0D108BD9-81ED-4DB2-BD59-A6C34878D82A}">
                    <a16:rowId xmlns:a16="http://schemas.microsoft.com/office/drawing/2014/main" val="10018"/>
                  </a:ext>
                </a:extLst>
              </a:tr>
              <a:tr h="204902">
                <a:tc>
                  <a:txBody>
                    <a:bodyPr/>
                    <a:lstStyle/>
                    <a:p>
                      <a:pPr algn="ctr" fontAlgn="b"/>
                      <a:r>
                        <a:rPr lang="en-CA" sz="1400" u="none" strike="noStrike"/>
                        <a:t>90</a:t>
                      </a:r>
                      <a:endParaRPr lang="en-CA" sz="1400" b="0" i="0" u="none" strike="noStrike">
                        <a:solidFill>
                          <a:srgbClr val="FFFFFF"/>
                        </a:solidFill>
                        <a:latin typeface="Calibri"/>
                      </a:endParaRPr>
                    </a:p>
                  </a:txBody>
                  <a:tcPr marL="0" marR="0" marT="0" marB="0" anchor="b"/>
                </a:tc>
                <a:tc>
                  <a:txBody>
                    <a:bodyPr/>
                    <a:lstStyle/>
                    <a:p>
                      <a:pPr algn="ctr" fontAlgn="b"/>
                      <a:r>
                        <a:rPr lang="en-CA" sz="1400" u="none" strike="noStrike" dirty="0"/>
                        <a:t>0</a:t>
                      </a:r>
                      <a:endParaRPr lang="en-CA" sz="1400" b="0" i="0" u="none" strike="noStrike" dirty="0">
                        <a:solidFill>
                          <a:srgbClr val="FFFFFF"/>
                        </a:solidFill>
                        <a:latin typeface="Calibri"/>
                      </a:endParaRPr>
                    </a:p>
                  </a:txBody>
                  <a:tcPr marL="0" marR="0" marT="0" marB="0" anchor="b"/>
                </a:tc>
                <a:extLst>
                  <a:ext uri="{0D108BD9-81ED-4DB2-BD59-A6C34878D82A}">
                    <a16:rowId xmlns:a16="http://schemas.microsoft.com/office/drawing/2014/main" val="10019"/>
                  </a:ext>
                </a:extLst>
              </a:tr>
            </a:tbl>
          </a:graphicData>
        </a:graphic>
      </p:graphicFrame>
      <p:sp>
        <p:nvSpPr>
          <p:cNvPr id="7" name="Rounded Rectangle 6"/>
          <p:cNvSpPr/>
          <p:nvPr/>
        </p:nvSpPr>
        <p:spPr>
          <a:xfrm>
            <a:off x="6444208" y="1347614"/>
            <a:ext cx="2448272" cy="2520280"/>
          </a:xfrm>
          <a:prstGeom prst="roundRect">
            <a:avLst/>
          </a:prstGeom>
          <a:noFill/>
          <a:ln w="857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 name="Picture 4"/>
          <p:cNvPicPr>
            <a:picLocks noChangeAspect="1" noChangeArrowheads="1"/>
          </p:cNvPicPr>
          <p:nvPr/>
        </p:nvPicPr>
        <p:blipFill>
          <a:blip r:embed="rId3" cstate="print"/>
          <a:srcRect/>
          <a:stretch>
            <a:fillRect/>
          </a:stretch>
        </p:blipFill>
        <p:spPr bwMode="auto">
          <a:xfrm>
            <a:off x="179512" y="1131590"/>
            <a:ext cx="6022975" cy="36083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utoRev="1" fill="hold" grpId="0" nodeType="clickEffect">
                                  <p:stCondLst>
                                    <p:cond delay="0"/>
                                  </p:stCondLst>
                                  <p:childTnLst>
                                    <p:animScale>
                                      <p:cBhvr>
                                        <p:cTn id="6" dur="500" fill="hold"/>
                                        <p:tgtEl>
                                          <p:spTgt spid="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41"/>
          <p:cNvSpPr>
            <a:spLocks noGrp="1"/>
          </p:cNvSpPr>
          <p:nvPr>
            <p:ph type="title"/>
          </p:nvPr>
        </p:nvSpPr>
        <p:spPr>
          <a:xfrm>
            <a:off x="179512" y="267494"/>
            <a:ext cx="8507288" cy="685800"/>
          </a:xfrm>
        </p:spPr>
        <p:txBody>
          <a:bodyPr/>
          <a:lstStyle/>
          <a:p>
            <a:r>
              <a:rPr lang="en-CA" sz="2800" dirty="0"/>
              <a:t>LASER v Flashlight: what’s the difference???</a:t>
            </a:r>
          </a:p>
        </p:txBody>
      </p:sp>
      <p:pic>
        <p:nvPicPr>
          <p:cNvPr id="9" name="Picture 2"/>
          <p:cNvPicPr>
            <a:picLocks noChangeAspect="1" noChangeArrowheads="1"/>
          </p:cNvPicPr>
          <p:nvPr/>
        </p:nvPicPr>
        <p:blipFill>
          <a:blip r:embed="rId3" cstate="print"/>
          <a:srcRect/>
          <a:stretch>
            <a:fillRect/>
          </a:stretch>
        </p:blipFill>
        <p:spPr bwMode="auto">
          <a:xfrm>
            <a:off x="323528" y="1203598"/>
            <a:ext cx="4443284" cy="2664296"/>
          </a:xfrm>
          <a:prstGeom prst="rect">
            <a:avLst/>
          </a:prstGeom>
          <a:noFill/>
          <a:ln w="9525">
            <a:noFill/>
            <a:miter lim="800000"/>
            <a:headEnd/>
            <a:tailEnd/>
          </a:ln>
          <a:effectLst/>
        </p:spPr>
      </p:pic>
      <p:pic>
        <p:nvPicPr>
          <p:cNvPr id="10" name="Picture 4"/>
          <p:cNvPicPr>
            <a:picLocks noChangeAspect="1" noChangeArrowheads="1"/>
          </p:cNvPicPr>
          <p:nvPr/>
        </p:nvPicPr>
        <p:blipFill>
          <a:blip r:embed="rId4" cstate="print"/>
          <a:srcRect/>
          <a:stretch>
            <a:fillRect/>
          </a:stretch>
        </p:blipFill>
        <p:spPr bwMode="auto">
          <a:xfrm>
            <a:off x="4283968" y="1203598"/>
            <a:ext cx="4447136" cy="2664296"/>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14400" y="400050"/>
            <a:ext cx="7696200" cy="4000500"/>
            <a:chOff x="576" y="336"/>
            <a:chExt cx="4848" cy="3360"/>
          </a:xfrm>
        </p:grpSpPr>
        <p:sp>
          <p:nvSpPr>
            <p:cNvPr id="281603" name="WordArt 3"/>
            <p:cNvSpPr>
              <a:spLocks noChangeArrowheads="1" noChangeShapeType="1" noTextEdit="1"/>
            </p:cNvSpPr>
            <p:nvPr/>
          </p:nvSpPr>
          <p:spPr bwMode="auto">
            <a:xfrm>
              <a:off x="576" y="2016"/>
              <a:ext cx="4848" cy="1680"/>
            </a:xfrm>
            <a:prstGeom prst="rect">
              <a:avLst/>
            </a:prstGeom>
          </p:spPr>
          <p:txBody>
            <a:bodyPr wrap="none" fromWordArt="1">
              <a:prstTxWarp prst="textPlain">
                <a:avLst>
                  <a:gd name="adj" fmla="val 50000"/>
                </a:avLst>
              </a:prstTxWarp>
              <a:scene3d>
                <a:camera prst="legacyPerspectiveBottomRight">
                  <a:rot lat="0" lon="21239999" rev="0"/>
                </a:camera>
                <a:lightRig rig="legacyHarsh3" dir="l"/>
              </a:scene3d>
              <a:sp3d extrusionH="430200" prstMaterial="legacyMatte">
                <a:extrusionClr>
                  <a:srgbClr val="C0C0C0"/>
                </a:extrusionClr>
              </a:sp3d>
            </a:bodyPr>
            <a:lstStyle/>
            <a:p>
              <a:pPr algn="ctr"/>
              <a:r>
                <a:rPr lang="en-CA" sz="3600" kern="10">
                  <a:ln w="9525">
                    <a:round/>
                    <a:headEnd/>
                    <a:tailEnd/>
                  </a:ln>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1"/>
                  </a:gradFill>
                  <a:latin typeface="Arial Black"/>
                </a:rPr>
                <a:t>"Normal"</a:t>
              </a:r>
            </a:p>
          </p:txBody>
        </p:sp>
        <p:sp>
          <p:nvSpPr>
            <p:cNvPr id="281604" name="WordArt 4"/>
            <p:cNvSpPr>
              <a:spLocks noChangeArrowheads="1" noChangeShapeType="1" noTextEdit="1"/>
            </p:cNvSpPr>
            <p:nvPr/>
          </p:nvSpPr>
          <p:spPr bwMode="auto">
            <a:xfrm>
              <a:off x="1728" y="336"/>
              <a:ext cx="2424" cy="1680"/>
            </a:xfrm>
            <a:prstGeom prst="rect">
              <a:avLst/>
            </a:prstGeom>
          </p:spPr>
          <p:txBody>
            <a:bodyPr wrap="none" fromWordArt="1">
              <a:prstTxWarp prst="textPlain">
                <a:avLst>
                  <a:gd name="adj" fmla="val 50000"/>
                </a:avLst>
              </a:prstTxWarp>
              <a:scene3d>
                <a:camera prst="legacyPerspectiveBottomRight">
                  <a:rot lat="0" lon="21239999" rev="0"/>
                </a:camera>
                <a:lightRig rig="legacyHarsh3" dir="l"/>
              </a:scene3d>
              <a:sp3d extrusionH="430200" prstMaterial="legacyMatte">
                <a:extrusionClr>
                  <a:srgbClr val="C0C0C0"/>
                </a:extrusionClr>
              </a:sp3d>
            </a:bodyPr>
            <a:lstStyle/>
            <a:p>
              <a:pPr algn="ctr"/>
              <a:r>
                <a:rPr lang="en-CA" sz="3600" kern="10">
                  <a:ln w="9525">
                    <a:round/>
                    <a:headEnd/>
                    <a:tailEnd/>
                  </a:ln>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1"/>
                  </a:gradFill>
                  <a:latin typeface="Arial Black"/>
                </a:rPr>
                <a:t>The</a:t>
              </a:r>
            </a:p>
          </p:txBody>
        </p:sp>
      </p:grpSp>
      <p:sp>
        <p:nvSpPr>
          <p:cNvPr id="281605"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2" presetClass="emph" presetSubtype="0" fill="hold" nodeType="afterEffect">
                                  <p:stCondLst>
                                    <p:cond delay="500"/>
                                  </p:stCondLst>
                                  <p:childTnLst>
                                    <p:animClr clrSpc="rgb" dir="cw">
                                      <p:cBhvr override="childStyle">
                                        <p:cTn id="11" dur="100" fill="hold"/>
                                        <p:tgtEl>
                                          <p:spTgt spid="2"/>
                                        </p:tgtEl>
                                        <p:attrNameLst>
                                          <p:attrName>style.color</p:attrName>
                                        </p:attrNameLst>
                                      </p:cBhvr>
                                      <p:to>
                                        <a:schemeClr val="accent2"/>
                                      </p:to>
                                    </p:animClr>
                                    <p:animClr clrSpc="rgb" dir="cw">
                                      <p:cBhvr>
                                        <p:cTn id="12" dur="100" fill="hold"/>
                                        <p:tgtEl>
                                          <p:spTgt spid="2"/>
                                        </p:tgtEl>
                                        <p:attrNameLst>
                                          <p:attrName>fillcolor</p:attrName>
                                        </p:attrNameLst>
                                      </p:cBhvr>
                                      <p:to>
                                        <a:schemeClr val="accent2"/>
                                      </p:to>
                                    </p:animClr>
                                    <p:set>
                                      <p:cBhvr>
                                        <p:cTn id="13" dur="100" fill="hold"/>
                                        <p:tgtEl>
                                          <p:spTgt spid="2"/>
                                        </p:tgtEl>
                                        <p:attrNameLst>
                                          <p:attrName>fill.type</p:attrName>
                                        </p:attrNameLst>
                                      </p:cBhvr>
                                      <p:to>
                                        <p:strVal val="solid"/>
                                      </p:to>
                                    </p:set>
                                    <p:set>
                                      <p:cBhvr>
                                        <p:cTn id="14" dur="100" fill="hold"/>
                                        <p:tgtEl>
                                          <p:spTgt spid="2"/>
                                        </p:tgtEl>
                                        <p:attrNameLst>
                                          <p:attrName>fill.on</p:attrName>
                                        </p:attrNameLst>
                                      </p:cBhvr>
                                      <p:to>
                                        <p:strVal val="true"/>
                                      </p:to>
                                    </p:set>
                                    <p:animRot by="120000">
                                      <p:cBhvr>
                                        <p:cTn id="15" dur="100" fill="hold">
                                          <p:stCondLst>
                                            <p:cond delay="0"/>
                                          </p:stCondLst>
                                        </p:cTn>
                                        <p:tgtEl>
                                          <p:spTgt spid="2"/>
                                        </p:tgtEl>
                                        <p:attrNameLst>
                                          <p:attrName>r</p:attrName>
                                        </p:attrNameLst>
                                      </p:cBhvr>
                                    </p:animRot>
                                    <p:animRot by="-240000">
                                      <p:cBhvr>
                                        <p:cTn id="16" dur="200" fill="hold">
                                          <p:stCondLst>
                                            <p:cond delay="200"/>
                                          </p:stCondLst>
                                        </p:cTn>
                                        <p:tgtEl>
                                          <p:spTgt spid="2"/>
                                        </p:tgtEl>
                                        <p:attrNameLst>
                                          <p:attrName>r</p:attrName>
                                        </p:attrNameLst>
                                      </p:cBhvr>
                                    </p:animRot>
                                    <p:animRot by="240000">
                                      <p:cBhvr>
                                        <p:cTn id="17" dur="200" fill="hold">
                                          <p:stCondLst>
                                            <p:cond delay="400"/>
                                          </p:stCondLst>
                                        </p:cTn>
                                        <p:tgtEl>
                                          <p:spTgt spid="2"/>
                                        </p:tgtEl>
                                        <p:attrNameLst>
                                          <p:attrName>r</p:attrName>
                                        </p:attrNameLst>
                                      </p:cBhvr>
                                    </p:animRot>
                                    <p:animRot by="-240000">
                                      <p:cBhvr>
                                        <p:cTn id="18" dur="200" fill="hold">
                                          <p:stCondLst>
                                            <p:cond delay="600"/>
                                          </p:stCondLst>
                                        </p:cTn>
                                        <p:tgtEl>
                                          <p:spTgt spid="2"/>
                                        </p:tgtEl>
                                        <p:attrNameLst>
                                          <p:attrName>r</p:attrName>
                                        </p:attrNameLst>
                                      </p:cBhvr>
                                    </p:animRot>
                                    <p:animRot by="120000">
                                      <p:cBhvr>
                                        <p:cTn id="19" dur="200" fill="hold">
                                          <p:stCondLst>
                                            <p:cond delay="800"/>
                                          </p:stCondLst>
                                        </p:cTn>
                                        <p:tgtEl>
                                          <p:spTgt spid="2"/>
                                        </p:tgtEl>
                                        <p:attrNameLst>
                                          <p:attrName>r</p:attrName>
                                        </p:attrNameLst>
                                      </p:cBhvr>
                                    </p:animRot>
                                  </p:childTnLst>
                                </p:cTn>
                              </p:par>
                            </p:childTnLst>
                          </p:cTn>
                        </p:par>
                        <p:par>
                          <p:cTn id="20" fill="hold">
                            <p:stCondLst>
                              <p:cond delay="2000"/>
                            </p:stCondLst>
                            <p:childTnLst>
                              <p:par>
                                <p:cTn id="21" presetID="26" presetClass="emph" presetSubtype="0" fill="hold" nodeType="afterEffect">
                                  <p:stCondLst>
                                    <p:cond delay="500"/>
                                  </p:stCondLst>
                                  <p:childTnLst>
                                    <p:animEffect transition="out" filter="fade">
                                      <p:cBhvr>
                                        <p:cTn id="22" dur="500" tmFilter="0, 0; .2, .5; .8, .5; 1, 0"/>
                                        <p:tgtEl>
                                          <p:spTgt spid="2"/>
                                        </p:tgtEl>
                                      </p:cBhvr>
                                    </p:animEffect>
                                    <p:animScale>
                                      <p:cBhvr>
                                        <p:cTn id="23" dur="250" autoRev="1" fill="hold"/>
                                        <p:tgtEl>
                                          <p:spTgt spid="2"/>
                                        </p:tgtEl>
                                      </p:cBhvr>
                                      <p:by x="105000" y="105000"/>
                                    </p:animScale>
                                  </p:childTnLst>
                                </p:cTn>
                              </p:par>
                            </p:childTnLst>
                          </p:cTn>
                        </p:par>
                        <p:par>
                          <p:cTn id="24" fill="hold">
                            <p:stCondLst>
                              <p:cond delay="3000"/>
                            </p:stCondLst>
                            <p:childTnLst>
                              <p:par>
                                <p:cTn id="25" presetID="34" presetClass="exit" presetSubtype="0" fill="hold" nodeType="afterEffect">
                                  <p:stCondLst>
                                    <p:cond delay="500"/>
                                  </p:stCondLst>
                                  <p:childTnLst>
                                    <p:anim from="(ppt_x)" to="(ppt_x+1)" calcmode="lin" valueType="num">
                                      <p:cBhvr>
                                        <p:cTn id="26" dur="1000">
                                          <p:stCondLst>
                                            <p:cond delay="0"/>
                                          </p:stCondLst>
                                        </p:cTn>
                                        <p:tgtEl>
                                          <p:spTgt spid="2"/>
                                        </p:tgtEl>
                                        <p:attrNameLst>
                                          <p:attrName>ppt_x</p:attrName>
                                        </p:attrNameLst>
                                      </p:cBhvr>
                                    </p:anim>
                                    <p:anim from="0" to="-1.0" calcmode="lin" valueType="num">
                                      <p:cBhvr>
                                        <p:cTn id="27" dur="200" accel="50000">
                                          <p:stCondLst>
                                            <p:cond delay="0"/>
                                          </p:stCondLst>
                                        </p:cTn>
                                        <p:tgtEl>
                                          <p:spTgt spid="2"/>
                                        </p:tgtEl>
                                        <p:attrNameLst>
                                          <p:attrName>xshear</p:attrName>
                                        </p:attrNameLst>
                                      </p:cBhvr>
                                    </p:anim>
                                    <p:set>
                                      <p:cBhvr>
                                        <p:cTn id="28" dur="800">
                                          <p:stCondLst>
                                            <p:cond delay="200"/>
                                          </p:stCondLst>
                                        </p:cTn>
                                        <p:tgtEl>
                                          <p:spTgt spid="2"/>
                                        </p:tgtEl>
                                        <p:attrNameLst>
                                          <p:attrName>xshear</p:attrName>
                                        </p:attrNameLst>
                                      </p:cBhvr>
                                      <p:to>
                                        <p:strVal val="-1.0"/>
                                      </p:to>
                                    </p:set>
                                    <p:set>
                                      <p:cBhvr>
                                        <p:cTn id="29" dur="1" fill="hold">
                                          <p:stCondLst>
                                            <p:cond delay="999"/>
                                          </p:stCondLst>
                                        </p:cTn>
                                        <p:tgtEl>
                                          <p:spTgt spid="2"/>
                                        </p:tgtEl>
                                        <p:attrNameLst>
                                          <p:attrName>style.visibility</p:attrName>
                                        </p:attrNameLst>
                                      </p:cBhvr>
                                      <p:to>
                                        <p:strVal val="hidden"/>
                                      </p:to>
                                    </p:set>
                                  </p:childTnLst>
                                </p:cTn>
                              </p:par>
                            </p:childTnLst>
                          </p:cTn>
                        </p:par>
                        <p:par>
                          <p:cTn id="30" fill="hold">
                            <p:stCondLst>
                              <p:cond delay="4500"/>
                            </p:stCondLst>
                            <p:childTnLst>
                              <p:par>
                                <p:cTn id="31" presetID="10" presetClass="entr" presetSubtype="0" fill="hold" grpId="0" nodeType="afterEffect">
                                  <p:stCondLst>
                                    <p:cond delay="0"/>
                                  </p:stCondLst>
                                  <p:childTnLst>
                                    <p:set>
                                      <p:cBhvr>
                                        <p:cTn id="32" dur="1" fill="hold">
                                          <p:stCondLst>
                                            <p:cond delay="0"/>
                                          </p:stCondLst>
                                        </p:cTn>
                                        <p:tgtEl>
                                          <p:spTgt spid="281605"/>
                                        </p:tgtEl>
                                        <p:attrNameLst>
                                          <p:attrName>style.visibility</p:attrName>
                                        </p:attrNameLst>
                                      </p:cBhvr>
                                      <p:to>
                                        <p:strVal val="visible"/>
                                      </p:to>
                                    </p:set>
                                    <p:animEffect transition="in" filter="fade">
                                      <p:cBhvr>
                                        <p:cTn id="33" dur="1000"/>
                                        <p:tgtEl>
                                          <p:spTgt spid="281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012160" y="3797816"/>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C</a:t>
            </a:r>
          </a:p>
        </p:txBody>
      </p:sp>
      <p:sp>
        <p:nvSpPr>
          <p:cNvPr id="3" name="Oval 2"/>
          <p:cNvSpPr/>
          <p:nvPr/>
        </p:nvSpPr>
        <p:spPr>
          <a:xfrm>
            <a:off x="2627784" y="3293760"/>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sp>
        <p:nvSpPr>
          <p:cNvPr id="4" name="Oval 3"/>
          <p:cNvSpPr/>
          <p:nvPr/>
        </p:nvSpPr>
        <p:spPr>
          <a:xfrm>
            <a:off x="4932040" y="1277536"/>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B</a:t>
            </a:r>
          </a:p>
        </p:txBody>
      </p:sp>
      <p:cxnSp>
        <p:nvCxnSpPr>
          <p:cNvPr id="6" name="Straight Arrow Connector 5"/>
          <p:cNvCxnSpPr>
            <a:stCxn id="3" idx="7"/>
            <a:endCxn id="4" idx="3"/>
          </p:cNvCxnSpPr>
          <p:nvPr/>
        </p:nvCxnSpPr>
        <p:spPr>
          <a:xfrm flipV="1">
            <a:off x="3058023" y="1707775"/>
            <a:ext cx="1947834" cy="1659802"/>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8" name="Straight Arrow Connector 7"/>
          <p:cNvCxnSpPr>
            <a:stCxn id="3" idx="6"/>
            <a:endCxn id="2" idx="2"/>
          </p:cNvCxnSpPr>
          <p:nvPr/>
        </p:nvCxnSpPr>
        <p:spPr>
          <a:xfrm>
            <a:off x="3131840" y="3545788"/>
            <a:ext cx="2880320" cy="504056"/>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11" name="TextBox 10"/>
          <p:cNvSpPr txBox="1"/>
          <p:nvPr/>
        </p:nvSpPr>
        <p:spPr>
          <a:xfrm>
            <a:off x="35496" y="917496"/>
            <a:ext cx="2520280" cy="369332"/>
          </a:xfrm>
          <a:prstGeom prst="rect">
            <a:avLst/>
          </a:prstGeom>
          <a:noFill/>
        </p:spPr>
        <p:txBody>
          <a:bodyPr wrap="square" rtlCol="0">
            <a:spAutoFit/>
          </a:bodyPr>
          <a:lstStyle/>
          <a:p>
            <a:r>
              <a:rPr lang="en-CA" dirty="0" err="1"/>
              <a:t>Vnorm</a:t>
            </a:r>
            <a:r>
              <a:rPr lang="en-CA" dirty="0"/>
              <a:t> = Cross(AB, AC)</a:t>
            </a:r>
          </a:p>
        </p:txBody>
      </p:sp>
      <p:sp>
        <p:nvSpPr>
          <p:cNvPr id="12" name="Oval 11"/>
          <p:cNvSpPr/>
          <p:nvPr/>
        </p:nvSpPr>
        <p:spPr>
          <a:xfrm>
            <a:off x="2555776" y="2141632"/>
            <a:ext cx="504056" cy="504056"/>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solidFill>
                  <a:schemeClr val="bg1"/>
                </a:solidFill>
              </a:rPr>
              <a:t>N</a:t>
            </a:r>
          </a:p>
        </p:txBody>
      </p:sp>
      <p:cxnSp>
        <p:nvCxnSpPr>
          <p:cNvPr id="13" name="Straight Arrow Connector 12"/>
          <p:cNvCxnSpPr>
            <a:stCxn id="3" idx="0"/>
            <a:endCxn id="12" idx="4"/>
          </p:cNvCxnSpPr>
          <p:nvPr/>
        </p:nvCxnSpPr>
        <p:spPr>
          <a:xfrm flipH="1" flipV="1">
            <a:off x="2807804" y="2645688"/>
            <a:ext cx="72008" cy="648072"/>
          </a:xfrm>
          <a:prstGeom prst="straightConnector1">
            <a:avLst/>
          </a:prstGeom>
          <a:ln w="76200">
            <a:tailEnd type="arrow"/>
          </a:ln>
        </p:spPr>
        <p:style>
          <a:lnRef idx="3">
            <a:schemeClr val="accent1"/>
          </a:lnRef>
          <a:fillRef idx="0">
            <a:schemeClr val="accent1"/>
          </a:fillRef>
          <a:effectRef idx="2">
            <a:schemeClr val="accent1"/>
          </a:effectRef>
          <a:fontRef idx="minor">
            <a:schemeClr val="tx1"/>
          </a:fontRef>
        </p:style>
      </p:cxnSp>
      <p:cxnSp>
        <p:nvCxnSpPr>
          <p:cNvPr id="18" name="Straight Connector 17"/>
          <p:cNvCxnSpPr/>
          <p:nvPr/>
        </p:nvCxnSpPr>
        <p:spPr>
          <a:xfrm flipV="1">
            <a:off x="2915816" y="2357656"/>
            <a:ext cx="360040" cy="432048"/>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20" name="Straight Connector 19"/>
          <p:cNvCxnSpPr/>
          <p:nvPr/>
        </p:nvCxnSpPr>
        <p:spPr>
          <a:xfrm flipV="1">
            <a:off x="3275856" y="2357656"/>
            <a:ext cx="0" cy="864096"/>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23" name="Straight Connector 22"/>
          <p:cNvCxnSpPr/>
          <p:nvPr/>
        </p:nvCxnSpPr>
        <p:spPr>
          <a:xfrm>
            <a:off x="2915816" y="2789704"/>
            <a:ext cx="504056" cy="72008"/>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26" name="Straight Connector 25"/>
          <p:cNvCxnSpPr/>
          <p:nvPr/>
        </p:nvCxnSpPr>
        <p:spPr>
          <a:xfrm flipV="1">
            <a:off x="3419872" y="2861712"/>
            <a:ext cx="0" cy="720080"/>
          </a:xfrm>
          <a:prstGeom prst="line">
            <a:avLst/>
          </a:prstGeom>
          <a:ln/>
        </p:spPr>
        <p:style>
          <a:lnRef idx="3">
            <a:schemeClr val="accent1"/>
          </a:lnRef>
          <a:fillRef idx="0">
            <a:schemeClr val="accent1"/>
          </a:fillRef>
          <a:effectRef idx="2">
            <a:schemeClr val="accent1"/>
          </a:effectRef>
          <a:fontRef idx="minor">
            <a:schemeClr val="tx1"/>
          </a:fontRef>
        </p:style>
      </p:cxnSp>
      <p:sp>
        <p:nvSpPr>
          <p:cNvPr id="29" name="TextBox 28"/>
          <p:cNvSpPr txBox="1"/>
          <p:nvPr/>
        </p:nvSpPr>
        <p:spPr>
          <a:xfrm>
            <a:off x="6804248" y="1493560"/>
            <a:ext cx="2016224" cy="369332"/>
          </a:xfrm>
          <a:prstGeom prst="rect">
            <a:avLst/>
          </a:prstGeom>
          <a:noFill/>
        </p:spPr>
        <p:txBody>
          <a:bodyPr wrap="square" rtlCol="0">
            <a:spAutoFit/>
          </a:bodyPr>
          <a:lstStyle/>
          <a:p>
            <a:r>
              <a:rPr lang="en-CA" dirty="0"/>
              <a:t>X = Cross(BA, BC,)</a:t>
            </a:r>
          </a:p>
        </p:txBody>
      </p:sp>
      <p:sp>
        <p:nvSpPr>
          <p:cNvPr id="32" name="TextBox 31"/>
          <p:cNvSpPr txBox="1"/>
          <p:nvPr/>
        </p:nvSpPr>
        <p:spPr>
          <a:xfrm>
            <a:off x="323528" y="4229864"/>
            <a:ext cx="3168352" cy="523220"/>
          </a:xfrm>
          <a:prstGeom prst="rect">
            <a:avLst/>
          </a:prstGeom>
          <a:noFill/>
        </p:spPr>
        <p:txBody>
          <a:bodyPr wrap="square" rtlCol="0">
            <a:spAutoFit/>
          </a:bodyPr>
          <a:lstStyle/>
          <a:p>
            <a:r>
              <a:rPr lang="en-CA" sz="2800" dirty="0"/>
              <a:t>A = 5, -6, 27 </a:t>
            </a:r>
            <a:r>
              <a:rPr lang="en-CA" sz="2800" dirty="0">
                <a:sym typeface="Wingdings" pitchFamily="2" charset="2"/>
              </a:rPr>
              <a:t> 0,0,0</a:t>
            </a:r>
            <a:endParaRPr lang="en-CA" sz="2800" dirty="0"/>
          </a:p>
        </p:txBody>
      </p:sp>
      <p:sp>
        <p:nvSpPr>
          <p:cNvPr id="33" name="TextBox 32"/>
          <p:cNvSpPr txBox="1"/>
          <p:nvPr/>
        </p:nvSpPr>
        <p:spPr>
          <a:xfrm>
            <a:off x="35496" y="1565568"/>
            <a:ext cx="2520280" cy="369332"/>
          </a:xfrm>
          <a:prstGeom prst="rect">
            <a:avLst/>
          </a:prstGeom>
          <a:noFill/>
        </p:spPr>
        <p:txBody>
          <a:bodyPr wrap="square" rtlCol="0">
            <a:spAutoFit/>
          </a:bodyPr>
          <a:lstStyle/>
          <a:p>
            <a:r>
              <a:rPr lang="en-CA" dirty="0" err="1"/>
              <a:t>Vnorm</a:t>
            </a:r>
            <a:r>
              <a:rPr lang="en-CA" dirty="0"/>
              <a:t> = Cross(B, C)</a:t>
            </a:r>
          </a:p>
        </p:txBody>
      </p:sp>
      <p:cxnSp>
        <p:nvCxnSpPr>
          <p:cNvPr id="34" name="Straight Arrow Connector 33"/>
          <p:cNvCxnSpPr/>
          <p:nvPr/>
        </p:nvCxnSpPr>
        <p:spPr>
          <a:xfrm flipH="1" flipV="1">
            <a:off x="5076056" y="1930"/>
            <a:ext cx="36004" cy="1584176"/>
          </a:xfrm>
          <a:prstGeom prst="straightConnector1">
            <a:avLst/>
          </a:prstGeom>
          <a:ln w="76200">
            <a:tailEnd type="arrow"/>
          </a:ln>
        </p:spPr>
        <p:style>
          <a:lnRef idx="3">
            <a:schemeClr val="accent1"/>
          </a:lnRef>
          <a:fillRef idx="0">
            <a:schemeClr val="accent1"/>
          </a:fillRef>
          <a:effectRef idx="2">
            <a:schemeClr val="accent1"/>
          </a:effectRef>
          <a:fontRef idx="minor">
            <a:schemeClr val="tx1"/>
          </a:fontRef>
        </p:style>
      </p:cxnSp>
      <p:cxnSp>
        <p:nvCxnSpPr>
          <p:cNvPr id="35" name="Straight Arrow Connector 34"/>
          <p:cNvCxnSpPr/>
          <p:nvPr/>
        </p:nvCxnSpPr>
        <p:spPr>
          <a:xfrm flipH="1" flipV="1">
            <a:off x="6300192" y="2285648"/>
            <a:ext cx="36004" cy="1584176"/>
          </a:xfrm>
          <a:prstGeom prst="straightConnector1">
            <a:avLst/>
          </a:prstGeom>
          <a:ln w="76200">
            <a:tailEnd type="arrow"/>
          </a:ln>
        </p:spPr>
        <p:style>
          <a:lnRef idx="3">
            <a:schemeClr val="accent1"/>
          </a:lnRef>
          <a:fillRef idx="0">
            <a:schemeClr val="accent1"/>
          </a:fillRef>
          <a:effectRef idx="2">
            <a:schemeClr val="accent1"/>
          </a:effectRef>
          <a:fontRef idx="minor">
            <a:schemeClr val="tx1"/>
          </a:fontRef>
        </p:style>
      </p:cxnSp>
      <p:cxnSp>
        <p:nvCxnSpPr>
          <p:cNvPr id="36" name="Straight Arrow Connector 35"/>
          <p:cNvCxnSpPr/>
          <p:nvPr/>
        </p:nvCxnSpPr>
        <p:spPr>
          <a:xfrm flipH="1" flipV="1">
            <a:off x="4499992" y="1277536"/>
            <a:ext cx="36004" cy="1584176"/>
          </a:xfrm>
          <a:prstGeom prst="straightConnector1">
            <a:avLst/>
          </a:prstGeom>
          <a:ln w="76200">
            <a:tailEnd type="arrow"/>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99592" y="411510"/>
            <a:ext cx="8064896" cy="4176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3600" b="1" dirty="0" err="1"/>
              <a:t>Shader</a:t>
            </a:r>
            <a:r>
              <a:rPr lang="en-CA" sz="3600" b="1" dirty="0"/>
              <a:t> “Program”</a:t>
            </a:r>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a:p>
            <a:pPr algn="ctr"/>
            <a:endParaRPr lang="en-CA" dirty="0"/>
          </a:p>
        </p:txBody>
      </p:sp>
      <p:sp>
        <p:nvSpPr>
          <p:cNvPr id="5" name="Rounded Rectangle 4"/>
          <p:cNvSpPr/>
          <p:nvPr/>
        </p:nvSpPr>
        <p:spPr>
          <a:xfrm>
            <a:off x="1763688" y="1419622"/>
            <a:ext cx="6696744" cy="100811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CA" dirty="0"/>
              <a:t>Vertex </a:t>
            </a:r>
            <a:r>
              <a:rPr lang="en-CA" dirty="0" err="1"/>
              <a:t>shader</a:t>
            </a:r>
            <a:endParaRPr lang="en-CA" dirty="0"/>
          </a:p>
        </p:txBody>
      </p:sp>
      <p:sp>
        <p:nvSpPr>
          <p:cNvPr id="6" name="Rounded Rectangle 5"/>
          <p:cNvSpPr/>
          <p:nvPr/>
        </p:nvSpPr>
        <p:spPr>
          <a:xfrm>
            <a:off x="1763688" y="2787774"/>
            <a:ext cx="6624736" cy="93610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Fragment </a:t>
            </a:r>
            <a:r>
              <a:rPr lang="en-CA" dirty="0" err="1"/>
              <a:t>Shader</a:t>
            </a:r>
            <a:endParaRPr lang="en-CA"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611560" y="267494"/>
            <a:ext cx="7543800" cy="608410"/>
          </a:xfrm>
        </p:spPr>
        <p:txBody>
          <a:bodyPr/>
          <a:lstStyle/>
          <a:p>
            <a:r>
              <a:rPr lang="en-US" dirty="0"/>
              <a:t>Normal</a:t>
            </a:r>
            <a:endParaRPr lang="en-CA" dirty="0"/>
          </a:p>
        </p:txBody>
      </p:sp>
      <p:sp>
        <p:nvSpPr>
          <p:cNvPr id="279555" name="Rectangle 3"/>
          <p:cNvSpPr>
            <a:spLocks noGrp="1" noChangeArrowheads="1"/>
          </p:cNvSpPr>
          <p:nvPr>
            <p:ph type="body" idx="1"/>
          </p:nvPr>
        </p:nvSpPr>
        <p:spPr>
          <a:xfrm>
            <a:off x="858839" y="921544"/>
            <a:ext cx="7623175" cy="1729979"/>
          </a:xfrm>
        </p:spPr>
        <p:txBody>
          <a:bodyPr>
            <a:normAutofit fontScale="92500" lnSpcReduction="10000"/>
          </a:bodyPr>
          <a:lstStyle/>
          <a:p>
            <a:r>
              <a:rPr lang="en-US"/>
              <a:t>Notice that the angle is based on an imaginary plane exactly perpendicular (90</a:t>
            </a:r>
            <a:r>
              <a:rPr lang="en-US">
                <a:cs typeface="Tahoma" pitchFamily="34" charset="0"/>
              </a:rPr>
              <a:t>°) from the surface.</a:t>
            </a:r>
          </a:p>
          <a:p>
            <a:r>
              <a:rPr lang="en-US">
                <a:cs typeface="Tahoma" pitchFamily="34" charset="0"/>
              </a:rPr>
              <a:t>This is the ‘normal’ to the surface</a:t>
            </a:r>
            <a:endParaRPr lang="en-US" i="1">
              <a:cs typeface="Tahoma" pitchFamily="34" charset="0"/>
            </a:endParaRPr>
          </a:p>
          <a:p>
            <a:endParaRPr lang="en-US"/>
          </a:p>
          <a:p>
            <a:endParaRPr lang="en-CA"/>
          </a:p>
        </p:txBody>
      </p:sp>
      <p:sp>
        <p:nvSpPr>
          <p:cNvPr id="27955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5"/>
          <p:cNvGrpSpPr>
            <a:grpSpLocks/>
          </p:cNvGrpSpPr>
          <p:nvPr/>
        </p:nvGrpSpPr>
        <p:grpSpPr bwMode="auto">
          <a:xfrm rot="-1003724">
            <a:off x="3324226" y="3211116"/>
            <a:ext cx="1285875" cy="1398984"/>
            <a:chOff x="511" y="2468"/>
            <a:chExt cx="628" cy="911"/>
          </a:xfrm>
        </p:grpSpPr>
        <p:grpSp>
          <p:nvGrpSpPr>
            <p:cNvPr id="3" name="Group 6"/>
            <p:cNvGrpSpPr>
              <a:grpSpLocks/>
            </p:cNvGrpSpPr>
            <p:nvPr/>
          </p:nvGrpSpPr>
          <p:grpSpPr bwMode="auto">
            <a:xfrm rot="1965719">
              <a:off x="541" y="2468"/>
              <a:ext cx="228" cy="281"/>
              <a:chOff x="744" y="2522"/>
              <a:chExt cx="312" cy="384"/>
            </a:xfrm>
          </p:grpSpPr>
          <p:sp>
            <p:nvSpPr>
              <p:cNvPr id="279559" name="Oval 7"/>
              <p:cNvSpPr>
                <a:spLocks noChangeArrowheads="1"/>
              </p:cNvSpPr>
              <p:nvPr/>
            </p:nvSpPr>
            <p:spPr bwMode="auto">
              <a:xfrm>
                <a:off x="864" y="2688"/>
                <a:ext cx="192" cy="192"/>
              </a:xfrm>
              <a:prstGeom prst="ellipse">
                <a:avLst/>
              </a:prstGeom>
              <a:solidFill>
                <a:srgbClr val="FFFF00"/>
              </a:solidFill>
              <a:ln w="9525">
                <a:solidFill>
                  <a:schemeClr val="tx1"/>
                </a:solidFill>
                <a:round/>
                <a:headEnd/>
                <a:tailEnd/>
              </a:ln>
              <a:effectLst/>
            </p:spPr>
            <p:txBody>
              <a:bodyPr wrap="none" anchor="ctr"/>
              <a:lstStyle/>
              <a:p>
                <a:endParaRPr lang="en-CA"/>
              </a:p>
            </p:txBody>
          </p:sp>
          <p:sp>
            <p:nvSpPr>
              <p:cNvPr id="279560" name="AutoShape 8"/>
              <p:cNvSpPr>
                <a:spLocks noChangeArrowheads="1"/>
              </p:cNvSpPr>
              <p:nvPr/>
            </p:nvSpPr>
            <p:spPr bwMode="auto">
              <a:xfrm rot="7565897">
                <a:off x="672" y="2594"/>
                <a:ext cx="384" cy="24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B8FF"/>
              </a:solidFill>
              <a:ln w="9525">
                <a:solidFill>
                  <a:schemeClr val="tx1"/>
                </a:solidFill>
                <a:miter lim="800000"/>
                <a:headEnd/>
                <a:tailEnd/>
              </a:ln>
              <a:effectLst/>
            </p:spPr>
            <p:txBody>
              <a:bodyPr wrap="none" anchor="ctr"/>
              <a:lstStyle/>
              <a:p>
                <a:endParaRPr lang="en-CA"/>
              </a:p>
            </p:txBody>
          </p:sp>
        </p:grpSp>
        <p:sp>
          <p:nvSpPr>
            <p:cNvPr id="279561" name="Line 9"/>
            <p:cNvSpPr>
              <a:spLocks noChangeShapeType="1"/>
            </p:cNvSpPr>
            <p:nvPr/>
          </p:nvSpPr>
          <p:spPr bwMode="auto">
            <a:xfrm rot="2144606">
              <a:off x="511" y="2914"/>
              <a:ext cx="628" cy="465"/>
            </a:xfrm>
            <a:prstGeom prst="line">
              <a:avLst/>
            </a:prstGeom>
            <a:noFill/>
            <a:ln w="76200">
              <a:solidFill>
                <a:srgbClr val="FFFF00"/>
              </a:solidFill>
              <a:round/>
              <a:headEnd/>
              <a:tailEnd type="stealth" w="lg" len="lg"/>
            </a:ln>
            <a:effectLst/>
          </p:spPr>
          <p:txBody>
            <a:bodyPr/>
            <a:lstStyle/>
            <a:p>
              <a:endParaRPr lang="en-CA"/>
            </a:p>
          </p:txBody>
        </p:sp>
      </p:grpSp>
      <p:sp>
        <p:nvSpPr>
          <p:cNvPr id="279562" name="Rectangle 10"/>
          <p:cNvSpPr>
            <a:spLocks noChangeArrowheads="1"/>
          </p:cNvSpPr>
          <p:nvPr/>
        </p:nvSpPr>
        <p:spPr bwMode="auto">
          <a:xfrm>
            <a:off x="2722564" y="4737497"/>
            <a:ext cx="3659187" cy="208359"/>
          </a:xfrm>
          <a:prstGeom prst="rect">
            <a:avLst/>
          </a:prstGeom>
          <a:solidFill>
            <a:srgbClr val="00B8FF"/>
          </a:solidFill>
          <a:ln w="9525">
            <a:solidFill>
              <a:schemeClr val="tx1"/>
            </a:solidFill>
            <a:miter lim="800000"/>
            <a:headEnd/>
            <a:tailEnd/>
          </a:ln>
          <a:effectLst/>
        </p:spPr>
        <p:txBody>
          <a:bodyPr wrap="none" anchor="ctr"/>
          <a:lstStyle/>
          <a:p>
            <a:endParaRPr lang="en-CA"/>
          </a:p>
        </p:txBody>
      </p:sp>
      <p:sp>
        <p:nvSpPr>
          <p:cNvPr id="279567" name="Line 15"/>
          <p:cNvSpPr>
            <a:spLocks noChangeShapeType="1"/>
          </p:cNvSpPr>
          <p:nvPr/>
        </p:nvSpPr>
        <p:spPr bwMode="auto">
          <a:xfrm rot="20459117" flipH="1">
            <a:off x="4359276" y="3863579"/>
            <a:ext cx="1285875" cy="714375"/>
          </a:xfrm>
          <a:prstGeom prst="line">
            <a:avLst/>
          </a:prstGeom>
          <a:noFill/>
          <a:ln w="76200">
            <a:solidFill>
              <a:srgbClr val="FFFF00"/>
            </a:solidFill>
            <a:round/>
            <a:headEnd type="stealth" w="lg" len="lg"/>
            <a:tailEnd type="none" w="lg" len="lg"/>
          </a:ln>
          <a:effectLst/>
        </p:spPr>
        <p:txBody>
          <a:bodyPr/>
          <a:lstStyle/>
          <a:p>
            <a:endParaRPr lang="en-CA"/>
          </a:p>
        </p:txBody>
      </p:sp>
      <p:sp>
        <p:nvSpPr>
          <p:cNvPr id="279568" name="Line 16"/>
          <p:cNvSpPr>
            <a:spLocks noChangeShapeType="1"/>
          </p:cNvSpPr>
          <p:nvPr/>
        </p:nvSpPr>
        <p:spPr bwMode="auto">
          <a:xfrm flipV="1">
            <a:off x="4540250" y="2683669"/>
            <a:ext cx="0" cy="2026444"/>
          </a:xfrm>
          <a:prstGeom prst="line">
            <a:avLst/>
          </a:prstGeom>
          <a:noFill/>
          <a:ln w="114300">
            <a:solidFill>
              <a:srgbClr val="339966"/>
            </a:solidFill>
            <a:round/>
            <a:headEnd/>
            <a:tailEnd type="stealth" w="lg" len="lg"/>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79555">
                                            <p:txEl>
                                              <p:pRg st="0" end="0"/>
                                            </p:txEl>
                                          </p:spTgt>
                                        </p:tgtEl>
                                        <p:attrNameLst>
                                          <p:attrName>style.visibility</p:attrName>
                                        </p:attrNameLst>
                                      </p:cBhvr>
                                      <p:to>
                                        <p:strVal val="visible"/>
                                      </p:to>
                                    </p:set>
                                    <p:anim calcmode="discrete" valueType="clr">
                                      <p:cBhvr override="childStyle">
                                        <p:cTn id="7" dur="80"/>
                                        <p:tgtEl>
                                          <p:spTgt spid="27955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7955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7955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79555">
                                            <p:txEl>
                                              <p:pRg st="1" end="1"/>
                                            </p:txEl>
                                          </p:spTgt>
                                        </p:tgtEl>
                                        <p:attrNameLst>
                                          <p:attrName>style.visibility</p:attrName>
                                        </p:attrNameLst>
                                      </p:cBhvr>
                                      <p:to>
                                        <p:strVal val="visible"/>
                                      </p:to>
                                    </p:set>
                                    <p:anim calcmode="discrete" valueType="clr">
                                      <p:cBhvr override="childStyle">
                                        <p:cTn id="14" dur="80"/>
                                        <p:tgtEl>
                                          <p:spTgt spid="27955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7955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79555">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79556"/>
                                        </p:tgtEl>
                                        <p:attrNameLst>
                                          <p:attrName>style.visibility</p:attrName>
                                        </p:attrNameLst>
                                      </p:cBhvr>
                                      <p:to>
                                        <p:strVal val="visible"/>
                                      </p:to>
                                    </p:set>
                                    <p:animEffect transition="in" filter="fade">
                                      <p:cBhvr>
                                        <p:cTn id="21" dur="500"/>
                                        <p:tgtEl>
                                          <p:spTgt spid="279556"/>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528" fill="hold" grpId="0" nodeType="clickEffect">
                                  <p:stCondLst>
                                    <p:cond delay="0"/>
                                  </p:stCondLst>
                                  <p:childTnLst>
                                    <p:set>
                                      <p:cBhvr>
                                        <p:cTn id="25" dur="1" fill="hold">
                                          <p:stCondLst>
                                            <p:cond delay="0"/>
                                          </p:stCondLst>
                                        </p:cTn>
                                        <p:tgtEl>
                                          <p:spTgt spid="279568"/>
                                        </p:tgtEl>
                                        <p:attrNameLst>
                                          <p:attrName>style.visibility</p:attrName>
                                        </p:attrNameLst>
                                      </p:cBhvr>
                                      <p:to>
                                        <p:strVal val="visible"/>
                                      </p:to>
                                    </p:set>
                                    <p:anim calcmode="lin" valueType="num">
                                      <p:cBhvr>
                                        <p:cTn id="26" dur="1000" fill="hold"/>
                                        <p:tgtEl>
                                          <p:spTgt spid="279568"/>
                                        </p:tgtEl>
                                        <p:attrNameLst>
                                          <p:attrName>ppt_w</p:attrName>
                                        </p:attrNameLst>
                                      </p:cBhvr>
                                      <p:tavLst>
                                        <p:tav tm="0">
                                          <p:val>
                                            <p:fltVal val="0"/>
                                          </p:val>
                                        </p:tav>
                                        <p:tav tm="100000">
                                          <p:val>
                                            <p:strVal val="#ppt_w"/>
                                          </p:val>
                                        </p:tav>
                                      </p:tavLst>
                                    </p:anim>
                                    <p:anim calcmode="lin" valueType="num">
                                      <p:cBhvr>
                                        <p:cTn id="27" dur="1000" fill="hold"/>
                                        <p:tgtEl>
                                          <p:spTgt spid="279568"/>
                                        </p:tgtEl>
                                        <p:attrNameLst>
                                          <p:attrName>ppt_h</p:attrName>
                                        </p:attrNameLst>
                                      </p:cBhvr>
                                      <p:tavLst>
                                        <p:tav tm="0">
                                          <p:val>
                                            <p:fltVal val="0"/>
                                          </p:val>
                                        </p:tav>
                                        <p:tav tm="100000">
                                          <p:val>
                                            <p:strVal val="#ppt_h"/>
                                          </p:val>
                                        </p:tav>
                                      </p:tavLst>
                                    </p:anim>
                                    <p:anim calcmode="lin" valueType="num">
                                      <p:cBhvr>
                                        <p:cTn id="28" dur="1000" fill="hold"/>
                                        <p:tgtEl>
                                          <p:spTgt spid="279568"/>
                                        </p:tgtEl>
                                        <p:attrNameLst>
                                          <p:attrName>ppt_x</p:attrName>
                                        </p:attrNameLst>
                                      </p:cBhvr>
                                      <p:tavLst>
                                        <p:tav tm="0">
                                          <p:val>
                                            <p:fltVal val="0.5"/>
                                          </p:val>
                                        </p:tav>
                                        <p:tav tm="100000">
                                          <p:val>
                                            <p:strVal val="#ppt_x"/>
                                          </p:val>
                                        </p:tav>
                                      </p:tavLst>
                                    </p:anim>
                                    <p:anim calcmode="lin" valueType="num">
                                      <p:cBhvr>
                                        <p:cTn id="29" dur="1000" fill="hold"/>
                                        <p:tgtEl>
                                          <p:spTgt spid="27956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build="p"/>
      <p:bldP spid="279556" grpId="0" animBg="1"/>
      <p:bldP spid="27956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539552" y="123478"/>
            <a:ext cx="7543800" cy="608410"/>
          </a:xfrm>
        </p:spPr>
        <p:txBody>
          <a:bodyPr/>
          <a:lstStyle/>
          <a:p>
            <a:r>
              <a:rPr lang="en-US" dirty="0"/>
              <a:t>Specular</a:t>
            </a:r>
            <a:endParaRPr lang="en-CA" dirty="0"/>
          </a:p>
        </p:txBody>
      </p:sp>
      <p:sp>
        <p:nvSpPr>
          <p:cNvPr id="283651" name="Rectangle 3"/>
          <p:cNvSpPr>
            <a:spLocks noGrp="1" noChangeArrowheads="1"/>
          </p:cNvSpPr>
          <p:nvPr>
            <p:ph type="body" idx="1"/>
          </p:nvPr>
        </p:nvSpPr>
        <p:spPr>
          <a:xfrm>
            <a:off x="858839" y="921544"/>
            <a:ext cx="7623175" cy="1729979"/>
          </a:xfrm>
        </p:spPr>
        <p:txBody>
          <a:bodyPr>
            <a:normAutofit/>
          </a:bodyPr>
          <a:lstStyle/>
          <a:p>
            <a:pPr>
              <a:lnSpc>
                <a:spcPct val="90000"/>
              </a:lnSpc>
            </a:pPr>
            <a:r>
              <a:rPr lang="en-US" sz="2400" dirty="0"/>
              <a:t>Other things have this property, too. </a:t>
            </a:r>
          </a:p>
          <a:p>
            <a:pPr>
              <a:lnSpc>
                <a:spcPct val="90000"/>
              </a:lnSpc>
            </a:pPr>
            <a:r>
              <a:rPr lang="en-US" sz="2400" dirty="0"/>
              <a:t>Water (at shallow angles)</a:t>
            </a:r>
          </a:p>
          <a:p>
            <a:pPr>
              <a:lnSpc>
                <a:spcPct val="90000"/>
              </a:lnSpc>
            </a:pPr>
            <a:r>
              <a:rPr lang="en-US" sz="2400" dirty="0"/>
              <a:t>Shinny things</a:t>
            </a:r>
          </a:p>
          <a:p>
            <a:pPr>
              <a:lnSpc>
                <a:spcPct val="90000"/>
              </a:lnSpc>
            </a:pPr>
            <a:r>
              <a:rPr lang="en-US" sz="2400" dirty="0"/>
              <a:t>Even your face…</a:t>
            </a:r>
            <a:endParaRPr lang="en-US" sz="2400" i="1" dirty="0">
              <a:cs typeface="Tahoma" pitchFamily="34" charset="0"/>
            </a:endParaRPr>
          </a:p>
          <a:p>
            <a:pPr>
              <a:lnSpc>
                <a:spcPct val="90000"/>
              </a:lnSpc>
            </a:pPr>
            <a:endParaRPr lang="en-US" sz="2400" dirty="0"/>
          </a:p>
          <a:p>
            <a:pPr>
              <a:lnSpc>
                <a:spcPct val="90000"/>
              </a:lnSpc>
            </a:pPr>
            <a:endParaRPr lang="en-CA" sz="2400" dirty="0"/>
          </a:p>
        </p:txBody>
      </p:sp>
      <p:sp>
        <p:nvSpPr>
          <p:cNvPr id="28365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283661" name="Picture 13" descr="beautiful_water_reflections_1"/>
          <p:cNvPicPr>
            <a:picLocks noChangeAspect="1" noChangeArrowheads="1"/>
          </p:cNvPicPr>
          <p:nvPr/>
        </p:nvPicPr>
        <p:blipFill>
          <a:blip r:embed="rId3" cstate="print"/>
          <a:srcRect/>
          <a:stretch>
            <a:fillRect/>
          </a:stretch>
        </p:blipFill>
        <p:spPr bwMode="auto">
          <a:xfrm>
            <a:off x="360364" y="2928937"/>
            <a:ext cx="3406775" cy="1685925"/>
          </a:xfrm>
          <a:prstGeom prst="rect">
            <a:avLst/>
          </a:prstGeom>
          <a:noFill/>
        </p:spPr>
      </p:pic>
      <p:pic>
        <p:nvPicPr>
          <p:cNvPr id="283662" name="Picture 14" descr="fish-reflection"/>
          <p:cNvPicPr>
            <a:picLocks noChangeAspect="1" noChangeArrowheads="1"/>
          </p:cNvPicPr>
          <p:nvPr/>
        </p:nvPicPr>
        <p:blipFill>
          <a:blip r:embed="rId4" cstate="print"/>
          <a:srcRect/>
          <a:stretch>
            <a:fillRect/>
          </a:stretch>
        </p:blipFill>
        <p:spPr bwMode="auto">
          <a:xfrm>
            <a:off x="3090863" y="3519488"/>
            <a:ext cx="2205037" cy="1240631"/>
          </a:xfrm>
          <a:prstGeom prst="rect">
            <a:avLst/>
          </a:prstGeom>
          <a:noFill/>
        </p:spPr>
      </p:pic>
      <p:pic>
        <p:nvPicPr>
          <p:cNvPr id="283663" name="Picture 15" descr="christmas-balls-main_Full"/>
          <p:cNvPicPr>
            <a:picLocks noChangeAspect="1" noChangeArrowheads="1"/>
          </p:cNvPicPr>
          <p:nvPr/>
        </p:nvPicPr>
        <p:blipFill>
          <a:blip r:embed="rId5" cstate="print"/>
          <a:srcRect/>
          <a:stretch>
            <a:fillRect/>
          </a:stretch>
        </p:blipFill>
        <p:spPr bwMode="auto">
          <a:xfrm>
            <a:off x="6788150" y="1519238"/>
            <a:ext cx="2160588" cy="1924050"/>
          </a:xfrm>
          <a:prstGeom prst="rect">
            <a:avLst/>
          </a:prstGeom>
          <a:noFill/>
        </p:spPr>
      </p:pic>
      <p:pic>
        <p:nvPicPr>
          <p:cNvPr id="283664" name="Picture 16" descr="bowling_ball_250x251"/>
          <p:cNvPicPr>
            <a:picLocks noChangeAspect="1" noChangeArrowheads="1"/>
          </p:cNvPicPr>
          <p:nvPr/>
        </p:nvPicPr>
        <p:blipFill>
          <a:blip r:embed="rId6" cstate="print"/>
          <a:srcRect/>
          <a:stretch>
            <a:fillRect/>
          </a:stretch>
        </p:blipFill>
        <p:spPr bwMode="auto">
          <a:xfrm>
            <a:off x="6419850" y="3051572"/>
            <a:ext cx="2433638" cy="1832372"/>
          </a:xfrm>
          <a:prstGeom prst="rect">
            <a:avLst/>
          </a:prstGeom>
          <a:noFill/>
        </p:spPr>
      </p:pic>
      <p:pic>
        <p:nvPicPr>
          <p:cNvPr id="283665" name="Picture 17" descr="fergieshiningcartier"/>
          <p:cNvPicPr>
            <a:picLocks noChangeAspect="1" noChangeArrowheads="1"/>
          </p:cNvPicPr>
          <p:nvPr/>
        </p:nvPicPr>
        <p:blipFill>
          <a:blip r:embed="rId7" cstate="print"/>
          <a:srcRect/>
          <a:stretch>
            <a:fillRect/>
          </a:stretch>
        </p:blipFill>
        <p:spPr bwMode="auto">
          <a:xfrm>
            <a:off x="6059489" y="1620442"/>
            <a:ext cx="1571625" cy="1772840"/>
          </a:xfrm>
          <a:prstGeom prst="rect">
            <a:avLst/>
          </a:prstGeom>
          <a:noFill/>
        </p:spPr>
      </p:pic>
      <p:pic>
        <p:nvPicPr>
          <p:cNvPr id="283666" name="Picture 18" descr="fig03-01"/>
          <p:cNvPicPr>
            <a:picLocks noChangeAspect="1" noChangeArrowheads="1"/>
          </p:cNvPicPr>
          <p:nvPr/>
        </p:nvPicPr>
        <p:blipFill>
          <a:blip r:embed="rId8" cstate="print"/>
          <a:srcRect/>
          <a:stretch>
            <a:fillRect/>
          </a:stretch>
        </p:blipFill>
        <p:spPr bwMode="auto">
          <a:xfrm>
            <a:off x="3974490" y="2499742"/>
            <a:ext cx="2362812" cy="1778174"/>
          </a:xfrm>
          <a:prstGeom prst="rect">
            <a:avLst/>
          </a:prstGeom>
          <a:noFill/>
        </p:spPr>
      </p:pic>
      <p:sp>
        <p:nvSpPr>
          <p:cNvPr id="283667" name="AutoShape 19"/>
          <p:cNvSpPr>
            <a:spLocks noChangeArrowheads="1"/>
          </p:cNvSpPr>
          <p:nvPr/>
        </p:nvSpPr>
        <p:spPr bwMode="auto">
          <a:xfrm>
            <a:off x="711200" y="2659856"/>
            <a:ext cx="3068638" cy="1766888"/>
          </a:xfrm>
          <a:prstGeom prst="wedgeRoundRectCallout">
            <a:avLst>
              <a:gd name="adj1" fmla="val 84815"/>
              <a:gd name="adj2" fmla="val -3370"/>
              <a:gd name="adj3" fmla="val 16667"/>
            </a:avLst>
          </a:prstGeom>
          <a:solidFill>
            <a:srgbClr val="00B8FF"/>
          </a:solidFill>
          <a:ln w="9525">
            <a:solidFill>
              <a:schemeClr val="tx1"/>
            </a:solidFill>
            <a:miter lim="800000"/>
            <a:headEnd/>
            <a:tailEnd/>
          </a:ln>
          <a:effectLst/>
        </p:spPr>
        <p:txBody>
          <a:bodyPr/>
          <a:lstStyle/>
          <a:p>
            <a:pPr algn="ctr"/>
            <a:r>
              <a:rPr lang="en-GB" sz="2000">
                <a:solidFill>
                  <a:schemeClr val="bg1"/>
                </a:solidFill>
              </a:rPr>
              <a:t>This is the nVidia “Dawn” demo. A great deal of the realism is from the specular component.</a:t>
            </a:r>
          </a:p>
          <a:p>
            <a:pPr algn="ctr"/>
            <a:r>
              <a:rPr lang="en-GB" sz="2000">
                <a:solidFill>
                  <a:schemeClr val="bg1"/>
                </a:solidFill>
              </a:rPr>
              <a:t>(See “GPU Gems”)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83651">
                                            <p:txEl>
                                              <p:pRg st="0" end="0"/>
                                            </p:txEl>
                                          </p:spTgt>
                                        </p:tgtEl>
                                        <p:attrNameLst>
                                          <p:attrName>style.visibility</p:attrName>
                                        </p:attrNameLst>
                                      </p:cBhvr>
                                      <p:to>
                                        <p:strVal val="visible"/>
                                      </p:to>
                                    </p:set>
                                    <p:anim calcmode="discrete" valueType="clr">
                                      <p:cBhvr override="childStyle">
                                        <p:cTn id="7" dur="80"/>
                                        <p:tgtEl>
                                          <p:spTgt spid="28365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8365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8365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83651">
                                            <p:txEl>
                                              <p:pRg st="1" end="1"/>
                                            </p:txEl>
                                          </p:spTgt>
                                        </p:tgtEl>
                                        <p:attrNameLst>
                                          <p:attrName>style.visibility</p:attrName>
                                        </p:attrNameLst>
                                      </p:cBhvr>
                                      <p:to>
                                        <p:strVal val="visible"/>
                                      </p:to>
                                    </p:set>
                                    <p:anim calcmode="discrete" valueType="clr">
                                      <p:cBhvr override="childStyle">
                                        <p:cTn id="14" dur="80"/>
                                        <p:tgtEl>
                                          <p:spTgt spid="28365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83651">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83651">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83661"/>
                                        </p:tgtEl>
                                        <p:attrNameLst>
                                          <p:attrName>style.visibility</p:attrName>
                                        </p:attrNameLst>
                                      </p:cBhvr>
                                      <p:to>
                                        <p:strVal val="visible"/>
                                      </p:to>
                                    </p:set>
                                    <p:animEffect transition="in" filter="checkerboard(across)">
                                      <p:cBhvr>
                                        <p:cTn id="21" dur="500"/>
                                        <p:tgtEl>
                                          <p:spTgt spid="283661"/>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83662"/>
                                        </p:tgtEl>
                                        <p:attrNameLst>
                                          <p:attrName>style.visibility</p:attrName>
                                        </p:attrNameLst>
                                      </p:cBhvr>
                                      <p:to>
                                        <p:strVal val="visible"/>
                                      </p:to>
                                    </p:set>
                                    <p:animEffect transition="in" filter="checkerboard(across)">
                                      <p:cBhvr>
                                        <p:cTn id="26" dur="500"/>
                                        <p:tgtEl>
                                          <p:spTgt spid="283662"/>
                                        </p:tgtEl>
                                      </p:cBhvr>
                                    </p:animEffec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283651">
                                            <p:txEl>
                                              <p:pRg st="2" end="2"/>
                                            </p:txEl>
                                          </p:spTgt>
                                        </p:tgtEl>
                                        <p:attrNameLst>
                                          <p:attrName>style.visibility</p:attrName>
                                        </p:attrNameLst>
                                      </p:cBhvr>
                                      <p:to>
                                        <p:strVal val="visible"/>
                                      </p:to>
                                    </p:set>
                                    <p:anim calcmode="discrete" valueType="clr">
                                      <p:cBhvr override="childStyle">
                                        <p:cTn id="31" dur="80"/>
                                        <p:tgtEl>
                                          <p:spTgt spid="28365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283651">
                                            <p:txEl>
                                              <p:pRg st="2" end="2"/>
                                            </p:txEl>
                                          </p:spTgt>
                                        </p:tgtEl>
                                        <p:attrNameLst>
                                          <p:attrName>fillcolor</p:attrName>
                                        </p:attrNameLst>
                                      </p:cBhvr>
                                      <p:tavLst>
                                        <p:tav tm="0">
                                          <p:val>
                                            <p:clrVal>
                                              <a:schemeClr val="accent2"/>
                                            </p:clrVal>
                                          </p:val>
                                        </p:tav>
                                        <p:tav tm="50000">
                                          <p:val>
                                            <p:clrVal>
                                              <a:schemeClr val="hlink"/>
                                            </p:clrVal>
                                          </p:val>
                                        </p:tav>
                                      </p:tavLst>
                                    </p:anim>
                                    <p:set>
                                      <p:cBhvr>
                                        <p:cTn id="33" dur="80"/>
                                        <p:tgtEl>
                                          <p:spTgt spid="283651">
                                            <p:txEl>
                                              <p:pRg st="2" end="2"/>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283663"/>
                                        </p:tgtEl>
                                        <p:attrNameLst>
                                          <p:attrName>style.visibility</p:attrName>
                                        </p:attrNameLst>
                                      </p:cBhvr>
                                      <p:to>
                                        <p:strVal val="visible"/>
                                      </p:to>
                                    </p:set>
                                    <p:animEffect transition="in" filter="checkerboard(across)">
                                      <p:cBhvr>
                                        <p:cTn id="38" dur="500"/>
                                        <p:tgtEl>
                                          <p:spTgt spid="283663"/>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283664"/>
                                        </p:tgtEl>
                                        <p:attrNameLst>
                                          <p:attrName>style.visibility</p:attrName>
                                        </p:attrNameLst>
                                      </p:cBhvr>
                                      <p:to>
                                        <p:strVal val="visible"/>
                                      </p:to>
                                    </p:set>
                                    <p:animEffect transition="in" filter="checkerboard(across)">
                                      <p:cBhvr>
                                        <p:cTn id="43" dur="500"/>
                                        <p:tgtEl>
                                          <p:spTgt spid="283664"/>
                                        </p:tgtEl>
                                      </p:cBhvr>
                                    </p:animEffect>
                                  </p:childTnLst>
                                </p:cTn>
                              </p:par>
                            </p:childTnLst>
                          </p:cTn>
                        </p:par>
                      </p:childTnLst>
                    </p:cTn>
                  </p:par>
                  <p:par>
                    <p:cTn id="44" fill="hold">
                      <p:stCondLst>
                        <p:cond delay="indefinite"/>
                      </p:stCondLst>
                      <p:childTnLst>
                        <p:par>
                          <p:cTn id="45" fill="hold">
                            <p:stCondLst>
                              <p:cond delay="0"/>
                            </p:stCondLst>
                            <p:childTnLst>
                              <p:par>
                                <p:cTn id="46" presetID="27" presetClass="entr" presetSubtype="0" fill="hold" grpId="0" nodeType="clickEffect">
                                  <p:stCondLst>
                                    <p:cond delay="0"/>
                                  </p:stCondLst>
                                  <p:iterate type="lt">
                                    <p:tmPct val="50000"/>
                                  </p:iterate>
                                  <p:childTnLst>
                                    <p:set>
                                      <p:cBhvr>
                                        <p:cTn id="47" dur="1" fill="hold">
                                          <p:stCondLst>
                                            <p:cond delay="0"/>
                                          </p:stCondLst>
                                        </p:cTn>
                                        <p:tgtEl>
                                          <p:spTgt spid="283651">
                                            <p:txEl>
                                              <p:pRg st="3" end="3"/>
                                            </p:txEl>
                                          </p:spTgt>
                                        </p:tgtEl>
                                        <p:attrNameLst>
                                          <p:attrName>style.visibility</p:attrName>
                                        </p:attrNameLst>
                                      </p:cBhvr>
                                      <p:to>
                                        <p:strVal val="visible"/>
                                      </p:to>
                                    </p:set>
                                    <p:anim calcmode="discrete" valueType="clr">
                                      <p:cBhvr override="childStyle">
                                        <p:cTn id="48" dur="80"/>
                                        <p:tgtEl>
                                          <p:spTgt spid="28365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9" dur="80"/>
                                        <p:tgtEl>
                                          <p:spTgt spid="283651">
                                            <p:txEl>
                                              <p:pRg st="3" end="3"/>
                                            </p:txEl>
                                          </p:spTgt>
                                        </p:tgtEl>
                                        <p:attrNameLst>
                                          <p:attrName>fillcolor</p:attrName>
                                        </p:attrNameLst>
                                      </p:cBhvr>
                                      <p:tavLst>
                                        <p:tav tm="0">
                                          <p:val>
                                            <p:clrVal>
                                              <a:schemeClr val="accent2"/>
                                            </p:clrVal>
                                          </p:val>
                                        </p:tav>
                                        <p:tav tm="50000">
                                          <p:val>
                                            <p:clrVal>
                                              <a:schemeClr val="hlink"/>
                                            </p:clrVal>
                                          </p:val>
                                        </p:tav>
                                      </p:tavLst>
                                    </p:anim>
                                    <p:set>
                                      <p:cBhvr>
                                        <p:cTn id="50" dur="80"/>
                                        <p:tgtEl>
                                          <p:spTgt spid="283651">
                                            <p:txEl>
                                              <p:pRg st="3" end="3"/>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nodeType="clickEffect">
                                  <p:stCondLst>
                                    <p:cond delay="0"/>
                                  </p:stCondLst>
                                  <p:childTnLst>
                                    <p:set>
                                      <p:cBhvr>
                                        <p:cTn id="54" dur="1" fill="hold">
                                          <p:stCondLst>
                                            <p:cond delay="0"/>
                                          </p:stCondLst>
                                        </p:cTn>
                                        <p:tgtEl>
                                          <p:spTgt spid="283665"/>
                                        </p:tgtEl>
                                        <p:attrNameLst>
                                          <p:attrName>style.visibility</p:attrName>
                                        </p:attrNameLst>
                                      </p:cBhvr>
                                      <p:to>
                                        <p:strVal val="visible"/>
                                      </p:to>
                                    </p:set>
                                    <p:animEffect transition="in" filter="checkerboard(across)">
                                      <p:cBhvr>
                                        <p:cTn id="55" dur="500"/>
                                        <p:tgtEl>
                                          <p:spTgt spid="283665"/>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nodeType="clickEffect">
                                  <p:stCondLst>
                                    <p:cond delay="0"/>
                                  </p:stCondLst>
                                  <p:childTnLst>
                                    <p:set>
                                      <p:cBhvr>
                                        <p:cTn id="59" dur="1" fill="hold">
                                          <p:stCondLst>
                                            <p:cond delay="0"/>
                                          </p:stCondLst>
                                        </p:cTn>
                                        <p:tgtEl>
                                          <p:spTgt spid="283666"/>
                                        </p:tgtEl>
                                        <p:attrNameLst>
                                          <p:attrName>style.visibility</p:attrName>
                                        </p:attrNameLst>
                                      </p:cBhvr>
                                      <p:to>
                                        <p:strVal val="visible"/>
                                      </p:to>
                                    </p:set>
                                    <p:animEffect transition="in" filter="checkerboard(across)">
                                      <p:cBhvr>
                                        <p:cTn id="60" dur="500"/>
                                        <p:tgtEl>
                                          <p:spTgt spid="283666"/>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grpId="0" nodeType="clickEffect">
                                  <p:stCondLst>
                                    <p:cond delay="0"/>
                                  </p:stCondLst>
                                  <p:childTnLst>
                                    <p:set>
                                      <p:cBhvr>
                                        <p:cTn id="64" dur="1" fill="hold">
                                          <p:stCondLst>
                                            <p:cond delay="0"/>
                                          </p:stCondLst>
                                        </p:cTn>
                                        <p:tgtEl>
                                          <p:spTgt spid="283667"/>
                                        </p:tgtEl>
                                        <p:attrNameLst>
                                          <p:attrName>style.visibility</p:attrName>
                                        </p:attrNameLst>
                                      </p:cBhvr>
                                      <p:to>
                                        <p:strVal val="visible"/>
                                      </p:to>
                                    </p:set>
                                    <p:animEffect transition="in" filter="checkerboard(across)">
                                      <p:cBhvr>
                                        <p:cTn id="65" dur="500"/>
                                        <p:tgtEl>
                                          <p:spTgt spid="28366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83652"/>
                                        </p:tgtEl>
                                        <p:attrNameLst>
                                          <p:attrName>style.visibility</p:attrName>
                                        </p:attrNameLst>
                                      </p:cBhvr>
                                      <p:to>
                                        <p:strVal val="visible"/>
                                      </p:to>
                                    </p:set>
                                    <p:animEffect transition="in" filter="fade">
                                      <p:cBhvr>
                                        <p:cTn id="70" dur="5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build="p"/>
      <p:bldP spid="283652" grpId="0" animBg="1"/>
      <p:bldP spid="28366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a:xfrm>
            <a:off x="539552" y="195486"/>
            <a:ext cx="7543800" cy="608410"/>
          </a:xfrm>
        </p:spPr>
        <p:txBody>
          <a:bodyPr/>
          <a:lstStyle/>
          <a:p>
            <a:r>
              <a:rPr lang="en-US" dirty="0"/>
              <a:t>Specular</a:t>
            </a:r>
            <a:endParaRPr lang="en-CA" dirty="0"/>
          </a:p>
        </p:txBody>
      </p:sp>
      <p:sp>
        <p:nvSpPr>
          <p:cNvPr id="285699" name="Rectangle 3"/>
          <p:cNvSpPr>
            <a:spLocks noGrp="1" noChangeArrowheads="1"/>
          </p:cNvSpPr>
          <p:nvPr>
            <p:ph type="body" idx="1"/>
          </p:nvPr>
        </p:nvSpPr>
        <p:spPr>
          <a:xfrm>
            <a:off x="0" y="921544"/>
            <a:ext cx="9144000" cy="2774156"/>
          </a:xfrm>
        </p:spPr>
        <p:txBody>
          <a:bodyPr>
            <a:normAutofit/>
          </a:bodyPr>
          <a:lstStyle/>
          <a:p>
            <a:r>
              <a:rPr lang="en-US" sz="2800" dirty="0"/>
              <a:t>Most things are not mirror like, though</a:t>
            </a:r>
          </a:p>
          <a:p>
            <a:pPr lvl="1"/>
            <a:r>
              <a:rPr lang="en-US" sz="2400" dirty="0"/>
              <a:t>Based on the angle:</a:t>
            </a:r>
          </a:p>
          <a:p>
            <a:pPr lvl="2"/>
            <a:r>
              <a:rPr lang="en-US" sz="2000" dirty="0"/>
              <a:t>The reflected </a:t>
            </a:r>
            <a:r>
              <a:rPr lang="en-US" sz="2000" b="1" dirty="0" err="1"/>
              <a:t>colour</a:t>
            </a:r>
            <a:r>
              <a:rPr lang="en-US" sz="2000" dirty="0"/>
              <a:t> can change</a:t>
            </a:r>
          </a:p>
          <a:p>
            <a:pPr lvl="3"/>
            <a:r>
              <a:rPr lang="en-US" sz="1800" dirty="0"/>
              <a:t>metals exhibit this</a:t>
            </a:r>
          </a:p>
          <a:p>
            <a:pPr lvl="1"/>
            <a:r>
              <a:rPr lang="en-US" sz="2400" dirty="0">
                <a:cs typeface="Tahoma" pitchFamily="34" charset="0"/>
              </a:rPr>
              <a:t>The </a:t>
            </a:r>
            <a:r>
              <a:rPr lang="en-US" sz="2400" b="1" dirty="0">
                <a:cs typeface="Tahoma" pitchFamily="34" charset="0"/>
              </a:rPr>
              <a:t>intensity</a:t>
            </a:r>
            <a:r>
              <a:rPr lang="en-US" sz="2400" dirty="0">
                <a:cs typeface="Tahoma" pitchFamily="34" charset="0"/>
              </a:rPr>
              <a:t> (‘bright spot’) can change</a:t>
            </a:r>
            <a:endParaRPr lang="en-US" sz="2400" dirty="0"/>
          </a:p>
          <a:p>
            <a:endParaRPr lang="en-CA" sz="2800" dirty="0"/>
          </a:p>
        </p:txBody>
      </p:sp>
      <p:sp>
        <p:nvSpPr>
          <p:cNvPr id="28570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285709" name="Picture 13" descr="chrome"/>
          <p:cNvPicPr>
            <a:picLocks noChangeAspect="1" noChangeArrowheads="1"/>
          </p:cNvPicPr>
          <p:nvPr/>
        </p:nvPicPr>
        <p:blipFill>
          <a:blip r:embed="rId3" cstate="print"/>
          <a:srcRect/>
          <a:stretch>
            <a:fillRect/>
          </a:stretch>
        </p:blipFill>
        <p:spPr bwMode="auto">
          <a:xfrm>
            <a:off x="341314" y="3045619"/>
            <a:ext cx="2713037" cy="1454944"/>
          </a:xfrm>
          <a:prstGeom prst="rect">
            <a:avLst/>
          </a:prstGeom>
          <a:noFill/>
        </p:spPr>
      </p:pic>
      <p:pic>
        <p:nvPicPr>
          <p:cNvPr id="285710" name="Picture 14" descr="cook-phong1-thumb"/>
          <p:cNvPicPr>
            <a:picLocks noChangeAspect="1" noChangeArrowheads="1"/>
          </p:cNvPicPr>
          <p:nvPr/>
        </p:nvPicPr>
        <p:blipFill>
          <a:blip r:embed="rId4" cstate="print"/>
          <a:srcRect/>
          <a:stretch>
            <a:fillRect/>
          </a:stretch>
        </p:blipFill>
        <p:spPr bwMode="auto">
          <a:xfrm>
            <a:off x="5426075" y="3048000"/>
            <a:ext cx="3208338" cy="1187054"/>
          </a:xfrm>
          <a:prstGeom prst="rect">
            <a:avLst/>
          </a:prstGeom>
          <a:noFill/>
        </p:spPr>
      </p:pic>
      <p:pic>
        <p:nvPicPr>
          <p:cNvPr id="285711" name="Picture 15" descr="copper"/>
          <p:cNvPicPr>
            <a:picLocks noChangeAspect="1" noChangeArrowheads="1"/>
          </p:cNvPicPr>
          <p:nvPr/>
        </p:nvPicPr>
        <p:blipFill>
          <a:blip r:embed="rId5" cstate="print"/>
          <a:srcRect/>
          <a:stretch>
            <a:fillRect/>
          </a:stretch>
        </p:blipFill>
        <p:spPr bwMode="auto">
          <a:xfrm>
            <a:off x="3579813" y="3078956"/>
            <a:ext cx="1644650" cy="1387079"/>
          </a:xfrm>
          <a:prstGeom prst="rect">
            <a:avLst/>
          </a:prstGeom>
          <a:noFill/>
        </p:spPr>
      </p:pic>
      <p:sp>
        <p:nvSpPr>
          <p:cNvPr id="285713" name="AutoShape 17"/>
          <p:cNvSpPr>
            <a:spLocks/>
          </p:cNvSpPr>
          <p:nvPr/>
        </p:nvSpPr>
        <p:spPr bwMode="auto">
          <a:xfrm>
            <a:off x="1907704" y="4299943"/>
            <a:ext cx="6743700" cy="579072"/>
          </a:xfrm>
          <a:prstGeom prst="borderCallout3">
            <a:avLst>
              <a:gd name="adj1" fmla="val 16329"/>
              <a:gd name="adj2" fmla="val -1130"/>
              <a:gd name="adj3" fmla="val 16329"/>
              <a:gd name="adj4" fmla="val -6472"/>
              <a:gd name="adj5" fmla="val -61449"/>
              <a:gd name="adj6" fmla="val -6472"/>
              <a:gd name="adj7" fmla="val -131727"/>
              <a:gd name="adj8" fmla="val 58923"/>
            </a:avLst>
          </a:prstGeom>
          <a:solidFill>
            <a:srgbClr val="00B8FF"/>
          </a:solidFill>
          <a:ln w="38100">
            <a:solidFill>
              <a:srgbClr val="FFFF00"/>
            </a:solidFill>
            <a:miter lim="800000"/>
            <a:headEnd type="none" w="lg" len="lg"/>
            <a:tailEnd type="stealth" w="lg" len="lg"/>
          </a:ln>
          <a:effectLst/>
        </p:spPr>
        <p:txBody>
          <a:bodyPr/>
          <a:lstStyle/>
          <a:p>
            <a:pPr algn="ctr"/>
            <a:r>
              <a:rPr lang="en-GB" sz="1600">
                <a:solidFill>
                  <a:schemeClr val="bg1"/>
                </a:solidFill>
              </a:rPr>
              <a:t>Notice this teapot looks ‘gold’ because of the reflection colour and size (this uses the ‘Cook-Torrance’ lighting model)</a:t>
            </a:r>
          </a:p>
        </p:txBody>
      </p:sp>
      <p:pic>
        <p:nvPicPr>
          <p:cNvPr id="285714" name="Picture 18" descr="LighsourceFrog"/>
          <p:cNvPicPr>
            <a:picLocks noChangeAspect="1" noChangeArrowheads="1"/>
          </p:cNvPicPr>
          <p:nvPr/>
        </p:nvPicPr>
        <p:blipFill>
          <a:blip r:embed="rId6" cstate="print"/>
          <a:srcRect/>
          <a:stretch>
            <a:fillRect/>
          </a:stretch>
        </p:blipFill>
        <p:spPr bwMode="auto">
          <a:xfrm>
            <a:off x="6554789" y="1507331"/>
            <a:ext cx="2192337" cy="1095375"/>
          </a:xfrm>
          <a:prstGeom prst="rect">
            <a:avLst/>
          </a:prstGeom>
          <a:noFill/>
        </p:spPr>
      </p:pic>
      <p:sp>
        <p:nvSpPr>
          <p:cNvPr id="285715" name="AutoShape 19"/>
          <p:cNvSpPr>
            <a:spLocks/>
          </p:cNvSpPr>
          <p:nvPr/>
        </p:nvSpPr>
        <p:spPr bwMode="auto">
          <a:xfrm>
            <a:off x="4283968" y="173832"/>
            <a:ext cx="4299645" cy="453702"/>
          </a:xfrm>
          <a:prstGeom prst="borderCallout3">
            <a:avLst>
              <a:gd name="adj1" fmla="val 14815"/>
              <a:gd name="adj2" fmla="val 102616"/>
              <a:gd name="adj3" fmla="val 14815"/>
              <a:gd name="adj4" fmla="val 110347"/>
              <a:gd name="adj5" fmla="val 77366"/>
              <a:gd name="adj6" fmla="val 110347"/>
              <a:gd name="adj7" fmla="val 273718"/>
              <a:gd name="adj8" fmla="val 87476"/>
            </a:avLst>
          </a:prstGeom>
          <a:solidFill>
            <a:srgbClr val="00B8FF"/>
          </a:solidFill>
          <a:ln w="38100">
            <a:solidFill>
              <a:srgbClr val="FFFF00"/>
            </a:solidFill>
            <a:miter lim="800000"/>
            <a:headEnd type="none" w="lg" len="lg"/>
            <a:tailEnd type="stealth" w="lg" len="lg"/>
          </a:ln>
          <a:effectLst/>
        </p:spPr>
        <p:txBody>
          <a:bodyPr/>
          <a:lstStyle/>
          <a:p>
            <a:pPr algn="ctr"/>
            <a:r>
              <a:rPr lang="en-GB">
                <a:solidFill>
                  <a:schemeClr val="bg1"/>
                </a:solidFill>
              </a:rPr>
              <a:t>Look! A Cook-Torrance ‘solid gold’ frog!!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85699">
                                            <p:txEl>
                                              <p:pRg st="0" end="0"/>
                                            </p:txEl>
                                          </p:spTgt>
                                        </p:tgtEl>
                                        <p:attrNameLst>
                                          <p:attrName>style.visibility</p:attrName>
                                        </p:attrNameLst>
                                      </p:cBhvr>
                                      <p:to>
                                        <p:strVal val="visible"/>
                                      </p:to>
                                    </p:set>
                                    <p:anim calcmode="discrete" valueType="clr">
                                      <p:cBhvr override="childStyle">
                                        <p:cTn id="7" dur="80"/>
                                        <p:tgtEl>
                                          <p:spTgt spid="28569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8569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85699">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85699">
                                            <p:txEl>
                                              <p:pRg st="1" end="1"/>
                                            </p:txEl>
                                          </p:spTgt>
                                        </p:tgtEl>
                                        <p:attrNameLst>
                                          <p:attrName>style.visibility</p:attrName>
                                        </p:attrNameLst>
                                      </p:cBhvr>
                                      <p:to>
                                        <p:strVal val="visible"/>
                                      </p:to>
                                    </p:set>
                                    <p:anim calcmode="discrete" valueType="clr">
                                      <p:cBhvr override="childStyle">
                                        <p:cTn id="14" dur="80"/>
                                        <p:tgtEl>
                                          <p:spTgt spid="28569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85699">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85699">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285699">
                                            <p:txEl>
                                              <p:pRg st="2" end="2"/>
                                            </p:txEl>
                                          </p:spTgt>
                                        </p:tgtEl>
                                        <p:attrNameLst>
                                          <p:attrName>style.visibility</p:attrName>
                                        </p:attrNameLst>
                                      </p:cBhvr>
                                      <p:to>
                                        <p:strVal val="visible"/>
                                      </p:to>
                                    </p:set>
                                    <p:anim calcmode="discrete" valueType="clr">
                                      <p:cBhvr override="childStyle">
                                        <p:cTn id="21" dur="80"/>
                                        <p:tgtEl>
                                          <p:spTgt spid="28569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85699">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85699">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285699">
                                            <p:txEl>
                                              <p:pRg st="3" end="3"/>
                                            </p:txEl>
                                          </p:spTgt>
                                        </p:tgtEl>
                                        <p:attrNameLst>
                                          <p:attrName>style.visibility</p:attrName>
                                        </p:attrNameLst>
                                      </p:cBhvr>
                                      <p:to>
                                        <p:strVal val="visible"/>
                                      </p:to>
                                    </p:set>
                                    <p:anim calcmode="discrete" valueType="clr">
                                      <p:cBhvr override="childStyle">
                                        <p:cTn id="28" dur="80"/>
                                        <p:tgtEl>
                                          <p:spTgt spid="28569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85699">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85699">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285699">
                                            <p:txEl>
                                              <p:pRg st="4" end="4"/>
                                            </p:txEl>
                                          </p:spTgt>
                                        </p:tgtEl>
                                        <p:attrNameLst>
                                          <p:attrName>style.visibility</p:attrName>
                                        </p:attrNameLst>
                                      </p:cBhvr>
                                      <p:to>
                                        <p:strVal val="visible"/>
                                      </p:to>
                                    </p:set>
                                    <p:anim calcmode="discrete" valueType="clr">
                                      <p:cBhvr override="childStyle">
                                        <p:cTn id="35" dur="80"/>
                                        <p:tgtEl>
                                          <p:spTgt spid="28569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85699">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285699">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85709"/>
                                        </p:tgtEl>
                                        <p:attrNameLst>
                                          <p:attrName>style.visibility</p:attrName>
                                        </p:attrNameLst>
                                      </p:cBhvr>
                                      <p:to>
                                        <p:strVal val="visible"/>
                                      </p:to>
                                    </p:set>
                                    <p:animEffect transition="in" filter="checkerboard(across)">
                                      <p:cBhvr>
                                        <p:cTn id="42" dur="500"/>
                                        <p:tgtEl>
                                          <p:spTgt spid="285709"/>
                                        </p:tgtEl>
                                      </p:cBhvr>
                                    </p:animEffect>
                                  </p:childTnLst>
                                </p:cTn>
                              </p:par>
                            </p:childTnLst>
                          </p:cTn>
                        </p:par>
                        <p:par>
                          <p:cTn id="43" fill="hold">
                            <p:stCondLst>
                              <p:cond delay="500"/>
                            </p:stCondLst>
                            <p:childTnLst>
                              <p:par>
                                <p:cTn id="44" presetID="5" presetClass="entr" presetSubtype="10" fill="hold" nodeType="afterEffect">
                                  <p:stCondLst>
                                    <p:cond delay="0"/>
                                  </p:stCondLst>
                                  <p:childTnLst>
                                    <p:set>
                                      <p:cBhvr>
                                        <p:cTn id="45" dur="1" fill="hold">
                                          <p:stCondLst>
                                            <p:cond delay="0"/>
                                          </p:stCondLst>
                                        </p:cTn>
                                        <p:tgtEl>
                                          <p:spTgt spid="285711"/>
                                        </p:tgtEl>
                                        <p:attrNameLst>
                                          <p:attrName>style.visibility</p:attrName>
                                        </p:attrNameLst>
                                      </p:cBhvr>
                                      <p:to>
                                        <p:strVal val="visible"/>
                                      </p:to>
                                    </p:set>
                                    <p:animEffect transition="in" filter="checkerboard(across)">
                                      <p:cBhvr>
                                        <p:cTn id="46" dur="500"/>
                                        <p:tgtEl>
                                          <p:spTgt spid="285711"/>
                                        </p:tgtEl>
                                      </p:cBhvr>
                                    </p:animEffect>
                                  </p:childTnLst>
                                </p:cTn>
                              </p:par>
                            </p:childTnLst>
                          </p:cTn>
                        </p:par>
                        <p:par>
                          <p:cTn id="47" fill="hold">
                            <p:stCondLst>
                              <p:cond delay="1000"/>
                            </p:stCondLst>
                            <p:childTnLst>
                              <p:par>
                                <p:cTn id="48" presetID="5" presetClass="entr" presetSubtype="10" fill="hold" nodeType="afterEffect">
                                  <p:stCondLst>
                                    <p:cond delay="0"/>
                                  </p:stCondLst>
                                  <p:childTnLst>
                                    <p:set>
                                      <p:cBhvr>
                                        <p:cTn id="49" dur="1" fill="hold">
                                          <p:stCondLst>
                                            <p:cond delay="0"/>
                                          </p:stCondLst>
                                        </p:cTn>
                                        <p:tgtEl>
                                          <p:spTgt spid="285710"/>
                                        </p:tgtEl>
                                        <p:attrNameLst>
                                          <p:attrName>style.visibility</p:attrName>
                                        </p:attrNameLst>
                                      </p:cBhvr>
                                      <p:to>
                                        <p:strVal val="visible"/>
                                      </p:to>
                                    </p:set>
                                    <p:animEffect transition="in" filter="checkerboard(across)">
                                      <p:cBhvr>
                                        <p:cTn id="50" dur="500"/>
                                        <p:tgtEl>
                                          <p:spTgt spid="28571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285713"/>
                                        </p:tgtEl>
                                        <p:attrNameLst>
                                          <p:attrName>style.visibility</p:attrName>
                                        </p:attrNameLst>
                                      </p:cBhvr>
                                      <p:to>
                                        <p:strVal val="visible"/>
                                      </p:to>
                                    </p:set>
                                    <p:animEffect transition="in" filter="checkerboard(across)">
                                      <p:cBhvr>
                                        <p:cTn id="55" dur="500"/>
                                        <p:tgtEl>
                                          <p:spTgt spid="285713"/>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285715"/>
                                        </p:tgtEl>
                                        <p:attrNameLst>
                                          <p:attrName>style.visibility</p:attrName>
                                        </p:attrNameLst>
                                      </p:cBhvr>
                                      <p:to>
                                        <p:strVal val="visible"/>
                                      </p:to>
                                    </p:set>
                                    <p:animEffect transition="in" filter="checkerboard(across)">
                                      <p:cBhvr>
                                        <p:cTn id="60" dur="500"/>
                                        <p:tgtEl>
                                          <p:spTgt spid="285715"/>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nodeType="clickEffect">
                                  <p:stCondLst>
                                    <p:cond delay="0"/>
                                  </p:stCondLst>
                                  <p:childTnLst>
                                    <p:set>
                                      <p:cBhvr>
                                        <p:cTn id="64" dur="1" fill="hold">
                                          <p:stCondLst>
                                            <p:cond delay="0"/>
                                          </p:stCondLst>
                                        </p:cTn>
                                        <p:tgtEl>
                                          <p:spTgt spid="285714"/>
                                        </p:tgtEl>
                                        <p:attrNameLst>
                                          <p:attrName>style.visibility</p:attrName>
                                        </p:attrNameLst>
                                      </p:cBhvr>
                                      <p:to>
                                        <p:strVal val="visible"/>
                                      </p:to>
                                    </p:set>
                                    <p:animEffect transition="in" filter="checkerboard(across)">
                                      <p:cBhvr>
                                        <p:cTn id="65" dur="500"/>
                                        <p:tgtEl>
                                          <p:spTgt spid="285714"/>
                                        </p:tgtEl>
                                      </p:cBhvr>
                                    </p:animEffect>
                                  </p:childTnLst>
                                </p:cTn>
                              </p:par>
                            </p:childTnLst>
                          </p:cTn>
                        </p:par>
                        <p:par>
                          <p:cTn id="66" fill="hold">
                            <p:stCondLst>
                              <p:cond delay="500"/>
                            </p:stCondLst>
                            <p:childTnLst>
                              <p:par>
                                <p:cTn id="67" presetID="5" presetClass="entr" presetSubtype="10" fill="hold" grpId="1" nodeType="afterEffect">
                                  <p:stCondLst>
                                    <p:cond delay="0"/>
                                  </p:stCondLst>
                                  <p:childTnLst>
                                    <p:set>
                                      <p:cBhvr>
                                        <p:cTn id="68" dur="1" fill="hold">
                                          <p:stCondLst>
                                            <p:cond delay="0"/>
                                          </p:stCondLst>
                                        </p:cTn>
                                        <p:tgtEl>
                                          <p:spTgt spid="285715"/>
                                        </p:tgtEl>
                                        <p:attrNameLst>
                                          <p:attrName>style.visibility</p:attrName>
                                        </p:attrNameLst>
                                      </p:cBhvr>
                                      <p:to>
                                        <p:strVal val="visible"/>
                                      </p:to>
                                    </p:set>
                                    <p:animEffect transition="in" filter="checkerboard(across)">
                                      <p:cBhvr>
                                        <p:cTn id="69" dur="500"/>
                                        <p:tgtEl>
                                          <p:spTgt spid="28571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85700"/>
                                        </p:tgtEl>
                                        <p:attrNameLst>
                                          <p:attrName>style.visibility</p:attrName>
                                        </p:attrNameLst>
                                      </p:cBhvr>
                                      <p:to>
                                        <p:strVal val="visible"/>
                                      </p:to>
                                    </p:set>
                                    <p:animEffect transition="in" filter="fade">
                                      <p:cBhvr>
                                        <p:cTn id="74" dur="500"/>
                                        <p:tgtEl>
                                          <p:spTgt spid="285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build="p"/>
      <p:bldP spid="285700" grpId="0" animBg="1"/>
      <p:bldP spid="285713" grpId="0" animBg="1"/>
      <p:bldP spid="285715" grpId="0" animBg="1"/>
      <p:bldP spid="28571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611560" y="195486"/>
            <a:ext cx="7543800" cy="608410"/>
          </a:xfrm>
        </p:spPr>
        <p:txBody>
          <a:bodyPr/>
          <a:lstStyle/>
          <a:p>
            <a:r>
              <a:rPr lang="en-US" dirty="0"/>
              <a:t>Emissive</a:t>
            </a:r>
            <a:endParaRPr lang="en-CA" dirty="0"/>
          </a:p>
        </p:txBody>
      </p:sp>
      <p:sp>
        <p:nvSpPr>
          <p:cNvPr id="287747" name="Rectangle 3"/>
          <p:cNvSpPr>
            <a:spLocks noGrp="1" noChangeArrowheads="1"/>
          </p:cNvSpPr>
          <p:nvPr>
            <p:ph type="body" idx="1"/>
          </p:nvPr>
        </p:nvSpPr>
        <p:spPr>
          <a:xfrm>
            <a:off x="481014" y="1431131"/>
            <a:ext cx="8334375" cy="2834879"/>
          </a:xfrm>
        </p:spPr>
        <p:txBody>
          <a:bodyPr>
            <a:normAutofit/>
          </a:bodyPr>
          <a:lstStyle/>
          <a:p>
            <a:pPr>
              <a:lnSpc>
                <a:spcPct val="90000"/>
              </a:lnSpc>
            </a:pPr>
            <a:r>
              <a:rPr lang="en-US" sz="2800" dirty="0"/>
              <a:t>The light that ‘emits’ from a source</a:t>
            </a:r>
          </a:p>
          <a:p>
            <a:pPr>
              <a:lnSpc>
                <a:spcPct val="90000"/>
              </a:lnSpc>
            </a:pPr>
            <a:r>
              <a:rPr lang="en-US" sz="2800" dirty="0"/>
              <a:t>Note that in the real world, all lights are emissive when looked at. In computer graphics, emissive lights don’t’ actually give any light</a:t>
            </a:r>
          </a:p>
          <a:p>
            <a:pPr lvl="1">
              <a:lnSpc>
                <a:spcPct val="90000"/>
              </a:lnSpc>
            </a:pPr>
            <a:r>
              <a:rPr lang="en-US" sz="2400" i="1" dirty="0">
                <a:cs typeface="Tahoma" pitchFamily="34" charset="0"/>
              </a:rPr>
              <a:t>Remember, what you are seeing is just an approximate mathematic model of how light interacts</a:t>
            </a:r>
          </a:p>
          <a:p>
            <a:pPr>
              <a:lnSpc>
                <a:spcPct val="90000"/>
              </a:lnSpc>
            </a:pPr>
            <a:endParaRPr lang="en-US" sz="2800" dirty="0"/>
          </a:p>
          <a:p>
            <a:pPr>
              <a:lnSpc>
                <a:spcPct val="90000"/>
              </a:lnSpc>
            </a:pPr>
            <a:endParaRPr lang="en-CA" sz="2800" dirty="0"/>
          </a:p>
        </p:txBody>
      </p:sp>
      <p:sp>
        <p:nvSpPr>
          <p:cNvPr id="28774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87747">
                                            <p:txEl>
                                              <p:pRg st="0" end="0"/>
                                            </p:txEl>
                                          </p:spTgt>
                                        </p:tgtEl>
                                        <p:attrNameLst>
                                          <p:attrName>style.visibility</p:attrName>
                                        </p:attrNameLst>
                                      </p:cBhvr>
                                      <p:to>
                                        <p:strVal val="visible"/>
                                      </p:to>
                                    </p:set>
                                    <p:anim calcmode="discrete" valueType="clr">
                                      <p:cBhvr override="childStyle">
                                        <p:cTn id="7" dur="80"/>
                                        <p:tgtEl>
                                          <p:spTgt spid="28774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8774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8774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87747">
                                            <p:txEl>
                                              <p:pRg st="1" end="1"/>
                                            </p:txEl>
                                          </p:spTgt>
                                        </p:tgtEl>
                                        <p:attrNameLst>
                                          <p:attrName>style.visibility</p:attrName>
                                        </p:attrNameLst>
                                      </p:cBhvr>
                                      <p:to>
                                        <p:strVal val="visible"/>
                                      </p:to>
                                    </p:set>
                                    <p:anim calcmode="discrete" valueType="clr">
                                      <p:cBhvr override="childStyle">
                                        <p:cTn id="14" dur="80"/>
                                        <p:tgtEl>
                                          <p:spTgt spid="28774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8774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8774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287747">
                                            <p:txEl>
                                              <p:pRg st="2" end="2"/>
                                            </p:txEl>
                                          </p:spTgt>
                                        </p:tgtEl>
                                        <p:attrNameLst>
                                          <p:attrName>style.visibility</p:attrName>
                                        </p:attrNameLst>
                                      </p:cBhvr>
                                      <p:to>
                                        <p:strVal val="visible"/>
                                      </p:to>
                                    </p:set>
                                    <p:anim calcmode="discrete" valueType="clr">
                                      <p:cBhvr override="childStyle">
                                        <p:cTn id="21" dur="80"/>
                                        <p:tgtEl>
                                          <p:spTgt spid="28774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8774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8774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7748"/>
                                        </p:tgtEl>
                                        <p:attrNameLst>
                                          <p:attrName>style.visibility</p:attrName>
                                        </p:attrNameLst>
                                      </p:cBhvr>
                                      <p:to>
                                        <p:strVal val="visible"/>
                                      </p:to>
                                    </p:set>
                                    <p:animEffect transition="in" filter="fade">
                                      <p:cBhvr>
                                        <p:cTn id="28" dur="500"/>
                                        <p:tgtEl>
                                          <p:spTgt spid="287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P spid="28774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539552" y="195486"/>
            <a:ext cx="7543800" cy="608410"/>
          </a:xfrm>
        </p:spPr>
        <p:txBody>
          <a:bodyPr/>
          <a:lstStyle/>
          <a:p>
            <a:r>
              <a:rPr lang="en-US" dirty="0"/>
              <a:t>Emissive</a:t>
            </a:r>
            <a:endParaRPr lang="en-CA" dirty="0"/>
          </a:p>
        </p:txBody>
      </p:sp>
      <p:sp>
        <p:nvSpPr>
          <p:cNvPr id="289795" name="Rectangle 3"/>
          <p:cNvSpPr>
            <a:spLocks noGrp="1" noChangeArrowheads="1"/>
          </p:cNvSpPr>
          <p:nvPr>
            <p:ph type="body" idx="1"/>
          </p:nvPr>
        </p:nvSpPr>
        <p:spPr>
          <a:xfrm>
            <a:off x="520701" y="898922"/>
            <a:ext cx="4117975" cy="442913"/>
          </a:xfrm>
        </p:spPr>
        <p:txBody>
          <a:bodyPr>
            <a:normAutofit fontScale="92500" lnSpcReduction="20000"/>
          </a:bodyPr>
          <a:lstStyle/>
          <a:p>
            <a:r>
              <a:rPr lang="en-US"/>
              <a:t>Some examples:</a:t>
            </a:r>
            <a:endParaRPr lang="en-US" i="1">
              <a:cs typeface="Tahoma" pitchFamily="34" charset="0"/>
            </a:endParaRPr>
          </a:p>
          <a:p>
            <a:endParaRPr lang="en-US"/>
          </a:p>
          <a:p>
            <a:endParaRPr lang="en-CA"/>
          </a:p>
        </p:txBody>
      </p:sp>
      <p:sp>
        <p:nvSpPr>
          <p:cNvPr id="28979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289798" name="Picture 6" descr="tron-movie-still-crop"/>
          <p:cNvPicPr>
            <a:picLocks noChangeAspect="1" noChangeArrowheads="1"/>
          </p:cNvPicPr>
          <p:nvPr/>
        </p:nvPicPr>
        <p:blipFill>
          <a:blip r:embed="rId3" cstate="print"/>
          <a:srcRect/>
          <a:stretch>
            <a:fillRect/>
          </a:stretch>
        </p:blipFill>
        <p:spPr bwMode="auto">
          <a:xfrm>
            <a:off x="5764214" y="2416969"/>
            <a:ext cx="2784475" cy="1839516"/>
          </a:xfrm>
          <a:prstGeom prst="rect">
            <a:avLst/>
          </a:prstGeom>
          <a:noFill/>
        </p:spPr>
      </p:pic>
      <p:pic>
        <p:nvPicPr>
          <p:cNvPr id="289799" name="Picture 7" descr="christine headlights"/>
          <p:cNvPicPr>
            <a:picLocks noChangeAspect="1" noChangeArrowheads="1"/>
          </p:cNvPicPr>
          <p:nvPr/>
        </p:nvPicPr>
        <p:blipFill>
          <a:blip r:embed="rId4" cstate="print"/>
          <a:srcRect l="14110" t="2454" r="15419" b="16031"/>
          <a:stretch>
            <a:fillRect/>
          </a:stretch>
        </p:blipFill>
        <p:spPr bwMode="auto">
          <a:xfrm>
            <a:off x="376238" y="2049066"/>
            <a:ext cx="3924300" cy="2553890"/>
          </a:xfrm>
          <a:prstGeom prst="rect">
            <a:avLst/>
          </a:prstGeom>
          <a:noFill/>
        </p:spPr>
      </p:pic>
      <p:pic>
        <p:nvPicPr>
          <p:cNvPr id="289797" name="Picture 5" descr="tron_large_02"/>
          <p:cNvPicPr>
            <a:picLocks noChangeAspect="1" noChangeArrowheads="1"/>
          </p:cNvPicPr>
          <p:nvPr/>
        </p:nvPicPr>
        <p:blipFill>
          <a:blip r:embed="rId5" cstate="print"/>
          <a:srcRect/>
          <a:stretch>
            <a:fillRect/>
          </a:stretch>
        </p:blipFill>
        <p:spPr bwMode="auto">
          <a:xfrm>
            <a:off x="5033964" y="526257"/>
            <a:ext cx="3100387" cy="163234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89795">
                                            <p:txEl>
                                              <p:pRg st="0" end="0"/>
                                            </p:txEl>
                                          </p:spTgt>
                                        </p:tgtEl>
                                        <p:attrNameLst>
                                          <p:attrName>style.visibility</p:attrName>
                                        </p:attrNameLst>
                                      </p:cBhvr>
                                      <p:to>
                                        <p:strVal val="visible"/>
                                      </p:to>
                                    </p:set>
                                    <p:anim calcmode="discrete" valueType="clr">
                                      <p:cBhvr override="childStyle">
                                        <p:cTn id="7" dur="80"/>
                                        <p:tgtEl>
                                          <p:spTgt spid="28979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8979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8979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289797"/>
                                        </p:tgtEl>
                                        <p:attrNameLst>
                                          <p:attrName>style.visibility</p:attrName>
                                        </p:attrNameLst>
                                      </p:cBhvr>
                                      <p:to>
                                        <p:strVal val="visible"/>
                                      </p:to>
                                    </p:set>
                                    <p:animEffect transition="in" filter="checkerboard(across)">
                                      <p:cBhvr>
                                        <p:cTn id="14" dur="500"/>
                                        <p:tgtEl>
                                          <p:spTgt spid="289797"/>
                                        </p:tgtEl>
                                      </p:cBhvr>
                                    </p:animEffect>
                                  </p:childTnLst>
                                </p:cTn>
                              </p:par>
                            </p:childTnLst>
                          </p:cTn>
                        </p:par>
                        <p:par>
                          <p:cTn id="15" fill="hold">
                            <p:stCondLst>
                              <p:cond delay="500"/>
                            </p:stCondLst>
                            <p:childTnLst>
                              <p:par>
                                <p:cTn id="16" presetID="5" presetClass="entr" presetSubtype="10" fill="hold" nodeType="afterEffect">
                                  <p:stCondLst>
                                    <p:cond delay="0"/>
                                  </p:stCondLst>
                                  <p:childTnLst>
                                    <p:set>
                                      <p:cBhvr>
                                        <p:cTn id="17" dur="1" fill="hold">
                                          <p:stCondLst>
                                            <p:cond delay="0"/>
                                          </p:stCondLst>
                                        </p:cTn>
                                        <p:tgtEl>
                                          <p:spTgt spid="289799"/>
                                        </p:tgtEl>
                                        <p:attrNameLst>
                                          <p:attrName>style.visibility</p:attrName>
                                        </p:attrNameLst>
                                      </p:cBhvr>
                                      <p:to>
                                        <p:strVal val="visible"/>
                                      </p:to>
                                    </p:set>
                                    <p:animEffect transition="in" filter="checkerboard(across)">
                                      <p:cBhvr>
                                        <p:cTn id="18" dur="500"/>
                                        <p:tgtEl>
                                          <p:spTgt spid="289799"/>
                                        </p:tgtEl>
                                      </p:cBhvr>
                                    </p:animEffect>
                                  </p:childTnLst>
                                </p:cTn>
                              </p:par>
                            </p:childTnLst>
                          </p:cTn>
                        </p:par>
                        <p:par>
                          <p:cTn id="19" fill="hold">
                            <p:stCondLst>
                              <p:cond delay="1000"/>
                            </p:stCondLst>
                            <p:childTnLst>
                              <p:par>
                                <p:cTn id="20" presetID="5" presetClass="entr" presetSubtype="10" fill="hold" nodeType="afterEffect">
                                  <p:stCondLst>
                                    <p:cond delay="0"/>
                                  </p:stCondLst>
                                  <p:childTnLst>
                                    <p:set>
                                      <p:cBhvr>
                                        <p:cTn id="21" dur="1" fill="hold">
                                          <p:stCondLst>
                                            <p:cond delay="0"/>
                                          </p:stCondLst>
                                        </p:cTn>
                                        <p:tgtEl>
                                          <p:spTgt spid="289798"/>
                                        </p:tgtEl>
                                        <p:attrNameLst>
                                          <p:attrName>style.visibility</p:attrName>
                                        </p:attrNameLst>
                                      </p:cBhvr>
                                      <p:to>
                                        <p:strVal val="visible"/>
                                      </p:to>
                                    </p:set>
                                    <p:animEffect transition="in" filter="checkerboard(across)">
                                      <p:cBhvr>
                                        <p:cTn id="22" dur="500"/>
                                        <p:tgtEl>
                                          <p:spTgt spid="28979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9796"/>
                                        </p:tgtEl>
                                        <p:attrNameLst>
                                          <p:attrName>style.visibility</p:attrName>
                                        </p:attrNameLst>
                                      </p:cBhvr>
                                      <p:to>
                                        <p:strVal val="visible"/>
                                      </p:to>
                                    </p:set>
                                    <p:animEffect transition="in" filter="fade">
                                      <p:cBhvr>
                                        <p:cTn id="27" dur="500"/>
                                        <p:tgtEl>
                                          <p:spTgt spid="289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p:bldP spid="28979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8" name="Text Box 8"/>
          <p:cNvSpPr txBox="1">
            <a:spLocks noChangeArrowheads="1"/>
          </p:cNvSpPr>
          <p:nvPr/>
        </p:nvSpPr>
        <p:spPr bwMode="auto">
          <a:xfrm>
            <a:off x="1008064" y="1703785"/>
            <a:ext cx="7481887" cy="2062103"/>
          </a:xfrm>
          <a:prstGeom prst="rect">
            <a:avLst/>
          </a:prstGeom>
          <a:noFill/>
          <a:ln w="9525">
            <a:noFill/>
            <a:miter lim="800000"/>
            <a:headEnd/>
            <a:tailEnd/>
          </a:ln>
          <a:effectLst/>
        </p:spPr>
        <p:txBody>
          <a:bodyPr>
            <a:spAutoFit/>
          </a:bodyPr>
          <a:lstStyle/>
          <a:p>
            <a:pPr>
              <a:spcBef>
                <a:spcPct val="20000"/>
              </a:spcBef>
              <a:buClr>
                <a:schemeClr val="hlink"/>
              </a:buClr>
              <a:buSzPct val="70000"/>
              <a:buFont typeface="Wingdings" pitchFamily="2" charset="2"/>
              <a:buNone/>
            </a:pPr>
            <a:r>
              <a:rPr lang="en-GB" sz="3200" dirty="0">
                <a:solidFill>
                  <a:schemeClr val="tx1"/>
                </a:solidFill>
                <a:effectLst>
                  <a:outerShdw blurRad="38100" dist="38100" dir="2700000" algn="tl">
                    <a:srgbClr val="000000"/>
                  </a:outerShdw>
                </a:effectLst>
                <a:latin typeface="Tahoma" pitchFamily="34" charset="0"/>
                <a:cs typeface="Arial" charset="0"/>
              </a:rPr>
              <a:t>Notice the emissive lights in the these screen captures from “Halo” and “</a:t>
            </a:r>
            <a:r>
              <a:rPr lang="en-GB" sz="3200" dirty="0" err="1">
                <a:solidFill>
                  <a:schemeClr val="tx1"/>
                </a:solidFill>
                <a:effectLst>
                  <a:outerShdw blurRad="38100" dist="38100" dir="2700000" algn="tl">
                    <a:srgbClr val="000000"/>
                  </a:outerShdw>
                </a:effectLst>
                <a:latin typeface="Tahoma" pitchFamily="34" charset="0"/>
                <a:cs typeface="Arial" charset="0"/>
              </a:rPr>
              <a:t>Bioshock</a:t>
            </a:r>
            <a:r>
              <a:rPr lang="en-GB" sz="3200" dirty="0">
                <a:solidFill>
                  <a:schemeClr val="tx1"/>
                </a:solidFill>
                <a:effectLst>
                  <a:outerShdw blurRad="38100" dist="38100" dir="2700000" algn="tl">
                    <a:srgbClr val="000000"/>
                  </a:outerShdw>
                </a:effectLst>
                <a:latin typeface="Tahoma" pitchFamily="34" charset="0"/>
                <a:cs typeface="Arial" charset="0"/>
              </a:rPr>
              <a:t> 2:”</a:t>
            </a:r>
          </a:p>
          <a:p>
            <a:endParaRPr lang="en-GB" sz="3200" dirty="0">
              <a:solidFill>
                <a:schemeClr val="tx1"/>
              </a:solidFill>
              <a:effectLst>
                <a:outerShdw blurRad="38100" dist="38100" dir="2700000" algn="tl">
                  <a:srgbClr val="000000"/>
                </a:outerShdw>
              </a:effectLst>
              <a:latin typeface="Tahoma" pitchFamily="34" charset="0"/>
              <a:cs typeface="Arial" charset="0"/>
            </a:endParaRPr>
          </a:p>
        </p:txBody>
      </p:sp>
      <p:sp>
        <p:nvSpPr>
          <p:cNvPr id="291851" name="AutoShape 11"/>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1851"/>
                                        </p:tgtEl>
                                        <p:attrNameLst>
                                          <p:attrName>style.visibility</p:attrName>
                                        </p:attrNameLst>
                                      </p:cBhvr>
                                      <p:to>
                                        <p:strVal val="visible"/>
                                      </p:to>
                                    </p:set>
                                    <p:animEffect transition="in" filter="fade">
                                      <p:cBhvr>
                                        <p:cTn id="7" dur="500"/>
                                        <p:tgtEl>
                                          <p:spTgt spid="291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5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915" name="Picture 3" descr="Med Res bitmaps - no specular"/>
          <p:cNvPicPr>
            <a:picLocks noChangeAspect="1" noChangeArrowheads="1"/>
          </p:cNvPicPr>
          <p:nvPr/>
        </p:nvPicPr>
        <p:blipFill>
          <a:blip r:embed="rId2" cstate="print"/>
          <a:srcRect/>
          <a:stretch>
            <a:fillRect/>
          </a:stretch>
        </p:blipFill>
        <p:spPr bwMode="auto">
          <a:xfrm>
            <a:off x="755576" y="141480"/>
            <a:ext cx="7843838" cy="4705350"/>
          </a:xfrm>
          <a:prstGeom prst="rect">
            <a:avLst/>
          </a:prstGeom>
          <a:noFill/>
        </p:spPr>
      </p:pic>
      <p:sp>
        <p:nvSpPr>
          <p:cNvPr id="29491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4916"/>
                                        </p:tgtEl>
                                        <p:attrNameLst>
                                          <p:attrName>style.visibility</p:attrName>
                                        </p:attrNameLst>
                                      </p:cBhvr>
                                      <p:to>
                                        <p:strVal val="visible"/>
                                      </p:to>
                                    </p:set>
                                    <p:animEffect transition="in" filter="fade">
                                      <p:cBhvr>
                                        <p:cTn id="7" dur="500"/>
                                        <p:tgtEl>
                                          <p:spTgt spid="294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940" name="Picture 4" descr="Halo 4"/>
          <p:cNvPicPr>
            <a:picLocks noChangeAspect="1" noChangeArrowheads="1"/>
          </p:cNvPicPr>
          <p:nvPr/>
        </p:nvPicPr>
        <p:blipFill>
          <a:blip r:embed="rId2" cstate="print"/>
          <a:srcRect/>
          <a:stretch>
            <a:fillRect/>
          </a:stretch>
        </p:blipFill>
        <p:spPr bwMode="auto">
          <a:xfrm>
            <a:off x="395537" y="87474"/>
            <a:ext cx="8158163" cy="4894659"/>
          </a:xfrm>
          <a:prstGeom prst="rect">
            <a:avLst/>
          </a:prstGeom>
          <a:noFill/>
        </p:spPr>
      </p:pic>
      <p:sp>
        <p:nvSpPr>
          <p:cNvPr id="295941"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5941"/>
                                        </p:tgtEl>
                                        <p:attrNameLst>
                                          <p:attrName>style.visibility</p:attrName>
                                        </p:attrNameLst>
                                      </p:cBhvr>
                                      <p:to>
                                        <p:strVal val="visible"/>
                                      </p:to>
                                    </p:set>
                                    <p:animEffect transition="in" filter="fade">
                                      <p:cBhvr>
                                        <p:cTn id="7" dur="500"/>
                                        <p:tgtEl>
                                          <p:spTgt spid="295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64" name="Picture 4" descr="Halo 2"/>
          <p:cNvPicPr>
            <a:picLocks noChangeAspect="1" noChangeArrowheads="1"/>
          </p:cNvPicPr>
          <p:nvPr/>
        </p:nvPicPr>
        <p:blipFill>
          <a:blip r:embed="rId2" cstate="print"/>
          <a:srcRect/>
          <a:stretch>
            <a:fillRect/>
          </a:stretch>
        </p:blipFill>
        <p:spPr bwMode="auto">
          <a:xfrm>
            <a:off x="395537" y="195486"/>
            <a:ext cx="7934325" cy="4761309"/>
          </a:xfrm>
          <a:prstGeom prst="rect">
            <a:avLst/>
          </a:prstGeom>
          <a:noFill/>
        </p:spPr>
      </p:pic>
      <p:sp>
        <p:nvSpPr>
          <p:cNvPr id="296965"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65"/>
                                        </p:tgtEl>
                                        <p:attrNameLst>
                                          <p:attrName>style.visibility</p:attrName>
                                        </p:attrNameLst>
                                      </p:cBhvr>
                                      <p:to>
                                        <p:strVal val="visible"/>
                                      </p:to>
                                    </p:set>
                                    <p:animEffect transition="in" filter="fade">
                                      <p:cBhvr>
                                        <p:cTn id="7" dur="500"/>
                                        <p:tgtEl>
                                          <p:spTgt spid="296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5"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1027" name="Picture 3"/>
          <p:cNvPicPr>
            <a:picLocks noChangeAspect="1" noChangeArrowheads="1"/>
          </p:cNvPicPr>
          <p:nvPr/>
        </p:nvPicPr>
        <p:blipFill>
          <a:blip r:embed="rId2" cstate="print">
            <a:lum bright="10000"/>
          </a:blip>
          <a:srcRect/>
          <a:stretch>
            <a:fillRect/>
          </a:stretch>
        </p:blipFill>
        <p:spPr bwMode="auto">
          <a:xfrm>
            <a:off x="323528" y="123478"/>
            <a:ext cx="8568952" cy="482003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65"/>
                                        </p:tgtEl>
                                        <p:attrNameLst>
                                          <p:attrName>style.visibility</p:attrName>
                                        </p:attrNameLst>
                                      </p:cBhvr>
                                      <p:to>
                                        <p:strVal val="visible"/>
                                      </p:to>
                                    </p:set>
                                    <p:animEffect transition="in" filter="fade">
                                      <p:cBhvr>
                                        <p:cTn id="7" dur="500"/>
                                        <p:tgtEl>
                                          <p:spTgt spid="296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683568" y="267494"/>
            <a:ext cx="7772400" cy="685800"/>
          </a:xfrm>
        </p:spPr>
        <p:txBody>
          <a:bodyPr/>
          <a:lstStyle/>
          <a:p>
            <a:r>
              <a:rPr lang="en-GB" dirty="0"/>
              <a:t>Now, OpenGL (or DirectX)</a:t>
            </a:r>
          </a:p>
        </p:txBody>
      </p:sp>
      <p:sp>
        <p:nvSpPr>
          <p:cNvPr id="299011" name="Rectangle 3"/>
          <p:cNvSpPr>
            <a:spLocks noGrp="1" noChangeArrowheads="1"/>
          </p:cNvSpPr>
          <p:nvPr>
            <p:ph type="body" idx="1"/>
          </p:nvPr>
        </p:nvSpPr>
        <p:spPr>
          <a:xfrm>
            <a:off x="467544" y="1131590"/>
            <a:ext cx="8304212" cy="3245644"/>
          </a:xfrm>
        </p:spPr>
        <p:txBody>
          <a:bodyPr>
            <a:noAutofit/>
          </a:bodyPr>
          <a:lstStyle/>
          <a:p>
            <a:pPr>
              <a:lnSpc>
                <a:spcPct val="90000"/>
              </a:lnSpc>
            </a:pPr>
            <a:r>
              <a:rPr lang="en-US" sz="2400" dirty="0"/>
              <a:t>There is no lighting by default</a:t>
            </a:r>
          </a:p>
          <a:p>
            <a:pPr lvl="1">
              <a:lnSpc>
                <a:spcPct val="90000"/>
              </a:lnSpc>
            </a:pPr>
            <a:r>
              <a:rPr lang="en-US" sz="2000" dirty="0"/>
              <a:t>Well, that’s not 100% true…</a:t>
            </a:r>
          </a:p>
          <a:p>
            <a:pPr lvl="1">
              <a:lnSpc>
                <a:spcPct val="90000"/>
              </a:lnSpc>
            </a:pPr>
            <a:r>
              <a:rPr lang="en-US" sz="2000" dirty="0"/>
              <a:t>… there isn’t anything by default; we have to put that functionality into the </a:t>
            </a:r>
            <a:r>
              <a:rPr lang="en-US" sz="2000" dirty="0" err="1"/>
              <a:t>shader</a:t>
            </a:r>
            <a:endParaRPr lang="en-US" sz="2000" dirty="0"/>
          </a:p>
          <a:p>
            <a:pPr>
              <a:lnSpc>
                <a:spcPct val="90000"/>
              </a:lnSpc>
            </a:pPr>
            <a:r>
              <a:rPr lang="en-US" sz="2400" dirty="0"/>
              <a:t>This means that if you want to see something, you have to specify or </a:t>
            </a:r>
            <a:r>
              <a:rPr lang="en-US" sz="2400" i="1" u="sng" dirty="0"/>
              <a:t>calculate</a:t>
            </a:r>
            <a:r>
              <a:rPr lang="en-US" sz="2400" dirty="0"/>
              <a:t> the final </a:t>
            </a:r>
            <a:r>
              <a:rPr lang="en-US" sz="2400" dirty="0" err="1"/>
              <a:t>colour</a:t>
            </a:r>
            <a:r>
              <a:rPr lang="en-US" sz="2400" dirty="0"/>
              <a:t> of the pixels</a:t>
            </a:r>
          </a:p>
          <a:p>
            <a:pPr>
              <a:lnSpc>
                <a:spcPct val="90000"/>
              </a:lnSpc>
            </a:pPr>
            <a:r>
              <a:rPr lang="en-US" sz="2400" dirty="0"/>
              <a:t>Later, we will look at texturing</a:t>
            </a:r>
          </a:p>
          <a:p>
            <a:pPr>
              <a:lnSpc>
                <a:spcPct val="90000"/>
              </a:lnSpc>
            </a:pPr>
            <a:r>
              <a:rPr lang="en-US" sz="2400" dirty="0"/>
              <a:t>OpenGL/DirectX runs through some calculations to determine the </a:t>
            </a:r>
            <a:r>
              <a:rPr lang="en-US" sz="2400" dirty="0" err="1"/>
              <a:t>colour</a:t>
            </a:r>
            <a:r>
              <a:rPr lang="en-US" sz="2400" dirty="0"/>
              <a:t> of the surface (fragment/pixel)</a:t>
            </a:r>
          </a:p>
          <a:p>
            <a:pPr lvl="1">
              <a:lnSpc>
                <a:spcPct val="90000"/>
              </a:lnSpc>
            </a:pPr>
            <a:r>
              <a:rPr lang="en-GB" sz="2000" dirty="0"/>
              <a:t>NOTE: this is based on the surface colour and/or texture though</a:t>
            </a:r>
          </a:p>
        </p:txBody>
      </p:sp>
      <p:sp>
        <p:nvSpPr>
          <p:cNvPr id="29901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animEffect transition="in" filter="checkerboard(across)">
                                      <p:cBhvr>
                                        <p:cTn id="7" dur="500"/>
                                        <p:tgtEl>
                                          <p:spTgt spid="299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99011">
                                            <p:txEl>
                                              <p:pRg st="1" end="1"/>
                                            </p:txEl>
                                          </p:spTgt>
                                        </p:tgtEl>
                                        <p:attrNameLst>
                                          <p:attrName>style.visibility</p:attrName>
                                        </p:attrNameLst>
                                      </p:cBhvr>
                                      <p:to>
                                        <p:strVal val="visible"/>
                                      </p:to>
                                    </p:set>
                                    <p:animEffect transition="in" filter="checkerboard(across)">
                                      <p:cBhvr>
                                        <p:cTn id="12" dur="500"/>
                                        <p:tgtEl>
                                          <p:spTgt spid="299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99011">
                                            <p:txEl>
                                              <p:pRg st="2" end="2"/>
                                            </p:txEl>
                                          </p:spTgt>
                                        </p:tgtEl>
                                        <p:attrNameLst>
                                          <p:attrName>style.visibility</p:attrName>
                                        </p:attrNameLst>
                                      </p:cBhvr>
                                      <p:to>
                                        <p:strVal val="visible"/>
                                      </p:to>
                                    </p:set>
                                    <p:animEffect transition="in" filter="checkerboard(across)">
                                      <p:cBhvr>
                                        <p:cTn id="17" dur="500"/>
                                        <p:tgtEl>
                                          <p:spTgt spid="299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99011">
                                            <p:txEl>
                                              <p:pRg st="3" end="3"/>
                                            </p:txEl>
                                          </p:spTgt>
                                        </p:tgtEl>
                                        <p:attrNameLst>
                                          <p:attrName>style.visibility</p:attrName>
                                        </p:attrNameLst>
                                      </p:cBhvr>
                                      <p:to>
                                        <p:strVal val="visible"/>
                                      </p:to>
                                    </p:set>
                                    <p:animEffect transition="in" filter="checkerboard(across)">
                                      <p:cBhvr>
                                        <p:cTn id="22" dur="500"/>
                                        <p:tgtEl>
                                          <p:spTgt spid="299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99011">
                                            <p:txEl>
                                              <p:pRg st="4" end="4"/>
                                            </p:txEl>
                                          </p:spTgt>
                                        </p:tgtEl>
                                        <p:attrNameLst>
                                          <p:attrName>style.visibility</p:attrName>
                                        </p:attrNameLst>
                                      </p:cBhvr>
                                      <p:to>
                                        <p:strVal val="visible"/>
                                      </p:to>
                                    </p:set>
                                    <p:animEffect transition="in" filter="checkerboard(across)">
                                      <p:cBhvr>
                                        <p:cTn id="27" dur="500"/>
                                        <p:tgtEl>
                                          <p:spTgt spid="299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99011">
                                            <p:txEl>
                                              <p:pRg st="5" end="5"/>
                                            </p:txEl>
                                          </p:spTgt>
                                        </p:tgtEl>
                                        <p:attrNameLst>
                                          <p:attrName>style.visibility</p:attrName>
                                        </p:attrNameLst>
                                      </p:cBhvr>
                                      <p:to>
                                        <p:strVal val="visible"/>
                                      </p:to>
                                    </p:set>
                                    <p:animEffect transition="in" filter="checkerboard(across)">
                                      <p:cBhvr>
                                        <p:cTn id="32" dur="500"/>
                                        <p:tgtEl>
                                          <p:spTgt spid="2990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99011">
                                            <p:txEl>
                                              <p:pRg st="6" end="6"/>
                                            </p:txEl>
                                          </p:spTgt>
                                        </p:tgtEl>
                                        <p:attrNameLst>
                                          <p:attrName>style.visibility</p:attrName>
                                        </p:attrNameLst>
                                      </p:cBhvr>
                                      <p:to>
                                        <p:strVal val="visible"/>
                                      </p:to>
                                    </p:set>
                                    <p:animEffect transition="in" filter="checkerboard(across)">
                                      <p:cBhvr>
                                        <p:cTn id="37" dur="500"/>
                                        <p:tgtEl>
                                          <p:spTgt spid="2990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9012"/>
                                        </p:tgtEl>
                                        <p:attrNameLst>
                                          <p:attrName>style.visibility</p:attrName>
                                        </p:attrNameLst>
                                      </p:cBhvr>
                                      <p:to>
                                        <p:strVal val="visible"/>
                                      </p:to>
                                    </p:set>
                                    <p:animEffect transition="in" filter="fade">
                                      <p:cBhvr>
                                        <p:cTn id="42" dur="500"/>
                                        <p:tgtEl>
                                          <p:spTgt spid="299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uiExpand="1" build="p"/>
      <p:bldP spid="2990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539552" y="267494"/>
            <a:ext cx="7772400" cy="685800"/>
          </a:xfrm>
        </p:spPr>
        <p:txBody>
          <a:bodyPr/>
          <a:lstStyle/>
          <a:p>
            <a:r>
              <a:rPr lang="en-GB" dirty="0"/>
              <a:t>Ambient:</a:t>
            </a:r>
          </a:p>
        </p:txBody>
      </p:sp>
      <p:sp>
        <p:nvSpPr>
          <p:cNvPr id="304131" name="Rectangle 3"/>
          <p:cNvSpPr>
            <a:spLocks noGrp="1" noChangeArrowheads="1"/>
          </p:cNvSpPr>
          <p:nvPr>
            <p:ph type="body" idx="1"/>
          </p:nvPr>
        </p:nvSpPr>
        <p:spPr>
          <a:xfrm>
            <a:off x="561975" y="1387079"/>
            <a:ext cx="8027988" cy="2912864"/>
          </a:xfrm>
        </p:spPr>
        <p:txBody>
          <a:bodyPr/>
          <a:lstStyle/>
          <a:p>
            <a:r>
              <a:rPr lang="en-US" sz="2800" dirty="0"/>
              <a:t>Lighting is everywhere</a:t>
            </a:r>
          </a:p>
          <a:p>
            <a:r>
              <a:rPr lang="en-US" sz="2800" dirty="0"/>
              <a:t>Independent of direction</a:t>
            </a:r>
          </a:p>
          <a:p>
            <a:r>
              <a:rPr lang="en-US" sz="2800" dirty="0"/>
              <a:t>Can’t see much</a:t>
            </a:r>
          </a:p>
          <a:p>
            <a:pPr lvl="1"/>
            <a:r>
              <a:rPr lang="en-US" sz="2400" dirty="0"/>
              <a:t>No details</a:t>
            </a:r>
          </a:p>
          <a:p>
            <a:r>
              <a:rPr lang="en-US" sz="2800" dirty="0"/>
              <a:t>You set it for the </a:t>
            </a:r>
            <a:r>
              <a:rPr lang="en-US" sz="2800" b="1" i="1" u="sng" dirty="0"/>
              <a:t>entire scene</a:t>
            </a:r>
            <a:r>
              <a:rPr lang="en-US" sz="2800" dirty="0"/>
              <a:t> if you’d like:</a:t>
            </a:r>
          </a:p>
          <a:p>
            <a:endParaRPr lang="en-US" sz="2800" dirty="0"/>
          </a:p>
          <a:p>
            <a:pPr lvl="1"/>
            <a:endParaRPr lang="en-GB" sz="2400" dirty="0"/>
          </a:p>
        </p:txBody>
      </p:sp>
      <p:sp>
        <p:nvSpPr>
          <p:cNvPr id="30413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304133" name="Picture 5" descr="lighting-ambient"/>
          <p:cNvPicPr>
            <a:picLocks noChangeAspect="1" noChangeArrowheads="1"/>
          </p:cNvPicPr>
          <p:nvPr/>
        </p:nvPicPr>
        <p:blipFill>
          <a:blip r:embed="rId2" cstate="print"/>
          <a:srcRect l="8382" t="21341" r="14331" b="11464"/>
          <a:stretch>
            <a:fillRect/>
          </a:stretch>
        </p:blipFill>
        <p:spPr bwMode="auto">
          <a:xfrm>
            <a:off x="5124450" y="372666"/>
            <a:ext cx="3835400" cy="196810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4131">
                                            <p:txEl>
                                              <p:pRg st="0" end="0"/>
                                            </p:txEl>
                                          </p:spTgt>
                                        </p:tgtEl>
                                        <p:attrNameLst>
                                          <p:attrName>style.visibility</p:attrName>
                                        </p:attrNameLst>
                                      </p:cBhvr>
                                      <p:to>
                                        <p:strVal val="visible"/>
                                      </p:to>
                                    </p:set>
                                    <p:animEffect transition="in" filter="checkerboard(across)">
                                      <p:cBhvr>
                                        <p:cTn id="7" dur="500"/>
                                        <p:tgtEl>
                                          <p:spTgt spid="304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4131">
                                            <p:txEl>
                                              <p:pRg st="1" end="1"/>
                                            </p:txEl>
                                          </p:spTgt>
                                        </p:tgtEl>
                                        <p:attrNameLst>
                                          <p:attrName>style.visibility</p:attrName>
                                        </p:attrNameLst>
                                      </p:cBhvr>
                                      <p:to>
                                        <p:strVal val="visible"/>
                                      </p:to>
                                    </p:set>
                                    <p:animEffect transition="in" filter="checkerboard(across)">
                                      <p:cBhvr>
                                        <p:cTn id="12" dur="500"/>
                                        <p:tgtEl>
                                          <p:spTgt spid="304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4131">
                                            <p:txEl>
                                              <p:pRg st="2" end="2"/>
                                            </p:txEl>
                                          </p:spTgt>
                                        </p:tgtEl>
                                        <p:attrNameLst>
                                          <p:attrName>style.visibility</p:attrName>
                                        </p:attrNameLst>
                                      </p:cBhvr>
                                      <p:to>
                                        <p:strVal val="visible"/>
                                      </p:to>
                                    </p:set>
                                    <p:animEffect transition="in" filter="checkerboard(across)">
                                      <p:cBhvr>
                                        <p:cTn id="17" dur="500"/>
                                        <p:tgtEl>
                                          <p:spTgt spid="304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4131">
                                            <p:txEl>
                                              <p:pRg st="3" end="3"/>
                                            </p:txEl>
                                          </p:spTgt>
                                        </p:tgtEl>
                                        <p:attrNameLst>
                                          <p:attrName>style.visibility</p:attrName>
                                        </p:attrNameLst>
                                      </p:cBhvr>
                                      <p:to>
                                        <p:strVal val="visible"/>
                                      </p:to>
                                    </p:set>
                                    <p:animEffect transition="in" filter="checkerboard(across)">
                                      <p:cBhvr>
                                        <p:cTn id="22" dur="500"/>
                                        <p:tgtEl>
                                          <p:spTgt spid="304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04131">
                                            <p:txEl>
                                              <p:pRg st="4" end="4"/>
                                            </p:txEl>
                                          </p:spTgt>
                                        </p:tgtEl>
                                        <p:attrNameLst>
                                          <p:attrName>style.visibility</p:attrName>
                                        </p:attrNameLst>
                                      </p:cBhvr>
                                      <p:to>
                                        <p:strVal val="visible"/>
                                      </p:to>
                                    </p:set>
                                    <p:animEffect transition="in" filter="checkerboard(across)">
                                      <p:cBhvr>
                                        <p:cTn id="27" dur="500"/>
                                        <p:tgtEl>
                                          <p:spTgt spid="3041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04133"/>
                                        </p:tgtEl>
                                        <p:attrNameLst>
                                          <p:attrName>style.visibility</p:attrName>
                                        </p:attrNameLst>
                                      </p:cBhvr>
                                      <p:to>
                                        <p:strVal val="visible"/>
                                      </p:to>
                                    </p:set>
                                    <p:animEffect transition="in" filter="checkerboard(across)">
                                      <p:cBhvr>
                                        <p:cTn id="32" dur="500"/>
                                        <p:tgtEl>
                                          <p:spTgt spid="3041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4132"/>
                                        </p:tgtEl>
                                        <p:attrNameLst>
                                          <p:attrName>style.visibility</p:attrName>
                                        </p:attrNameLst>
                                      </p:cBhvr>
                                      <p:to>
                                        <p:strVal val="visible"/>
                                      </p:to>
                                    </p:set>
                                    <p:animEffect transition="in" filter="fade">
                                      <p:cBhvr>
                                        <p:cTn id="37" dur="500"/>
                                        <p:tgtEl>
                                          <p:spTgt spid="304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1" grpId="0" build="p"/>
      <p:bldP spid="30413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lstStyle/>
          <a:p>
            <a:r>
              <a:rPr lang="en-GB" dirty="0"/>
              <a:t>Basic lights: Directional:</a:t>
            </a:r>
          </a:p>
        </p:txBody>
      </p:sp>
      <p:sp>
        <p:nvSpPr>
          <p:cNvPr id="305155" name="Rectangle 3"/>
          <p:cNvSpPr>
            <a:spLocks noGrp="1" noChangeArrowheads="1"/>
          </p:cNvSpPr>
          <p:nvPr>
            <p:ph type="body" idx="1"/>
          </p:nvPr>
        </p:nvSpPr>
        <p:spPr>
          <a:xfrm>
            <a:off x="561975" y="1387079"/>
            <a:ext cx="8027988" cy="3245644"/>
          </a:xfrm>
        </p:spPr>
        <p:txBody>
          <a:bodyPr/>
          <a:lstStyle/>
          <a:p>
            <a:r>
              <a:rPr lang="en-US" sz="2800"/>
              <a:t>Comes from one direction</a:t>
            </a:r>
          </a:p>
          <a:p>
            <a:r>
              <a:rPr lang="en-US" sz="2800"/>
              <a:t>No ‘distance’ – infinitely far away</a:t>
            </a:r>
          </a:p>
          <a:p>
            <a:r>
              <a:rPr lang="en-US" sz="2800"/>
              <a:t>Simulates sun</a:t>
            </a:r>
          </a:p>
          <a:p>
            <a:r>
              <a:rPr lang="en-US" sz="2800"/>
              <a:t>Only specify direction and angle</a:t>
            </a:r>
          </a:p>
          <a:p>
            <a:r>
              <a:rPr lang="en-US" sz="2800"/>
              <a:t>Can specify distance – i.e. light only works within this distance, then gets ‘dark’</a:t>
            </a:r>
          </a:p>
          <a:p>
            <a:endParaRPr lang="en-US" sz="2800"/>
          </a:p>
          <a:p>
            <a:pPr lvl="1"/>
            <a:endParaRPr lang="en-GB" sz="2400"/>
          </a:p>
        </p:txBody>
      </p:sp>
      <p:sp>
        <p:nvSpPr>
          <p:cNvPr id="30515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checkerboard(across)">
                                      <p:cBhvr>
                                        <p:cTn id="7" dur="500"/>
                                        <p:tgtEl>
                                          <p:spTgt spid="305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checkerboard(across)">
                                      <p:cBhvr>
                                        <p:cTn id="12" dur="500"/>
                                        <p:tgtEl>
                                          <p:spTgt spid="305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checkerboard(across)">
                                      <p:cBhvr>
                                        <p:cTn id="17" dur="500"/>
                                        <p:tgtEl>
                                          <p:spTgt spid="305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5155">
                                            <p:txEl>
                                              <p:pRg st="3" end="3"/>
                                            </p:txEl>
                                          </p:spTgt>
                                        </p:tgtEl>
                                        <p:attrNameLst>
                                          <p:attrName>style.visibility</p:attrName>
                                        </p:attrNameLst>
                                      </p:cBhvr>
                                      <p:to>
                                        <p:strVal val="visible"/>
                                      </p:to>
                                    </p:set>
                                    <p:animEffect transition="in" filter="checkerboard(across)">
                                      <p:cBhvr>
                                        <p:cTn id="22" dur="500"/>
                                        <p:tgtEl>
                                          <p:spTgt spid="3051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05155">
                                            <p:txEl>
                                              <p:pRg st="4" end="4"/>
                                            </p:txEl>
                                          </p:spTgt>
                                        </p:tgtEl>
                                        <p:attrNameLst>
                                          <p:attrName>style.visibility</p:attrName>
                                        </p:attrNameLst>
                                      </p:cBhvr>
                                      <p:to>
                                        <p:strVal val="visible"/>
                                      </p:to>
                                    </p:set>
                                    <p:animEffect transition="in" filter="checkerboard(across)">
                                      <p:cBhvr>
                                        <p:cTn id="27" dur="500"/>
                                        <p:tgtEl>
                                          <p:spTgt spid="3051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5156"/>
                                        </p:tgtEl>
                                        <p:attrNameLst>
                                          <p:attrName>style.visibility</p:attrName>
                                        </p:attrNameLst>
                                      </p:cBhvr>
                                      <p:to>
                                        <p:strVal val="visible"/>
                                      </p:to>
                                    </p:set>
                                    <p:animEffect transition="in" filter="fade">
                                      <p:cBhvr>
                                        <p:cTn id="32" dur="500"/>
                                        <p:tgtEl>
                                          <p:spTgt spid="305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build="p"/>
      <p:bldP spid="30515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a:xfrm>
            <a:off x="863600" y="144066"/>
            <a:ext cx="7543800" cy="1073944"/>
          </a:xfrm>
        </p:spPr>
        <p:txBody>
          <a:bodyPr/>
          <a:lstStyle/>
          <a:p>
            <a:r>
              <a:rPr lang="en-GB" dirty="0"/>
              <a:t>Basic lights: Point:</a:t>
            </a:r>
          </a:p>
        </p:txBody>
      </p:sp>
      <p:sp>
        <p:nvSpPr>
          <p:cNvPr id="307203" name="Rectangle 3"/>
          <p:cNvSpPr>
            <a:spLocks noGrp="1" noChangeArrowheads="1"/>
          </p:cNvSpPr>
          <p:nvPr>
            <p:ph type="body" idx="1"/>
          </p:nvPr>
        </p:nvSpPr>
        <p:spPr>
          <a:xfrm>
            <a:off x="744539" y="1387079"/>
            <a:ext cx="7642225" cy="2696840"/>
          </a:xfrm>
        </p:spPr>
        <p:txBody>
          <a:bodyPr>
            <a:normAutofit fontScale="92500" lnSpcReduction="10000"/>
          </a:bodyPr>
          <a:lstStyle/>
          <a:p>
            <a:r>
              <a:rPr lang="en-US" sz="2800" dirty="0"/>
              <a:t>Light a light bulb</a:t>
            </a:r>
          </a:p>
          <a:p>
            <a:r>
              <a:rPr lang="en-US" sz="2800" dirty="0"/>
              <a:t>A specific location</a:t>
            </a:r>
          </a:p>
          <a:p>
            <a:r>
              <a:rPr lang="en-US" sz="2800" dirty="0"/>
              <a:t>Light spreads all around</a:t>
            </a:r>
          </a:p>
          <a:p>
            <a:r>
              <a:rPr lang="en-US" sz="2800" i="1" dirty="0"/>
              <a:t>Can’t</a:t>
            </a:r>
            <a:r>
              <a:rPr lang="en-US" sz="2800" dirty="0"/>
              <a:t> specify </a:t>
            </a:r>
            <a:r>
              <a:rPr lang="en-US" sz="2800" b="1" dirty="0"/>
              <a:t>direction</a:t>
            </a:r>
            <a:r>
              <a:rPr lang="en-US" sz="2800" dirty="0"/>
              <a:t>, but </a:t>
            </a:r>
            <a:r>
              <a:rPr lang="en-US" sz="2800" i="1" dirty="0"/>
              <a:t>can</a:t>
            </a:r>
            <a:r>
              <a:rPr lang="en-US" sz="2800" dirty="0"/>
              <a:t> specify </a:t>
            </a:r>
            <a:r>
              <a:rPr lang="en-US" sz="2800" b="1" dirty="0"/>
              <a:t>distance </a:t>
            </a:r>
            <a:r>
              <a:rPr lang="en-US" sz="2800" dirty="0"/>
              <a:t>(i.e. where it gets ‘dark’)</a:t>
            </a:r>
          </a:p>
          <a:p>
            <a:r>
              <a:rPr lang="en-US" sz="2800" dirty="0"/>
              <a:t>More expensive than directional</a:t>
            </a:r>
          </a:p>
        </p:txBody>
      </p:sp>
      <p:sp>
        <p:nvSpPr>
          <p:cNvPr id="30720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7203">
                                            <p:txEl>
                                              <p:pRg st="0" end="0"/>
                                            </p:txEl>
                                          </p:spTgt>
                                        </p:tgtEl>
                                        <p:attrNameLst>
                                          <p:attrName>style.visibility</p:attrName>
                                        </p:attrNameLst>
                                      </p:cBhvr>
                                      <p:to>
                                        <p:strVal val="visible"/>
                                      </p:to>
                                    </p:set>
                                    <p:animEffect transition="in" filter="checkerboard(across)">
                                      <p:cBhvr>
                                        <p:cTn id="7" dur="500"/>
                                        <p:tgtEl>
                                          <p:spTgt spid="307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7203">
                                            <p:txEl>
                                              <p:pRg st="1" end="1"/>
                                            </p:txEl>
                                          </p:spTgt>
                                        </p:tgtEl>
                                        <p:attrNameLst>
                                          <p:attrName>style.visibility</p:attrName>
                                        </p:attrNameLst>
                                      </p:cBhvr>
                                      <p:to>
                                        <p:strVal val="visible"/>
                                      </p:to>
                                    </p:set>
                                    <p:animEffect transition="in" filter="checkerboard(across)">
                                      <p:cBhvr>
                                        <p:cTn id="12" dur="500"/>
                                        <p:tgtEl>
                                          <p:spTgt spid="307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7203">
                                            <p:txEl>
                                              <p:pRg st="2" end="2"/>
                                            </p:txEl>
                                          </p:spTgt>
                                        </p:tgtEl>
                                        <p:attrNameLst>
                                          <p:attrName>style.visibility</p:attrName>
                                        </p:attrNameLst>
                                      </p:cBhvr>
                                      <p:to>
                                        <p:strVal val="visible"/>
                                      </p:to>
                                    </p:set>
                                    <p:animEffect transition="in" filter="checkerboard(across)">
                                      <p:cBhvr>
                                        <p:cTn id="17" dur="500"/>
                                        <p:tgtEl>
                                          <p:spTgt spid="3072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7203">
                                            <p:txEl>
                                              <p:pRg st="3" end="3"/>
                                            </p:txEl>
                                          </p:spTgt>
                                        </p:tgtEl>
                                        <p:attrNameLst>
                                          <p:attrName>style.visibility</p:attrName>
                                        </p:attrNameLst>
                                      </p:cBhvr>
                                      <p:to>
                                        <p:strVal val="visible"/>
                                      </p:to>
                                    </p:set>
                                    <p:animEffect transition="in" filter="checkerboard(across)">
                                      <p:cBhvr>
                                        <p:cTn id="22" dur="500"/>
                                        <p:tgtEl>
                                          <p:spTgt spid="3072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07203">
                                            <p:txEl>
                                              <p:pRg st="4" end="4"/>
                                            </p:txEl>
                                          </p:spTgt>
                                        </p:tgtEl>
                                        <p:attrNameLst>
                                          <p:attrName>style.visibility</p:attrName>
                                        </p:attrNameLst>
                                      </p:cBhvr>
                                      <p:to>
                                        <p:strVal val="visible"/>
                                      </p:to>
                                    </p:set>
                                    <p:animEffect transition="in" filter="checkerboard(across)">
                                      <p:cBhvr>
                                        <p:cTn id="27" dur="500"/>
                                        <p:tgtEl>
                                          <p:spTgt spid="3072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7204"/>
                                        </p:tgtEl>
                                        <p:attrNameLst>
                                          <p:attrName>style.visibility</p:attrName>
                                        </p:attrNameLst>
                                      </p:cBhvr>
                                      <p:to>
                                        <p:strVal val="visible"/>
                                      </p:to>
                                    </p:set>
                                    <p:animEffect transition="in" filter="fade">
                                      <p:cBhvr>
                                        <p:cTn id="32" dur="500"/>
                                        <p:tgtEl>
                                          <p:spTgt spid="307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P spid="30720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863600" y="144066"/>
            <a:ext cx="7543800" cy="1073944"/>
          </a:xfrm>
        </p:spPr>
        <p:txBody>
          <a:bodyPr/>
          <a:lstStyle/>
          <a:p>
            <a:r>
              <a:rPr lang="en-GB" dirty="0"/>
              <a:t>Basic lights: Spot:</a:t>
            </a:r>
          </a:p>
        </p:txBody>
      </p:sp>
      <p:sp>
        <p:nvSpPr>
          <p:cNvPr id="309251" name="Rectangle 3"/>
          <p:cNvSpPr>
            <a:spLocks noGrp="1" noChangeArrowheads="1"/>
          </p:cNvSpPr>
          <p:nvPr>
            <p:ph type="body" idx="1"/>
          </p:nvPr>
        </p:nvSpPr>
        <p:spPr>
          <a:xfrm>
            <a:off x="681039" y="1244204"/>
            <a:ext cx="7642225" cy="1645444"/>
          </a:xfrm>
        </p:spPr>
        <p:txBody>
          <a:bodyPr/>
          <a:lstStyle/>
          <a:p>
            <a:r>
              <a:rPr lang="en-US" sz="2800" dirty="0"/>
              <a:t>Most expensive light</a:t>
            </a:r>
          </a:p>
          <a:p>
            <a:r>
              <a:rPr lang="en-US" sz="2800" dirty="0"/>
              <a:t>Like a point light, but also calculates umbra and penumbra (where the light hits, etc.)</a:t>
            </a:r>
          </a:p>
          <a:p>
            <a:endParaRPr lang="en-US" sz="2800" dirty="0"/>
          </a:p>
          <a:p>
            <a:pPr lvl="1"/>
            <a:endParaRPr lang="en-GB" sz="2400" dirty="0"/>
          </a:p>
        </p:txBody>
      </p:sp>
      <p:sp>
        <p:nvSpPr>
          <p:cNvPr id="30925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309253" name="Picture 5" descr="penumbra_001"/>
          <p:cNvPicPr>
            <a:picLocks noChangeAspect="1" noChangeArrowheads="1"/>
          </p:cNvPicPr>
          <p:nvPr/>
        </p:nvPicPr>
        <p:blipFill>
          <a:blip r:embed="rId2" cstate="print"/>
          <a:srcRect l="11555" r="13779" b="42299"/>
          <a:stretch>
            <a:fillRect/>
          </a:stretch>
        </p:blipFill>
        <p:spPr bwMode="auto">
          <a:xfrm>
            <a:off x="5314950" y="2850357"/>
            <a:ext cx="3403600" cy="1907381"/>
          </a:xfrm>
          <a:prstGeom prst="rect">
            <a:avLst/>
          </a:prstGeom>
          <a:noFill/>
        </p:spPr>
      </p:pic>
      <p:sp>
        <p:nvSpPr>
          <p:cNvPr id="309254" name="Oval 6"/>
          <p:cNvSpPr>
            <a:spLocks noChangeArrowheads="1"/>
          </p:cNvSpPr>
          <p:nvPr/>
        </p:nvSpPr>
        <p:spPr bwMode="auto">
          <a:xfrm>
            <a:off x="5753100" y="2914650"/>
            <a:ext cx="1333500" cy="504825"/>
          </a:xfrm>
          <a:prstGeom prst="ellipse">
            <a:avLst/>
          </a:prstGeom>
          <a:noFill/>
          <a:ln w="57150">
            <a:solidFill>
              <a:srgbClr val="FF0000"/>
            </a:solidFill>
            <a:round/>
            <a:headEnd/>
            <a:tailEnd/>
          </a:ln>
          <a:effectLst/>
        </p:spPr>
        <p:txBody>
          <a:bodyPr wrap="none" anchor="ctr"/>
          <a:lstStyle/>
          <a:p>
            <a:endParaRPr lang="en-CA"/>
          </a:p>
        </p:txBody>
      </p:sp>
      <p:sp>
        <p:nvSpPr>
          <p:cNvPr id="309255" name="AutoShape 7"/>
          <p:cNvSpPr>
            <a:spLocks/>
          </p:cNvSpPr>
          <p:nvPr/>
        </p:nvSpPr>
        <p:spPr bwMode="auto">
          <a:xfrm>
            <a:off x="825500" y="3114675"/>
            <a:ext cx="2006600" cy="457200"/>
          </a:xfrm>
          <a:prstGeom prst="borderCallout2">
            <a:avLst>
              <a:gd name="adj1" fmla="val 18750"/>
              <a:gd name="adj2" fmla="val 103796"/>
              <a:gd name="adj3" fmla="val 18750"/>
              <a:gd name="adj4" fmla="val 171125"/>
              <a:gd name="adj5" fmla="val 8333"/>
              <a:gd name="adj6" fmla="val 241139"/>
            </a:avLst>
          </a:prstGeom>
          <a:noFill/>
          <a:ln w="25400">
            <a:solidFill>
              <a:schemeClr val="tx1"/>
            </a:solidFill>
            <a:miter lim="800000"/>
            <a:headEnd/>
            <a:tailEnd type="stealth" w="lg" len="lg"/>
          </a:ln>
          <a:effectLst/>
        </p:spPr>
        <p:txBody>
          <a:bodyPr/>
          <a:lstStyle/>
          <a:p>
            <a:pPr algn="ctr"/>
            <a:r>
              <a:rPr lang="en-US">
                <a:solidFill>
                  <a:schemeClr val="tx1"/>
                </a:solidFill>
                <a:effectLst>
                  <a:outerShdw blurRad="38100" dist="38100" dir="2700000" algn="tl">
                    <a:srgbClr val="000000"/>
                  </a:outerShdw>
                </a:effectLst>
              </a:rPr>
              <a:t>penumbra</a:t>
            </a:r>
            <a:endParaRPr lang="en-GB">
              <a:solidFill>
                <a:schemeClr val="tx1"/>
              </a:solidFill>
              <a:effectLst>
                <a:outerShdw blurRad="38100" dist="38100" dir="2700000" algn="tl">
                  <a:srgbClr val="00000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9251">
                                            <p:txEl>
                                              <p:pRg st="0" end="0"/>
                                            </p:txEl>
                                          </p:spTgt>
                                        </p:tgtEl>
                                        <p:attrNameLst>
                                          <p:attrName>style.visibility</p:attrName>
                                        </p:attrNameLst>
                                      </p:cBhvr>
                                      <p:to>
                                        <p:strVal val="visible"/>
                                      </p:to>
                                    </p:set>
                                    <p:animEffect transition="in" filter="checkerboard(across)">
                                      <p:cBhvr>
                                        <p:cTn id="7" dur="500"/>
                                        <p:tgtEl>
                                          <p:spTgt spid="309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9251">
                                            <p:txEl>
                                              <p:pRg st="1" end="1"/>
                                            </p:txEl>
                                          </p:spTgt>
                                        </p:tgtEl>
                                        <p:attrNameLst>
                                          <p:attrName>style.visibility</p:attrName>
                                        </p:attrNameLst>
                                      </p:cBhvr>
                                      <p:to>
                                        <p:strVal val="visible"/>
                                      </p:to>
                                    </p:set>
                                    <p:animEffect transition="in" filter="checkerboard(across)">
                                      <p:cBhvr>
                                        <p:cTn id="12" dur="500"/>
                                        <p:tgtEl>
                                          <p:spTgt spid="3092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9253"/>
                                        </p:tgtEl>
                                        <p:attrNameLst>
                                          <p:attrName>style.visibility</p:attrName>
                                        </p:attrNameLst>
                                      </p:cBhvr>
                                      <p:to>
                                        <p:strVal val="visible"/>
                                      </p:to>
                                    </p:set>
                                    <p:animEffect transition="in" filter="checkerboard(across)">
                                      <p:cBhvr>
                                        <p:cTn id="17" dur="500"/>
                                        <p:tgtEl>
                                          <p:spTgt spid="30925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9255"/>
                                        </p:tgtEl>
                                        <p:attrNameLst>
                                          <p:attrName>style.visibility</p:attrName>
                                        </p:attrNameLst>
                                      </p:cBhvr>
                                      <p:to>
                                        <p:strVal val="visible"/>
                                      </p:to>
                                    </p:set>
                                    <p:animEffect transition="in" filter="checkerboard(across)">
                                      <p:cBhvr>
                                        <p:cTn id="22" dur="500"/>
                                        <p:tgtEl>
                                          <p:spTgt spid="309255"/>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309254"/>
                                        </p:tgtEl>
                                        <p:attrNameLst>
                                          <p:attrName>style.visibility</p:attrName>
                                        </p:attrNameLst>
                                      </p:cBhvr>
                                      <p:to>
                                        <p:strVal val="visible"/>
                                      </p:to>
                                    </p:set>
                                    <p:animEffect transition="in" filter="checkerboard(across)">
                                      <p:cBhvr>
                                        <p:cTn id="25" dur="500"/>
                                        <p:tgtEl>
                                          <p:spTgt spid="30925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09252"/>
                                        </p:tgtEl>
                                        <p:attrNameLst>
                                          <p:attrName>style.visibility</p:attrName>
                                        </p:attrNameLst>
                                      </p:cBhvr>
                                      <p:to>
                                        <p:strVal val="visible"/>
                                      </p:to>
                                    </p:set>
                                    <p:animEffect transition="in" filter="fade">
                                      <p:cBhvr>
                                        <p:cTn id="30" dur="500"/>
                                        <p:tgtEl>
                                          <p:spTgt spid="309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build="p"/>
      <p:bldP spid="309252" grpId="0" animBg="1"/>
      <p:bldP spid="309254" grpId="0" animBg="1"/>
      <p:bldP spid="30925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r>
              <a:rPr lang="en-GB" dirty="0"/>
              <a:t>Material (aka “fancy colour”):</a:t>
            </a:r>
          </a:p>
        </p:txBody>
      </p:sp>
      <p:sp>
        <p:nvSpPr>
          <p:cNvPr id="308227" name="Rectangle 3"/>
          <p:cNvSpPr>
            <a:spLocks noGrp="1" noChangeArrowheads="1"/>
          </p:cNvSpPr>
          <p:nvPr>
            <p:ph type="body" idx="1"/>
          </p:nvPr>
        </p:nvSpPr>
        <p:spPr>
          <a:xfrm>
            <a:off x="561975" y="1387079"/>
            <a:ext cx="8027988" cy="3245644"/>
          </a:xfrm>
        </p:spPr>
        <p:txBody>
          <a:bodyPr/>
          <a:lstStyle/>
          <a:p>
            <a:r>
              <a:rPr lang="en-US" sz="2800" dirty="0"/>
              <a:t>Specifies the interplay of the light with the geometry of the model</a:t>
            </a:r>
          </a:p>
          <a:p>
            <a:r>
              <a:rPr lang="en-US" sz="2800" dirty="0"/>
              <a:t>Specifies all the lighting characteristics (ambient, diffuse, </a:t>
            </a:r>
            <a:r>
              <a:rPr lang="en-US" sz="2800" dirty="0" err="1"/>
              <a:t>specular</a:t>
            </a:r>
            <a:r>
              <a:rPr lang="en-US" sz="2800" dirty="0"/>
              <a:t>, emissive)</a:t>
            </a:r>
          </a:p>
          <a:p>
            <a:r>
              <a:rPr lang="en-US" sz="2800" dirty="0"/>
              <a:t>Combines with </a:t>
            </a:r>
            <a:r>
              <a:rPr lang="en-US" sz="2800" dirty="0" err="1"/>
              <a:t>colour</a:t>
            </a:r>
            <a:r>
              <a:rPr lang="en-US" sz="2800" dirty="0"/>
              <a:t>, texture, and other things (bump, etc.) to calculate </a:t>
            </a:r>
            <a:r>
              <a:rPr lang="en-US" sz="2800" dirty="0" err="1"/>
              <a:t>colour</a:t>
            </a:r>
            <a:endParaRPr lang="en-US" sz="2800" dirty="0"/>
          </a:p>
          <a:p>
            <a:endParaRPr lang="en-US" sz="2800" dirty="0"/>
          </a:p>
          <a:p>
            <a:pPr lvl="1"/>
            <a:endParaRPr lang="en-GB" sz="2400" dirty="0"/>
          </a:p>
        </p:txBody>
      </p:sp>
      <p:sp>
        <p:nvSpPr>
          <p:cNvPr id="30822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Effect transition="in" filter="checkerboard(across)">
                                      <p:cBhvr>
                                        <p:cTn id="7" dur="500"/>
                                        <p:tgtEl>
                                          <p:spTgt spid="3082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8227">
                                            <p:txEl>
                                              <p:pRg st="1" end="1"/>
                                            </p:txEl>
                                          </p:spTgt>
                                        </p:tgtEl>
                                        <p:attrNameLst>
                                          <p:attrName>style.visibility</p:attrName>
                                        </p:attrNameLst>
                                      </p:cBhvr>
                                      <p:to>
                                        <p:strVal val="visible"/>
                                      </p:to>
                                    </p:set>
                                    <p:animEffect transition="in" filter="checkerboard(across)">
                                      <p:cBhvr>
                                        <p:cTn id="12" dur="500"/>
                                        <p:tgtEl>
                                          <p:spTgt spid="3082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8227">
                                            <p:txEl>
                                              <p:pRg st="2" end="2"/>
                                            </p:txEl>
                                          </p:spTgt>
                                        </p:tgtEl>
                                        <p:attrNameLst>
                                          <p:attrName>style.visibility</p:attrName>
                                        </p:attrNameLst>
                                      </p:cBhvr>
                                      <p:to>
                                        <p:strVal val="visible"/>
                                      </p:to>
                                    </p:set>
                                    <p:animEffect transition="in" filter="checkerboard(across)">
                                      <p:cBhvr>
                                        <p:cTn id="17" dur="500"/>
                                        <p:tgtEl>
                                          <p:spTgt spid="3082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8228"/>
                                        </p:tgtEl>
                                        <p:attrNameLst>
                                          <p:attrName>style.visibility</p:attrName>
                                        </p:attrNameLst>
                                      </p:cBhvr>
                                      <p:to>
                                        <p:strVal val="visible"/>
                                      </p:to>
                                    </p:set>
                                    <p:animEffect transition="in" filter="fade">
                                      <p:cBhvr>
                                        <p:cTn id="22" dur="500"/>
                                        <p:tgtEl>
                                          <p:spTgt spid="308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P spid="30822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r>
              <a:rPr lang="en-GB"/>
              <a:t>Cross and dot product</a:t>
            </a:r>
          </a:p>
        </p:txBody>
      </p:sp>
      <p:sp>
        <p:nvSpPr>
          <p:cNvPr id="310275" name="Rectangle 3"/>
          <p:cNvSpPr>
            <a:spLocks noGrp="1" noChangeArrowheads="1"/>
          </p:cNvSpPr>
          <p:nvPr>
            <p:ph type="body" idx="1"/>
          </p:nvPr>
        </p:nvSpPr>
        <p:spPr/>
        <p:txBody>
          <a:bodyPr>
            <a:normAutofit lnSpcReduction="10000"/>
          </a:bodyPr>
          <a:lstStyle/>
          <a:p>
            <a:r>
              <a:rPr lang="en-GB"/>
              <a:t>Remember the ‘normal?” </a:t>
            </a:r>
          </a:p>
          <a:p>
            <a:r>
              <a:rPr lang="en-GB"/>
              <a:t>Remember how you can’t (yet) see the lighting on the bunny?</a:t>
            </a:r>
          </a:p>
          <a:p>
            <a:r>
              <a:rPr lang="en-GB"/>
              <a:t>That’s because the bunny doesn’t have any ‘normal’ vectors defined.</a:t>
            </a:r>
          </a:p>
          <a:p>
            <a:r>
              <a:rPr lang="en-GB"/>
              <a:t>Also, you aren’t specifying any when you render them</a:t>
            </a:r>
          </a:p>
        </p:txBody>
      </p:sp>
      <p:sp>
        <p:nvSpPr>
          <p:cNvPr id="31027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0275">
                                            <p:txEl>
                                              <p:pRg st="0" end="0"/>
                                            </p:txEl>
                                          </p:spTgt>
                                        </p:tgtEl>
                                        <p:attrNameLst>
                                          <p:attrName>style.visibility</p:attrName>
                                        </p:attrNameLst>
                                      </p:cBhvr>
                                      <p:to>
                                        <p:strVal val="visible"/>
                                      </p:to>
                                    </p:set>
                                    <p:animEffect transition="in" filter="checkerboard(across)">
                                      <p:cBhvr>
                                        <p:cTn id="7" dur="500"/>
                                        <p:tgtEl>
                                          <p:spTgt spid="310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0275">
                                            <p:txEl>
                                              <p:pRg st="1" end="1"/>
                                            </p:txEl>
                                          </p:spTgt>
                                        </p:tgtEl>
                                        <p:attrNameLst>
                                          <p:attrName>style.visibility</p:attrName>
                                        </p:attrNameLst>
                                      </p:cBhvr>
                                      <p:to>
                                        <p:strVal val="visible"/>
                                      </p:to>
                                    </p:set>
                                    <p:animEffect transition="in" filter="checkerboard(across)">
                                      <p:cBhvr>
                                        <p:cTn id="12" dur="500"/>
                                        <p:tgtEl>
                                          <p:spTgt spid="310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0275">
                                            <p:txEl>
                                              <p:pRg st="2" end="2"/>
                                            </p:txEl>
                                          </p:spTgt>
                                        </p:tgtEl>
                                        <p:attrNameLst>
                                          <p:attrName>style.visibility</p:attrName>
                                        </p:attrNameLst>
                                      </p:cBhvr>
                                      <p:to>
                                        <p:strVal val="visible"/>
                                      </p:to>
                                    </p:set>
                                    <p:animEffect transition="in" filter="checkerboard(across)">
                                      <p:cBhvr>
                                        <p:cTn id="17" dur="500"/>
                                        <p:tgtEl>
                                          <p:spTgt spid="310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0275">
                                            <p:txEl>
                                              <p:pRg st="3" end="3"/>
                                            </p:txEl>
                                          </p:spTgt>
                                        </p:tgtEl>
                                        <p:attrNameLst>
                                          <p:attrName>style.visibility</p:attrName>
                                        </p:attrNameLst>
                                      </p:cBhvr>
                                      <p:to>
                                        <p:strVal val="visible"/>
                                      </p:to>
                                    </p:set>
                                    <p:animEffect transition="in" filter="checkerboard(across)">
                                      <p:cBhvr>
                                        <p:cTn id="22" dur="500"/>
                                        <p:tgtEl>
                                          <p:spTgt spid="310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0276"/>
                                        </p:tgtEl>
                                        <p:attrNameLst>
                                          <p:attrName>style.visibility</p:attrName>
                                        </p:attrNameLst>
                                      </p:cBhvr>
                                      <p:to>
                                        <p:strVal val="visible"/>
                                      </p:to>
                                    </p:set>
                                    <p:animEffect transition="in" filter="fade">
                                      <p:cBhvr>
                                        <p:cTn id="27" dur="500"/>
                                        <p:tgtEl>
                                          <p:spTgt spid="310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build="p"/>
      <p:bldP spid="31027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lstStyle/>
          <a:p>
            <a:r>
              <a:rPr lang="en-GB"/>
              <a:t>Cross Product</a:t>
            </a:r>
          </a:p>
        </p:txBody>
      </p:sp>
      <p:sp>
        <p:nvSpPr>
          <p:cNvPr id="311299" name="Rectangle 3"/>
          <p:cNvSpPr>
            <a:spLocks noGrp="1" noChangeArrowheads="1"/>
          </p:cNvSpPr>
          <p:nvPr>
            <p:ph type="body" idx="1"/>
          </p:nvPr>
        </p:nvSpPr>
        <p:spPr/>
        <p:txBody>
          <a:bodyPr/>
          <a:lstStyle/>
          <a:p>
            <a:r>
              <a:rPr lang="en-GB"/>
              <a:t>The cross product is a matrix calculation that allows us to generate the normal vector.</a:t>
            </a:r>
          </a:p>
          <a:p>
            <a:r>
              <a:rPr lang="en-GB"/>
              <a:t>Neat. </a:t>
            </a:r>
          </a:p>
        </p:txBody>
      </p:sp>
      <p:pic>
        <p:nvPicPr>
          <p:cNvPr id="311300" name="Picture 4" descr="CROSS"/>
          <p:cNvPicPr>
            <a:picLocks noChangeAspect="1" noChangeArrowheads="1"/>
          </p:cNvPicPr>
          <p:nvPr/>
        </p:nvPicPr>
        <p:blipFill>
          <a:blip r:embed="rId2" cstate="print"/>
          <a:srcRect/>
          <a:stretch>
            <a:fillRect/>
          </a:stretch>
        </p:blipFill>
        <p:spPr bwMode="auto">
          <a:xfrm>
            <a:off x="5408614" y="2490788"/>
            <a:ext cx="3354387" cy="2000250"/>
          </a:xfrm>
          <a:prstGeom prst="rect">
            <a:avLst/>
          </a:prstGeom>
          <a:noFill/>
        </p:spPr>
      </p:pic>
      <p:sp>
        <p:nvSpPr>
          <p:cNvPr id="311301"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11300"/>
                                        </p:tgtEl>
                                        <p:attrNameLst>
                                          <p:attrName>style.visibility</p:attrName>
                                        </p:attrNameLst>
                                      </p:cBhvr>
                                      <p:to>
                                        <p:strVal val="visible"/>
                                      </p:to>
                                    </p:set>
                                    <p:animEffect transition="in" filter="checkerboard(across)">
                                      <p:cBhvr>
                                        <p:cTn id="7" dur="500"/>
                                        <p:tgtEl>
                                          <p:spTgt spid="31130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1299">
                                            <p:txEl>
                                              <p:pRg st="0" end="0"/>
                                            </p:txEl>
                                          </p:spTgt>
                                        </p:tgtEl>
                                        <p:attrNameLst>
                                          <p:attrName>style.visibility</p:attrName>
                                        </p:attrNameLst>
                                      </p:cBhvr>
                                      <p:to>
                                        <p:strVal val="visible"/>
                                      </p:to>
                                    </p:set>
                                    <p:animEffect transition="in" filter="checkerboard(across)">
                                      <p:cBhvr>
                                        <p:cTn id="12" dur="500"/>
                                        <p:tgtEl>
                                          <p:spTgt spid="3112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1299">
                                            <p:txEl>
                                              <p:pRg st="1" end="1"/>
                                            </p:txEl>
                                          </p:spTgt>
                                        </p:tgtEl>
                                        <p:attrNameLst>
                                          <p:attrName>style.visibility</p:attrName>
                                        </p:attrNameLst>
                                      </p:cBhvr>
                                      <p:to>
                                        <p:strVal val="visible"/>
                                      </p:to>
                                    </p:set>
                                    <p:animEffect transition="in" filter="checkerboard(across)">
                                      <p:cBhvr>
                                        <p:cTn id="17" dur="500"/>
                                        <p:tgtEl>
                                          <p:spTgt spid="3112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1301"/>
                                        </p:tgtEl>
                                        <p:attrNameLst>
                                          <p:attrName>style.visibility</p:attrName>
                                        </p:attrNameLst>
                                      </p:cBhvr>
                                      <p:to>
                                        <p:strVal val="visible"/>
                                      </p:to>
                                    </p:set>
                                    <p:animEffect transition="in" filter="fade">
                                      <p:cBhvr>
                                        <p:cTn id="22" dur="500"/>
                                        <p:tgtEl>
                                          <p:spTgt spid="311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P spid="31130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r>
              <a:rPr lang="en-GB"/>
              <a:t>Cross Product</a:t>
            </a:r>
          </a:p>
        </p:txBody>
      </p:sp>
      <p:sp>
        <p:nvSpPr>
          <p:cNvPr id="312323" name="Rectangle 3"/>
          <p:cNvSpPr>
            <a:spLocks noGrp="1" noChangeArrowheads="1"/>
          </p:cNvSpPr>
          <p:nvPr>
            <p:ph type="body" idx="1"/>
          </p:nvPr>
        </p:nvSpPr>
        <p:spPr>
          <a:xfrm>
            <a:off x="990600" y="1638300"/>
            <a:ext cx="7543800" cy="3086100"/>
          </a:xfrm>
        </p:spPr>
        <p:txBody>
          <a:bodyPr>
            <a:normAutofit fontScale="92500" lnSpcReduction="10000"/>
          </a:bodyPr>
          <a:lstStyle/>
          <a:p>
            <a:r>
              <a:rPr lang="en-GB"/>
              <a:t>But how do you calculate it?</a:t>
            </a:r>
          </a:p>
          <a:p>
            <a:r>
              <a:rPr lang="en-GB"/>
              <a:t>Here’s the formula:</a:t>
            </a:r>
          </a:p>
          <a:p>
            <a:r>
              <a:rPr lang="en-GB"/>
              <a:t> </a:t>
            </a:r>
            <a:r>
              <a:rPr lang="en-GB" b="1"/>
              <a:t>a</a:t>
            </a:r>
            <a:r>
              <a:rPr lang="en-GB"/>
              <a:t> X </a:t>
            </a:r>
            <a:r>
              <a:rPr lang="en-GB" b="1"/>
              <a:t>b</a:t>
            </a:r>
            <a:r>
              <a:rPr lang="en-GB"/>
              <a:t> = (</a:t>
            </a:r>
            <a:r>
              <a:rPr lang="en-GB" b="1" i="1"/>
              <a:t>y</a:t>
            </a:r>
            <a:r>
              <a:rPr lang="en-GB"/>
              <a:t>a </a:t>
            </a:r>
            <a:r>
              <a:rPr lang="en-GB" b="1" i="1"/>
              <a:t>z</a:t>
            </a:r>
            <a:r>
              <a:rPr lang="en-GB"/>
              <a:t>b- </a:t>
            </a:r>
            <a:r>
              <a:rPr lang="en-GB" b="1" i="1"/>
              <a:t>y</a:t>
            </a:r>
            <a:r>
              <a:rPr lang="en-GB"/>
              <a:t>b </a:t>
            </a:r>
            <a:r>
              <a:rPr lang="en-GB" b="1" i="1"/>
              <a:t>z</a:t>
            </a:r>
            <a:r>
              <a:rPr lang="en-GB"/>
              <a:t>a) </a:t>
            </a:r>
            <a:r>
              <a:rPr lang="en-GB" b="1"/>
              <a:t>i</a:t>
            </a:r>
            <a:r>
              <a:rPr lang="en-GB"/>
              <a:t> </a:t>
            </a:r>
            <a:br>
              <a:rPr lang="en-GB"/>
            </a:br>
            <a:r>
              <a:rPr lang="en-GB"/>
              <a:t>		+ (</a:t>
            </a:r>
            <a:r>
              <a:rPr lang="en-GB" b="1" i="1"/>
              <a:t>z</a:t>
            </a:r>
            <a:r>
              <a:rPr lang="en-GB"/>
              <a:t>a </a:t>
            </a:r>
            <a:r>
              <a:rPr lang="en-GB" b="1" i="1"/>
              <a:t>x</a:t>
            </a:r>
            <a:r>
              <a:rPr lang="en-GB"/>
              <a:t>b- </a:t>
            </a:r>
            <a:r>
              <a:rPr lang="en-GB" b="1" i="1"/>
              <a:t>z</a:t>
            </a:r>
            <a:r>
              <a:rPr lang="en-GB"/>
              <a:t>b </a:t>
            </a:r>
            <a:r>
              <a:rPr lang="en-GB" b="1" i="1"/>
              <a:t>x</a:t>
            </a:r>
            <a:r>
              <a:rPr lang="en-GB"/>
              <a:t>a) </a:t>
            </a:r>
            <a:r>
              <a:rPr lang="en-GB" b="1"/>
              <a:t>j</a:t>
            </a:r>
            <a:r>
              <a:rPr lang="en-GB"/>
              <a:t> </a:t>
            </a:r>
            <a:br>
              <a:rPr lang="en-GB"/>
            </a:br>
            <a:r>
              <a:rPr lang="en-GB"/>
              <a:t>		+ (</a:t>
            </a:r>
            <a:r>
              <a:rPr lang="en-GB" b="1" i="1"/>
              <a:t>x</a:t>
            </a:r>
            <a:r>
              <a:rPr lang="en-GB"/>
              <a:t>a </a:t>
            </a:r>
            <a:r>
              <a:rPr lang="en-GB" b="1" i="1"/>
              <a:t>y</a:t>
            </a:r>
            <a:r>
              <a:rPr lang="en-GB"/>
              <a:t>b- </a:t>
            </a:r>
            <a:r>
              <a:rPr lang="en-GB" b="1" i="1"/>
              <a:t>x</a:t>
            </a:r>
            <a:r>
              <a:rPr lang="en-GB"/>
              <a:t>b </a:t>
            </a:r>
            <a:r>
              <a:rPr lang="en-GB" b="1" i="1"/>
              <a:t>y</a:t>
            </a:r>
            <a:r>
              <a:rPr lang="en-GB"/>
              <a:t>a) </a:t>
            </a:r>
            <a:r>
              <a:rPr lang="en-GB" b="1"/>
              <a:t>k</a:t>
            </a:r>
            <a:r>
              <a:rPr lang="en-GB"/>
              <a:t> </a:t>
            </a:r>
          </a:p>
          <a:p>
            <a:r>
              <a:rPr lang="en-GB"/>
              <a:t> Where a and b are the two vectors that you are getting the normal too</a:t>
            </a:r>
          </a:p>
        </p:txBody>
      </p:sp>
      <p:pic>
        <p:nvPicPr>
          <p:cNvPr id="312324" name="Picture 4" descr="CROSS"/>
          <p:cNvPicPr>
            <a:picLocks noChangeAspect="1" noChangeArrowheads="1"/>
          </p:cNvPicPr>
          <p:nvPr/>
        </p:nvPicPr>
        <p:blipFill>
          <a:blip r:embed="rId2" cstate="print"/>
          <a:srcRect/>
          <a:stretch>
            <a:fillRect/>
          </a:stretch>
        </p:blipFill>
        <p:spPr bwMode="auto">
          <a:xfrm>
            <a:off x="6437314" y="138112"/>
            <a:ext cx="2325687" cy="1387079"/>
          </a:xfrm>
          <a:prstGeom prst="rect">
            <a:avLst/>
          </a:prstGeom>
          <a:noFill/>
        </p:spPr>
      </p:pic>
      <p:sp>
        <p:nvSpPr>
          <p:cNvPr id="312325"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2323">
                                            <p:txEl>
                                              <p:pRg st="0" end="0"/>
                                            </p:txEl>
                                          </p:spTgt>
                                        </p:tgtEl>
                                        <p:attrNameLst>
                                          <p:attrName>style.visibility</p:attrName>
                                        </p:attrNameLst>
                                      </p:cBhvr>
                                      <p:to>
                                        <p:strVal val="visible"/>
                                      </p:to>
                                    </p:set>
                                    <p:animEffect transition="in" filter="checkerboard(across)">
                                      <p:cBhvr>
                                        <p:cTn id="7" dur="500"/>
                                        <p:tgtEl>
                                          <p:spTgt spid="312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2323">
                                            <p:txEl>
                                              <p:pRg st="1" end="1"/>
                                            </p:txEl>
                                          </p:spTgt>
                                        </p:tgtEl>
                                        <p:attrNameLst>
                                          <p:attrName>style.visibility</p:attrName>
                                        </p:attrNameLst>
                                      </p:cBhvr>
                                      <p:to>
                                        <p:strVal val="visible"/>
                                      </p:to>
                                    </p:set>
                                    <p:animEffect transition="in" filter="checkerboard(across)">
                                      <p:cBhvr>
                                        <p:cTn id="12" dur="500"/>
                                        <p:tgtEl>
                                          <p:spTgt spid="3123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2323">
                                            <p:txEl>
                                              <p:pRg st="2" end="2"/>
                                            </p:txEl>
                                          </p:spTgt>
                                        </p:tgtEl>
                                        <p:attrNameLst>
                                          <p:attrName>style.visibility</p:attrName>
                                        </p:attrNameLst>
                                      </p:cBhvr>
                                      <p:to>
                                        <p:strVal val="visible"/>
                                      </p:to>
                                    </p:set>
                                    <p:animEffect transition="in" filter="checkerboard(across)">
                                      <p:cBhvr>
                                        <p:cTn id="17" dur="500"/>
                                        <p:tgtEl>
                                          <p:spTgt spid="3123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2323">
                                            <p:txEl>
                                              <p:pRg st="3" end="3"/>
                                            </p:txEl>
                                          </p:spTgt>
                                        </p:tgtEl>
                                        <p:attrNameLst>
                                          <p:attrName>style.visibility</p:attrName>
                                        </p:attrNameLst>
                                      </p:cBhvr>
                                      <p:to>
                                        <p:strVal val="visible"/>
                                      </p:to>
                                    </p:set>
                                    <p:animEffect transition="in" filter="checkerboard(across)">
                                      <p:cBhvr>
                                        <p:cTn id="22" dur="500"/>
                                        <p:tgtEl>
                                          <p:spTgt spid="3123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2325"/>
                                        </p:tgtEl>
                                        <p:attrNameLst>
                                          <p:attrName>style.visibility</p:attrName>
                                        </p:attrNameLst>
                                      </p:cBhvr>
                                      <p:to>
                                        <p:strVal val="visible"/>
                                      </p:to>
                                    </p:set>
                                    <p:animEffect transition="in" filter="fade">
                                      <p:cBhvr>
                                        <p:cTn id="27" dur="500"/>
                                        <p:tgtEl>
                                          <p:spTgt spid="312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build="p"/>
      <p:bldP spid="3123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r>
              <a:rPr lang="en-GB"/>
              <a:t>Cross Product</a:t>
            </a:r>
          </a:p>
        </p:txBody>
      </p:sp>
      <p:sp>
        <p:nvSpPr>
          <p:cNvPr id="313347" name="Rectangle 3"/>
          <p:cNvSpPr>
            <a:spLocks noGrp="1" noChangeArrowheads="1"/>
          </p:cNvSpPr>
          <p:nvPr>
            <p:ph type="body" idx="1"/>
          </p:nvPr>
        </p:nvSpPr>
        <p:spPr>
          <a:xfrm>
            <a:off x="855663" y="1366838"/>
            <a:ext cx="7543800" cy="3086100"/>
          </a:xfrm>
        </p:spPr>
        <p:txBody>
          <a:bodyPr>
            <a:normAutofit fontScale="92500" lnSpcReduction="20000"/>
          </a:bodyPr>
          <a:lstStyle/>
          <a:p>
            <a:pPr>
              <a:lnSpc>
                <a:spcPct val="80000"/>
              </a:lnSpc>
            </a:pPr>
            <a:r>
              <a:rPr lang="en-GB" sz="2400"/>
              <a:t>But how do you calculate it?</a:t>
            </a:r>
          </a:p>
          <a:p>
            <a:pPr>
              <a:lnSpc>
                <a:spcPct val="80000"/>
              </a:lnSpc>
            </a:pPr>
            <a:r>
              <a:rPr lang="en-GB" sz="2400"/>
              <a:t>Here it is in code:</a:t>
            </a:r>
          </a:p>
          <a:p>
            <a:pPr lvl="1">
              <a:lnSpc>
                <a:spcPct val="80000"/>
              </a:lnSpc>
              <a:buFontTx/>
              <a:buNone/>
            </a:pPr>
            <a:r>
              <a:rPr lang="en-GB" sz="2000" noProof="1"/>
              <a:t>x0 = </a:t>
            </a:r>
            <a:r>
              <a:rPr lang="en-US" sz="2000"/>
              <a:t>vertexA.</a:t>
            </a:r>
            <a:r>
              <a:rPr lang="en-US" sz="2000" noProof="1"/>
              <a:t>x - </a:t>
            </a:r>
            <a:r>
              <a:rPr lang="en-US" sz="2000"/>
              <a:t>vertexB</a:t>
            </a:r>
            <a:r>
              <a:rPr lang="en-US" sz="2000" noProof="1"/>
              <a:t>-&gt;x;</a:t>
            </a:r>
          </a:p>
          <a:p>
            <a:pPr lvl="1">
              <a:lnSpc>
                <a:spcPct val="80000"/>
              </a:lnSpc>
              <a:buFontTx/>
              <a:buNone/>
            </a:pPr>
            <a:r>
              <a:rPr lang="en-US" sz="2000" noProof="1"/>
              <a:t>y0 = </a:t>
            </a:r>
            <a:r>
              <a:rPr lang="en-US" sz="2000"/>
              <a:t>vertexA.y</a:t>
            </a:r>
            <a:r>
              <a:rPr lang="en-US" sz="2000" noProof="1"/>
              <a:t> - </a:t>
            </a:r>
            <a:r>
              <a:rPr lang="en-US" sz="2000"/>
              <a:t>vertexB</a:t>
            </a:r>
            <a:r>
              <a:rPr lang="en-US" sz="2000" noProof="1"/>
              <a:t>-&gt;</a:t>
            </a:r>
            <a:r>
              <a:rPr lang="en-US" sz="2000"/>
              <a:t>y</a:t>
            </a:r>
            <a:r>
              <a:rPr lang="en-US" sz="2000" noProof="1"/>
              <a:t>;</a:t>
            </a:r>
          </a:p>
          <a:p>
            <a:pPr lvl="1">
              <a:lnSpc>
                <a:spcPct val="80000"/>
              </a:lnSpc>
              <a:buFontTx/>
              <a:buNone/>
            </a:pPr>
            <a:r>
              <a:rPr lang="en-US" sz="2000" noProof="1"/>
              <a:t>z0 = </a:t>
            </a:r>
            <a:r>
              <a:rPr lang="en-US" sz="2000"/>
              <a:t>vertexA.z</a:t>
            </a:r>
            <a:r>
              <a:rPr lang="en-US" sz="2000" noProof="1"/>
              <a:t> - </a:t>
            </a:r>
            <a:r>
              <a:rPr lang="en-US" sz="2000"/>
              <a:t>vertexB</a:t>
            </a:r>
            <a:r>
              <a:rPr lang="en-US" sz="2000" noProof="1"/>
              <a:t>-&gt;</a:t>
            </a:r>
            <a:r>
              <a:rPr lang="en-US" sz="2000"/>
              <a:t>z</a:t>
            </a:r>
            <a:r>
              <a:rPr lang="en-US" sz="2000" noProof="1"/>
              <a:t>; </a:t>
            </a:r>
            <a:endParaRPr lang="en-US" sz="2000"/>
          </a:p>
          <a:p>
            <a:pPr lvl="1">
              <a:lnSpc>
                <a:spcPct val="80000"/>
              </a:lnSpc>
              <a:buFontTx/>
              <a:buNone/>
            </a:pPr>
            <a:r>
              <a:rPr lang="en-US" sz="2000" noProof="1"/>
              <a:t>x1 = </a:t>
            </a:r>
            <a:r>
              <a:rPr lang="en-US" sz="2000"/>
              <a:t>vertexA.</a:t>
            </a:r>
            <a:r>
              <a:rPr lang="en-US" sz="2000" noProof="1"/>
              <a:t>x - </a:t>
            </a:r>
            <a:r>
              <a:rPr lang="en-US" sz="2000"/>
              <a:t>vertexC</a:t>
            </a:r>
            <a:r>
              <a:rPr lang="en-US" sz="2000" noProof="1"/>
              <a:t>-&gt;x; </a:t>
            </a:r>
            <a:endParaRPr lang="en-US" sz="2000"/>
          </a:p>
          <a:p>
            <a:pPr lvl="1">
              <a:lnSpc>
                <a:spcPct val="80000"/>
              </a:lnSpc>
              <a:buFontTx/>
              <a:buNone/>
            </a:pPr>
            <a:r>
              <a:rPr lang="en-US" sz="2000" noProof="1"/>
              <a:t>y1 = </a:t>
            </a:r>
            <a:r>
              <a:rPr lang="en-US" sz="2000"/>
              <a:t>vertexA.y</a:t>
            </a:r>
            <a:r>
              <a:rPr lang="en-US" sz="2000" noProof="1"/>
              <a:t> - </a:t>
            </a:r>
            <a:r>
              <a:rPr lang="en-US" sz="2000"/>
              <a:t>vertexC</a:t>
            </a:r>
            <a:r>
              <a:rPr lang="en-US" sz="2000" noProof="1"/>
              <a:t>-&gt;</a:t>
            </a:r>
            <a:r>
              <a:rPr lang="en-US" sz="2000"/>
              <a:t>y</a:t>
            </a:r>
            <a:r>
              <a:rPr lang="en-US" sz="2000" noProof="1"/>
              <a:t>; </a:t>
            </a:r>
            <a:endParaRPr lang="en-US" sz="2000"/>
          </a:p>
          <a:p>
            <a:pPr lvl="1">
              <a:lnSpc>
                <a:spcPct val="80000"/>
              </a:lnSpc>
              <a:buFontTx/>
              <a:buNone/>
            </a:pPr>
            <a:r>
              <a:rPr lang="en-US" sz="2000" noProof="1"/>
              <a:t>z1 = </a:t>
            </a:r>
            <a:r>
              <a:rPr lang="en-US" sz="2000"/>
              <a:t>vertexA.z</a:t>
            </a:r>
            <a:r>
              <a:rPr lang="en-US" sz="2000" noProof="1"/>
              <a:t> - </a:t>
            </a:r>
            <a:r>
              <a:rPr lang="en-US" sz="2000"/>
              <a:t>vertexC</a:t>
            </a:r>
            <a:r>
              <a:rPr lang="en-US" sz="2000" noProof="1"/>
              <a:t>-&gt;</a:t>
            </a:r>
            <a:r>
              <a:rPr lang="en-US" sz="2000"/>
              <a:t>z</a:t>
            </a:r>
            <a:r>
              <a:rPr lang="en-US" sz="2000" noProof="1"/>
              <a:t>; </a:t>
            </a:r>
            <a:endParaRPr lang="en-US" sz="2000"/>
          </a:p>
          <a:p>
            <a:pPr lvl="1">
              <a:lnSpc>
                <a:spcPct val="80000"/>
              </a:lnSpc>
              <a:buFontTx/>
              <a:buNone/>
            </a:pPr>
            <a:r>
              <a:rPr lang="en-US" sz="2000" noProof="1"/>
              <a:t>x = y0 * z1 - z0 * y1;</a:t>
            </a:r>
            <a:endParaRPr lang="en-US" sz="2000"/>
          </a:p>
          <a:p>
            <a:pPr lvl="1">
              <a:lnSpc>
                <a:spcPct val="80000"/>
              </a:lnSpc>
              <a:buFontTx/>
              <a:buNone/>
            </a:pPr>
            <a:r>
              <a:rPr lang="en-US" sz="2000" noProof="1"/>
              <a:t>y = z0 * x1 - x0 * z1;</a:t>
            </a:r>
            <a:endParaRPr lang="en-US" sz="2000"/>
          </a:p>
          <a:p>
            <a:pPr lvl="1">
              <a:lnSpc>
                <a:spcPct val="80000"/>
              </a:lnSpc>
              <a:buFontTx/>
              <a:buNone/>
            </a:pPr>
            <a:r>
              <a:rPr lang="en-US" sz="2000" noProof="1"/>
              <a:t>z = x0 * y1 - y0 * x1;</a:t>
            </a:r>
            <a:endParaRPr lang="en-US" sz="2000"/>
          </a:p>
          <a:p>
            <a:pPr>
              <a:lnSpc>
                <a:spcPct val="80000"/>
              </a:lnSpc>
            </a:pPr>
            <a:r>
              <a:rPr lang="en-US" sz="2400"/>
              <a:t>Final x,y,z is the vertex of the normal</a:t>
            </a:r>
            <a:endParaRPr lang="en-GB" sz="2400"/>
          </a:p>
        </p:txBody>
      </p:sp>
      <p:sp>
        <p:nvSpPr>
          <p:cNvPr id="313349"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13350" name="AutoShape 6"/>
          <p:cNvSpPr>
            <a:spLocks noChangeArrowheads="1"/>
          </p:cNvSpPr>
          <p:nvPr/>
        </p:nvSpPr>
        <p:spPr bwMode="auto">
          <a:xfrm>
            <a:off x="6126164" y="1821656"/>
            <a:ext cx="2586037" cy="819150"/>
          </a:xfrm>
          <a:prstGeom prst="triangle">
            <a:avLst>
              <a:gd name="adj" fmla="val 69060"/>
            </a:avLst>
          </a:prstGeom>
          <a:solidFill>
            <a:srgbClr val="00B8FF"/>
          </a:solidFill>
          <a:ln w="9525">
            <a:solidFill>
              <a:schemeClr val="tx1"/>
            </a:solidFill>
            <a:miter lim="800000"/>
            <a:headEnd/>
            <a:tailEnd/>
          </a:ln>
          <a:effectLst/>
        </p:spPr>
        <p:txBody>
          <a:bodyPr wrap="none" anchor="ctr"/>
          <a:lstStyle/>
          <a:p>
            <a:endParaRPr lang="en-CA"/>
          </a:p>
        </p:txBody>
      </p:sp>
      <p:sp>
        <p:nvSpPr>
          <p:cNvPr id="313351" name="Text Box 7"/>
          <p:cNvSpPr txBox="1">
            <a:spLocks noChangeArrowheads="1"/>
          </p:cNvSpPr>
          <p:nvPr/>
        </p:nvSpPr>
        <p:spPr bwMode="auto">
          <a:xfrm>
            <a:off x="7773988" y="1464469"/>
            <a:ext cx="320922" cy="369332"/>
          </a:xfrm>
          <a:prstGeom prst="rect">
            <a:avLst/>
          </a:prstGeom>
          <a:noFill/>
          <a:ln w="9525">
            <a:noFill/>
            <a:miter lim="800000"/>
            <a:headEnd/>
            <a:tailEnd/>
          </a:ln>
          <a:effectLst/>
        </p:spPr>
        <p:txBody>
          <a:bodyPr wrap="none">
            <a:spAutoFit/>
          </a:bodyPr>
          <a:lstStyle/>
          <a:p>
            <a:r>
              <a:rPr lang="en-GB">
                <a:solidFill>
                  <a:schemeClr val="tx1"/>
                </a:solidFill>
              </a:rPr>
              <a:t>B</a:t>
            </a:r>
          </a:p>
        </p:txBody>
      </p:sp>
      <p:sp>
        <p:nvSpPr>
          <p:cNvPr id="313352" name="Text Box 8"/>
          <p:cNvSpPr txBox="1">
            <a:spLocks noChangeArrowheads="1"/>
          </p:cNvSpPr>
          <p:nvPr/>
        </p:nvSpPr>
        <p:spPr bwMode="auto">
          <a:xfrm>
            <a:off x="8561388" y="2252663"/>
            <a:ext cx="320922" cy="369332"/>
          </a:xfrm>
          <a:prstGeom prst="rect">
            <a:avLst/>
          </a:prstGeom>
          <a:noFill/>
          <a:ln w="9525">
            <a:noFill/>
            <a:miter lim="800000"/>
            <a:headEnd/>
            <a:tailEnd/>
          </a:ln>
          <a:effectLst/>
        </p:spPr>
        <p:txBody>
          <a:bodyPr wrap="none">
            <a:spAutoFit/>
          </a:bodyPr>
          <a:lstStyle/>
          <a:p>
            <a:r>
              <a:rPr lang="en-GB">
                <a:solidFill>
                  <a:schemeClr val="tx1"/>
                </a:solidFill>
              </a:rPr>
              <a:t>C</a:t>
            </a:r>
          </a:p>
        </p:txBody>
      </p:sp>
      <p:sp>
        <p:nvSpPr>
          <p:cNvPr id="313353" name="Text Box 9"/>
          <p:cNvSpPr txBox="1">
            <a:spLocks noChangeArrowheads="1"/>
          </p:cNvSpPr>
          <p:nvPr/>
        </p:nvSpPr>
        <p:spPr bwMode="auto">
          <a:xfrm>
            <a:off x="5622926" y="2321719"/>
            <a:ext cx="330540" cy="369332"/>
          </a:xfrm>
          <a:prstGeom prst="rect">
            <a:avLst/>
          </a:prstGeom>
          <a:noFill/>
          <a:ln w="9525">
            <a:noFill/>
            <a:miter lim="800000"/>
            <a:headEnd/>
            <a:tailEnd/>
          </a:ln>
          <a:effectLst/>
        </p:spPr>
        <p:txBody>
          <a:bodyPr wrap="none">
            <a:spAutoFit/>
          </a:bodyPr>
          <a:lstStyle/>
          <a:p>
            <a:r>
              <a:rPr lang="en-GB">
                <a:solidFill>
                  <a:schemeClr val="tx1"/>
                </a:solidFill>
              </a:rPr>
              <a:t>A</a:t>
            </a:r>
          </a:p>
        </p:txBody>
      </p:sp>
      <p:sp>
        <p:nvSpPr>
          <p:cNvPr id="313354" name="Line 10"/>
          <p:cNvSpPr>
            <a:spLocks noChangeShapeType="1"/>
          </p:cNvSpPr>
          <p:nvPr/>
        </p:nvSpPr>
        <p:spPr bwMode="auto">
          <a:xfrm flipV="1">
            <a:off x="6116638" y="1629966"/>
            <a:ext cx="0" cy="1025128"/>
          </a:xfrm>
          <a:prstGeom prst="line">
            <a:avLst/>
          </a:prstGeom>
          <a:noFill/>
          <a:ln w="76200">
            <a:solidFill>
              <a:schemeClr val="tx1"/>
            </a:solidFill>
            <a:round/>
            <a:headEnd/>
            <a:tailEnd type="stealth" w="lg" len="lg"/>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Effect transition="in" filter="checkerboard(across)">
                                      <p:cBhvr>
                                        <p:cTn id="7" dur="500"/>
                                        <p:tgtEl>
                                          <p:spTgt spid="313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3347">
                                            <p:txEl>
                                              <p:pRg st="1" end="1"/>
                                            </p:txEl>
                                          </p:spTgt>
                                        </p:tgtEl>
                                        <p:attrNameLst>
                                          <p:attrName>style.visibility</p:attrName>
                                        </p:attrNameLst>
                                      </p:cBhvr>
                                      <p:to>
                                        <p:strVal val="visible"/>
                                      </p:to>
                                    </p:set>
                                    <p:animEffect transition="in" filter="checkerboard(across)">
                                      <p:cBhvr>
                                        <p:cTn id="12" dur="500"/>
                                        <p:tgtEl>
                                          <p:spTgt spid="313347">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13347">
                                            <p:txEl>
                                              <p:pRg st="2" end="2"/>
                                            </p:txEl>
                                          </p:spTgt>
                                        </p:tgtEl>
                                        <p:attrNameLst>
                                          <p:attrName>style.visibility</p:attrName>
                                        </p:attrNameLst>
                                      </p:cBhvr>
                                      <p:to>
                                        <p:strVal val="visible"/>
                                      </p:to>
                                    </p:set>
                                    <p:animEffect transition="in" filter="checkerboard(across)">
                                      <p:cBhvr>
                                        <p:cTn id="15" dur="500"/>
                                        <p:tgtEl>
                                          <p:spTgt spid="313347">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13347">
                                            <p:txEl>
                                              <p:pRg st="3" end="3"/>
                                            </p:txEl>
                                          </p:spTgt>
                                        </p:tgtEl>
                                        <p:attrNameLst>
                                          <p:attrName>style.visibility</p:attrName>
                                        </p:attrNameLst>
                                      </p:cBhvr>
                                      <p:to>
                                        <p:strVal val="visible"/>
                                      </p:to>
                                    </p:set>
                                    <p:animEffect transition="in" filter="checkerboard(across)">
                                      <p:cBhvr>
                                        <p:cTn id="18" dur="500"/>
                                        <p:tgtEl>
                                          <p:spTgt spid="313347">
                                            <p:txEl>
                                              <p:pRg st="3" end="3"/>
                                            </p:txEl>
                                          </p:spTgt>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313347">
                                            <p:txEl>
                                              <p:pRg st="4" end="4"/>
                                            </p:txEl>
                                          </p:spTgt>
                                        </p:tgtEl>
                                        <p:attrNameLst>
                                          <p:attrName>style.visibility</p:attrName>
                                        </p:attrNameLst>
                                      </p:cBhvr>
                                      <p:to>
                                        <p:strVal val="visible"/>
                                      </p:to>
                                    </p:set>
                                    <p:animEffect transition="in" filter="checkerboard(across)">
                                      <p:cBhvr>
                                        <p:cTn id="21" dur="500"/>
                                        <p:tgtEl>
                                          <p:spTgt spid="313347">
                                            <p:txEl>
                                              <p:pRg st="4" end="4"/>
                                            </p:txEl>
                                          </p:spTgt>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13347">
                                            <p:txEl>
                                              <p:pRg st="5" end="5"/>
                                            </p:txEl>
                                          </p:spTgt>
                                        </p:tgtEl>
                                        <p:attrNameLst>
                                          <p:attrName>style.visibility</p:attrName>
                                        </p:attrNameLst>
                                      </p:cBhvr>
                                      <p:to>
                                        <p:strVal val="visible"/>
                                      </p:to>
                                    </p:set>
                                    <p:animEffect transition="in" filter="checkerboard(across)">
                                      <p:cBhvr>
                                        <p:cTn id="24" dur="500"/>
                                        <p:tgtEl>
                                          <p:spTgt spid="313347">
                                            <p:txEl>
                                              <p:pRg st="5" end="5"/>
                                            </p:txEl>
                                          </p:spTgt>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313347">
                                            <p:txEl>
                                              <p:pRg st="6" end="6"/>
                                            </p:txEl>
                                          </p:spTgt>
                                        </p:tgtEl>
                                        <p:attrNameLst>
                                          <p:attrName>style.visibility</p:attrName>
                                        </p:attrNameLst>
                                      </p:cBhvr>
                                      <p:to>
                                        <p:strVal val="visible"/>
                                      </p:to>
                                    </p:set>
                                    <p:animEffect transition="in" filter="checkerboard(across)">
                                      <p:cBhvr>
                                        <p:cTn id="27" dur="500"/>
                                        <p:tgtEl>
                                          <p:spTgt spid="313347">
                                            <p:txEl>
                                              <p:pRg st="6" end="6"/>
                                            </p:txEl>
                                          </p:spTgt>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313347">
                                            <p:txEl>
                                              <p:pRg st="7" end="7"/>
                                            </p:txEl>
                                          </p:spTgt>
                                        </p:tgtEl>
                                        <p:attrNameLst>
                                          <p:attrName>style.visibility</p:attrName>
                                        </p:attrNameLst>
                                      </p:cBhvr>
                                      <p:to>
                                        <p:strVal val="visible"/>
                                      </p:to>
                                    </p:set>
                                    <p:animEffect transition="in" filter="checkerboard(across)">
                                      <p:cBhvr>
                                        <p:cTn id="30" dur="500"/>
                                        <p:tgtEl>
                                          <p:spTgt spid="313347">
                                            <p:txEl>
                                              <p:pRg st="7" end="7"/>
                                            </p:txEl>
                                          </p:spTgt>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313347">
                                            <p:txEl>
                                              <p:pRg st="8" end="8"/>
                                            </p:txEl>
                                          </p:spTgt>
                                        </p:tgtEl>
                                        <p:attrNameLst>
                                          <p:attrName>style.visibility</p:attrName>
                                        </p:attrNameLst>
                                      </p:cBhvr>
                                      <p:to>
                                        <p:strVal val="visible"/>
                                      </p:to>
                                    </p:set>
                                    <p:animEffect transition="in" filter="checkerboard(across)">
                                      <p:cBhvr>
                                        <p:cTn id="33" dur="500"/>
                                        <p:tgtEl>
                                          <p:spTgt spid="313347">
                                            <p:txEl>
                                              <p:pRg st="8" end="8"/>
                                            </p:txEl>
                                          </p:spTgt>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313347">
                                            <p:txEl>
                                              <p:pRg st="9" end="9"/>
                                            </p:txEl>
                                          </p:spTgt>
                                        </p:tgtEl>
                                        <p:attrNameLst>
                                          <p:attrName>style.visibility</p:attrName>
                                        </p:attrNameLst>
                                      </p:cBhvr>
                                      <p:to>
                                        <p:strVal val="visible"/>
                                      </p:to>
                                    </p:set>
                                    <p:animEffect transition="in" filter="checkerboard(across)">
                                      <p:cBhvr>
                                        <p:cTn id="36" dur="500"/>
                                        <p:tgtEl>
                                          <p:spTgt spid="313347">
                                            <p:txEl>
                                              <p:pRg st="9" end="9"/>
                                            </p:txEl>
                                          </p:spTgt>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313347">
                                            <p:txEl>
                                              <p:pRg st="10" end="10"/>
                                            </p:txEl>
                                          </p:spTgt>
                                        </p:tgtEl>
                                        <p:attrNameLst>
                                          <p:attrName>style.visibility</p:attrName>
                                        </p:attrNameLst>
                                      </p:cBhvr>
                                      <p:to>
                                        <p:strVal val="visible"/>
                                      </p:to>
                                    </p:set>
                                    <p:animEffect transition="in" filter="checkerboard(across)">
                                      <p:cBhvr>
                                        <p:cTn id="39" dur="500"/>
                                        <p:tgtEl>
                                          <p:spTgt spid="313347">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313347">
                                            <p:txEl>
                                              <p:pRg st="11" end="11"/>
                                            </p:txEl>
                                          </p:spTgt>
                                        </p:tgtEl>
                                        <p:attrNameLst>
                                          <p:attrName>style.visibility</p:attrName>
                                        </p:attrNameLst>
                                      </p:cBhvr>
                                      <p:to>
                                        <p:strVal val="visible"/>
                                      </p:to>
                                    </p:set>
                                    <p:animEffect transition="in" filter="checkerboard(across)">
                                      <p:cBhvr>
                                        <p:cTn id="44" dur="500"/>
                                        <p:tgtEl>
                                          <p:spTgt spid="313347">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13349"/>
                                        </p:tgtEl>
                                        <p:attrNameLst>
                                          <p:attrName>style.visibility</p:attrName>
                                        </p:attrNameLst>
                                      </p:cBhvr>
                                      <p:to>
                                        <p:strVal val="visible"/>
                                      </p:to>
                                    </p:set>
                                    <p:animEffect transition="in" filter="fade">
                                      <p:cBhvr>
                                        <p:cTn id="49" dur="500"/>
                                        <p:tgtEl>
                                          <p:spTgt spid="313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build="p"/>
      <p:bldP spid="31334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r>
              <a:rPr lang="en-GB"/>
              <a:t>Dot product</a:t>
            </a:r>
          </a:p>
        </p:txBody>
      </p:sp>
      <p:sp>
        <p:nvSpPr>
          <p:cNvPr id="314371" name="Rectangle 3"/>
          <p:cNvSpPr>
            <a:spLocks noGrp="1" noChangeArrowheads="1"/>
          </p:cNvSpPr>
          <p:nvPr>
            <p:ph type="body" idx="1"/>
          </p:nvPr>
        </p:nvSpPr>
        <p:spPr>
          <a:xfrm>
            <a:off x="838200" y="1638300"/>
            <a:ext cx="7543800" cy="2661642"/>
          </a:xfrm>
        </p:spPr>
        <p:txBody>
          <a:bodyPr>
            <a:normAutofit fontScale="92500" lnSpcReduction="20000"/>
          </a:bodyPr>
          <a:lstStyle/>
          <a:p>
            <a:r>
              <a:rPr lang="en-GB" dirty="0"/>
              <a:t>The cross product produces a vector</a:t>
            </a:r>
          </a:p>
          <a:p>
            <a:r>
              <a:rPr lang="en-GB" dirty="0"/>
              <a:t>The dot product produces a scalar</a:t>
            </a:r>
          </a:p>
          <a:p>
            <a:pPr lvl="1"/>
            <a:r>
              <a:rPr lang="en-GB" dirty="0"/>
              <a:t>a single number, not three </a:t>
            </a:r>
          </a:p>
          <a:p>
            <a:r>
              <a:rPr lang="en-GB" dirty="0"/>
              <a:t>Also called the “scalar” product</a:t>
            </a:r>
          </a:p>
          <a:p>
            <a:r>
              <a:rPr lang="en-GB" dirty="0"/>
              <a:t>Represents the line along one vector ‘projected’ onto another</a:t>
            </a:r>
          </a:p>
        </p:txBody>
      </p:sp>
      <p:sp>
        <p:nvSpPr>
          <p:cNvPr id="314373" name="AutoShape 5"/>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314374" name="Picture 6" descr="DOT"/>
          <p:cNvPicPr>
            <a:picLocks noChangeAspect="1" noChangeArrowheads="1"/>
          </p:cNvPicPr>
          <p:nvPr/>
        </p:nvPicPr>
        <p:blipFill>
          <a:blip r:embed="rId2" cstate="print"/>
          <a:srcRect/>
          <a:stretch>
            <a:fillRect/>
          </a:stretch>
        </p:blipFill>
        <p:spPr bwMode="auto">
          <a:xfrm>
            <a:off x="5573714" y="175022"/>
            <a:ext cx="3036887" cy="13692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4371">
                                            <p:txEl>
                                              <p:pRg st="0" end="0"/>
                                            </p:txEl>
                                          </p:spTgt>
                                        </p:tgtEl>
                                        <p:attrNameLst>
                                          <p:attrName>style.visibility</p:attrName>
                                        </p:attrNameLst>
                                      </p:cBhvr>
                                      <p:to>
                                        <p:strVal val="visible"/>
                                      </p:to>
                                    </p:set>
                                    <p:animEffect transition="in" filter="checkerboard(across)">
                                      <p:cBhvr>
                                        <p:cTn id="7" dur="500"/>
                                        <p:tgtEl>
                                          <p:spTgt spid="314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4371">
                                            <p:txEl>
                                              <p:pRg st="1" end="1"/>
                                            </p:txEl>
                                          </p:spTgt>
                                        </p:tgtEl>
                                        <p:attrNameLst>
                                          <p:attrName>style.visibility</p:attrName>
                                        </p:attrNameLst>
                                      </p:cBhvr>
                                      <p:to>
                                        <p:strVal val="visible"/>
                                      </p:to>
                                    </p:set>
                                    <p:animEffect transition="in" filter="checkerboard(across)">
                                      <p:cBhvr>
                                        <p:cTn id="12" dur="500"/>
                                        <p:tgtEl>
                                          <p:spTgt spid="314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4371">
                                            <p:txEl>
                                              <p:pRg st="2" end="2"/>
                                            </p:txEl>
                                          </p:spTgt>
                                        </p:tgtEl>
                                        <p:attrNameLst>
                                          <p:attrName>style.visibility</p:attrName>
                                        </p:attrNameLst>
                                      </p:cBhvr>
                                      <p:to>
                                        <p:strVal val="visible"/>
                                      </p:to>
                                    </p:set>
                                    <p:animEffect transition="in" filter="checkerboard(across)">
                                      <p:cBhvr>
                                        <p:cTn id="17" dur="500"/>
                                        <p:tgtEl>
                                          <p:spTgt spid="314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4371">
                                            <p:txEl>
                                              <p:pRg st="3" end="3"/>
                                            </p:txEl>
                                          </p:spTgt>
                                        </p:tgtEl>
                                        <p:attrNameLst>
                                          <p:attrName>style.visibility</p:attrName>
                                        </p:attrNameLst>
                                      </p:cBhvr>
                                      <p:to>
                                        <p:strVal val="visible"/>
                                      </p:to>
                                    </p:set>
                                    <p:animEffect transition="in" filter="checkerboard(across)">
                                      <p:cBhvr>
                                        <p:cTn id="22" dur="500"/>
                                        <p:tgtEl>
                                          <p:spTgt spid="314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14371">
                                            <p:txEl>
                                              <p:pRg st="4" end="4"/>
                                            </p:txEl>
                                          </p:spTgt>
                                        </p:tgtEl>
                                        <p:attrNameLst>
                                          <p:attrName>style.visibility</p:attrName>
                                        </p:attrNameLst>
                                      </p:cBhvr>
                                      <p:to>
                                        <p:strVal val="visible"/>
                                      </p:to>
                                    </p:set>
                                    <p:animEffect transition="in" filter="checkerboard(across)">
                                      <p:cBhvr>
                                        <p:cTn id="27" dur="500"/>
                                        <p:tgtEl>
                                          <p:spTgt spid="3143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14374"/>
                                        </p:tgtEl>
                                        <p:attrNameLst>
                                          <p:attrName>style.visibility</p:attrName>
                                        </p:attrNameLst>
                                      </p:cBhvr>
                                      <p:to>
                                        <p:strVal val="visible"/>
                                      </p:to>
                                    </p:set>
                                    <p:animEffect transition="in" filter="checkerboard(across)">
                                      <p:cBhvr>
                                        <p:cTn id="32" dur="500"/>
                                        <p:tgtEl>
                                          <p:spTgt spid="31437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4373"/>
                                        </p:tgtEl>
                                        <p:attrNameLst>
                                          <p:attrName>style.visibility</p:attrName>
                                        </p:attrNameLst>
                                      </p:cBhvr>
                                      <p:to>
                                        <p:strVal val="visible"/>
                                      </p:to>
                                    </p:set>
                                    <p:animEffect transition="in" filter="fade">
                                      <p:cBhvr>
                                        <p:cTn id="37" dur="500"/>
                                        <p:tgtEl>
                                          <p:spTgt spid="314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build="p"/>
      <p:bldP spid="31437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r>
              <a:rPr lang="en-GB"/>
              <a:t>Dot product</a:t>
            </a:r>
          </a:p>
        </p:txBody>
      </p:sp>
      <p:sp>
        <p:nvSpPr>
          <p:cNvPr id="316419" name="Rectangle 3"/>
          <p:cNvSpPr>
            <a:spLocks noGrp="1" noChangeArrowheads="1"/>
          </p:cNvSpPr>
          <p:nvPr>
            <p:ph type="body" idx="1"/>
          </p:nvPr>
        </p:nvSpPr>
        <p:spPr>
          <a:xfrm>
            <a:off x="838200" y="1638300"/>
            <a:ext cx="7543800" cy="2445618"/>
          </a:xfrm>
        </p:spPr>
        <p:txBody>
          <a:bodyPr>
            <a:normAutofit lnSpcReduction="10000"/>
          </a:bodyPr>
          <a:lstStyle/>
          <a:p>
            <a:r>
              <a:rPr lang="pl-PL" dirty="0"/>
              <a:t>a·b = xa xb + ya yb + za zb</a:t>
            </a:r>
            <a:endParaRPr lang="en-US" dirty="0"/>
          </a:p>
          <a:p>
            <a:pPr lvl="1"/>
            <a:r>
              <a:rPr lang="en-US" dirty="0"/>
              <a:t>Or:</a:t>
            </a:r>
          </a:p>
          <a:p>
            <a:r>
              <a:rPr lang="en-GB" dirty="0"/>
              <a:t>(</a:t>
            </a:r>
            <a:r>
              <a:rPr lang="en-GB" dirty="0" err="1"/>
              <a:t>a,b</a:t>
            </a:r>
            <a:r>
              <a:rPr lang="en-GB" dirty="0"/>
              <a:t>) = arcos(</a:t>
            </a:r>
            <a:r>
              <a:rPr lang="en-GB" dirty="0" err="1"/>
              <a:t>a·b</a:t>
            </a:r>
            <a:r>
              <a:rPr lang="en-GB" dirty="0"/>
              <a:t> / |a| |b|)</a:t>
            </a:r>
          </a:p>
          <a:p>
            <a:pPr lvl="1"/>
            <a:r>
              <a:rPr lang="en-GB" dirty="0"/>
              <a:t>Or:</a:t>
            </a:r>
          </a:p>
          <a:p>
            <a:r>
              <a:rPr lang="en-US" dirty="0"/>
              <a:t>Use GLM/DirectX/some other library</a:t>
            </a:r>
            <a:endParaRPr lang="en-GB" dirty="0"/>
          </a:p>
        </p:txBody>
      </p:sp>
      <p:sp>
        <p:nvSpPr>
          <p:cNvPr id="31642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316421" name="Picture 5" descr="DOT"/>
          <p:cNvPicPr>
            <a:picLocks noChangeAspect="1" noChangeArrowheads="1"/>
          </p:cNvPicPr>
          <p:nvPr/>
        </p:nvPicPr>
        <p:blipFill>
          <a:blip r:embed="rId2" cstate="print"/>
          <a:srcRect/>
          <a:stretch>
            <a:fillRect/>
          </a:stretch>
        </p:blipFill>
        <p:spPr bwMode="auto">
          <a:xfrm>
            <a:off x="5573714" y="175022"/>
            <a:ext cx="3036887" cy="13692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checkerboard(across)">
                                      <p:cBhvr>
                                        <p:cTn id="7" dur="500"/>
                                        <p:tgtEl>
                                          <p:spTgt spid="316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6419">
                                            <p:txEl>
                                              <p:pRg st="1" end="1"/>
                                            </p:txEl>
                                          </p:spTgt>
                                        </p:tgtEl>
                                        <p:attrNameLst>
                                          <p:attrName>style.visibility</p:attrName>
                                        </p:attrNameLst>
                                      </p:cBhvr>
                                      <p:to>
                                        <p:strVal val="visible"/>
                                      </p:to>
                                    </p:set>
                                    <p:animEffect transition="in" filter="checkerboard(across)">
                                      <p:cBhvr>
                                        <p:cTn id="12" dur="500"/>
                                        <p:tgtEl>
                                          <p:spTgt spid="316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6419">
                                            <p:txEl>
                                              <p:pRg st="2" end="2"/>
                                            </p:txEl>
                                          </p:spTgt>
                                        </p:tgtEl>
                                        <p:attrNameLst>
                                          <p:attrName>style.visibility</p:attrName>
                                        </p:attrNameLst>
                                      </p:cBhvr>
                                      <p:to>
                                        <p:strVal val="visible"/>
                                      </p:to>
                                    </p:set>
                                    <p:animEffect transition="in" filter="checkerboard(across)">
                                      <p:cBhvr>
                                        <p:cTn id="17" dur="500"/>
                                        <p:tgtEl>
                                          <p:spTgt spid="3164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6419">
                                            <p:txEl>
                                              <p:pRg st="3" end="3"/>
                                            </p:txEl>
                                          </p:spTgt>
                                        </p:tgtEl>
                                        <p:attrNameLst>
                                          <p:attrName>style.visibility</p:attrName>
                                        </p:attrNameLst>
                                      </p:cBhvr>
                                      <p:to>
                                        <p:strVal val="visible"/>
                                      </p:to>
                                    </p:set>
                                    <p:animEffect transition="in" filter="checkerboard(across)">
                                      <p:cBhvr>
                                        <p:cTn id="22" dur="500"/>
                                        <p:tgtEl>
                                          <p:spTgt spid="3164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16419">
                                            <p:txEl>
                                              <p:pRg st="4" end="4"/>
                                            </p:txEl>
                                          </p:spTgt>
                                        </p:tgtEl>
                                        <p:attrNameLst>
                                          <p:attrName>style.visibility</p:attrName>
                                        </p:attrNameLst>
                                      </p:cBhvr>
                                      <p:to>
                                        <p:strVal val="visible"/>
                                      </p:to>
                                    </p:set>
                                    <p:animEffect transition="in" filter="checkerboard(across)">
                                      <p:cBhvr>
                                        <p:cTn id="27" dur="500"/>
                                        <p:tgtEl>
                                          <p:spTgt spid="3164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6420"/>
                                        </p:tgtEl>
                                        <p:attrNameLst>
                                          <p:attrName>style.visibility</p:attrName>
                                        </p:attrNameLst>
                                      </p:cBhvr>
                                      <p:to>
                                        <p:strVal val="visible"/>
                                      </p:to>
                                    </p:set>
                                    <p:animEffect transition="in" filter="fade">
                                      <p:cBhvr>
                                        <p:cTn id="32" dur="500"/>
                                        <p:tgtEl>
                                          <p:spTgt spid="316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P spid="3164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3"/>
          <p:cNvSpPr>
            <a:spLocks noGrp="1" noChangeArrowheads="1"/>
          </p:cNvSpPr>
          <p:nvPr>
            <p:ph type="body" idx="1"/>
          </p:nvPr>
        </p:nvSpPr>
        <p:spPr>
          <a:xfrm>
            <a:off x="539552" y="1419622"/>
            <a:ext cx="8128000" cy="3086100"/>
          </a:xfrm>
        </p:spPr>
        <p:txBody>
          <a:bodyPr>
            <a:normAutofit fontScale="92500" lnSpcReduction="20000"/>
          </a:bodyPr>
          <a:lstStyle/>
          <a:p>
            <a:r>
              <a:rPr lang="en-US" sz="2800" dirty="0"/>
              <a:t>Why do we care?</a:t>
            </a:r>
          </a:p>
          <a:p>
            <a:r>
              <a:rPr lang="en-US" sz="2800" dirty="0"/>
              <a:t>The sign of the dot product indicates if the triangle is facing away or towards us. </a:t>
            </a:r>
          </a:p>
          <a:p>
            <a:r>
              <a:rPr lang="en-US" sz="2800" dirty="0"/>
              <a:t>If we compare the dot product of a light with the surface, we can see if the light is hitting the ‘front’ or the ‘back’ of a triangle. </a:t>
            </a:r>
          </a:p>
          <a:p>
            <a:r>
              <a:rPr lang="en-US" sz="2800" dirty="0"/>
              <a:t>If it’s hitting the back, we don’t have to light it.</a:t>
            </a:r>
          </a:p>
          <a:p>
            <a:r>
              <a:rPr lang="en-GB" sz="2800" dirty="0"/>
              <a:t>We can also figure out which way the triangle is</a:t>
            </a:r>
          </a:p>
        </p:txBody>
      </p:sp>
      <p:sp>
        <p:nvSpPr>
          <p:cNvPr id="317442" name="Rectangle 2"/>
          <p:cNvSpPr>
            <a:spLocks noGrp="1" noChangeArrowheads="1"/>
          </p:cNvSpPr>
          <p:nvPr>
            <p:ph type="title"/>
          </p:nvPr>
        </p:nvSpPr>
        <p:spPr/>
        <p:txBody>
          <a:bodyPr/>
          <a:lstStyle/>
          <a:p>
            <a:r>
              <a:rPr lang="en-GB"/>
              <a:t>Dot product</a:t>
            </a:r>
          </a:p>
        </p:txBody>
      </p:sp>
      <p:sp>
        <p:nvSpPr>
          <p:cNvPr id="31744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317445" name="Picture 5" descr="DOT"/>
          <p:cNvPicPr>
            <a:picLocks noChangeAspect="1" noChangeArrowheads="1"/>
          </p:cNvPicPr>
          <p:nvPr/>
        </p:nvPicPr>
        <p:blipFill>
          <a:blip r:embed="rId2" cstate="print"/>
          <a:srcRect/>
          <a:stretch>
            <a:fillRect/>
          </a:stretch>
        </p:blipFill>
        <p:spPr bwMode="auto">
          <a:xfrm>
            <a:off x="5573714" y="175022"/>
            <a:ext cx="3036887" cy="13692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7443">
                                            <p:txEl>
                                              <p:pRg st="0" end="0"/>
                                            </p:txEl>
                                          </p:spTgt>
                                        </p:tgtEl>
                                        <p:attrNameLst>
                                          <p:attrName>style.visibility</p:attrName>
                                        </p:attrNameLst>
                                      </p:cBhvr>
                                      <p:to>
                                        <p:strVal val="visible"/>
                                      </p:to>
                                    </p:set>
                                    <p:animEffect transition="in" filter="checkerboard(across)">
                                      <p:cBhvr>
                                        <p:cTn id="7" dur="500"/>
                                        <p:tgtEl>
                                          <p:spTgt spid="317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7443">
                                            <p:txEl>
                                              <p:pRg st="1" end="1"/>
                                            </p:txEl>
                                          </p:spTgt>
                                        </p:tgtEl>
                                        <p:attrNameLst>
                                          <p:attrName>style.visibility</p:attrName>
                                        </p:attrNameLst>
                                      </p:cBhvr>
                                      <p:to>
                                        <p:strVal val="visible"/>
                                      </p:to>
                                    </p:set>
                                    <p:animEffect transition="in" filter="checkerboard(across)">
                                      <p:cBhvr>
                                        <p:cTn id="12" dur="500"/>
                                        <p:tgtEl>
                                          <p:spTgt spid="317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7443">
                                            <p:txEl>
                                              <p:pRg st="2" end="2"/>
                                            </p:txEl>
                                          </p:spTgt>
                                        </p:tgtEl>
                                        <p:attrNameLst>
                                          <p:attrName>style.visibility</p:attrName>
                                        </p:attrNameLst>
                                      </p:cBhvr>
                                      <p:to>
                                        <p:strVal val="visible"/>
                                      </p:to>
                                    </p:set>
                                    <p:animEffect transition="in" filter="checkerboard(across)">
                                      <p:cBhvr>
                                        <p:cTn id="17" dur="500"/>
                                        <p:tgtEl>
                                          <p:spTgt spid="3174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7443">
                                            <p:txEl>
                                              <p:pRg st="3" end="3"/>
                                            </p:txEl>
                                          </p:spTgt>
                                        </p:tgtEl>
                                        <p:attrNameLst>
                                          <p:attrName>style.visibility</p:attrName>
                                        </p:attrNameLst>
                                      </p:cBhvr>
                                      <p:to>
                                        <p:strVal val="visible"/>
                                      </p:to>
                                    </p:set>
                                    <p:animEffect transition="in" filter="checkerboard(across)">
                                      <p:cBhvr>
                                        <p:cTn id="22" dur="500"/>
                                        <p:tgtEl>
                                          <p:spTgt spid="3174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17443">
                                            <p:txEl>
                                              <p:pRg st="4" end="4"/>
                                            </p:txEl>
                                          </p:spTgt>
                                        </p:tgtEl>
                                        <p:attrNameLst>
                                          <p:attrName>style.visibility</p:attrName>
                                        </p:attrNameLst>
                                      </p:cBhvr>
                                      <p:to>
                                        <p:strVal val="visible"/>
                                      </p:to>
                                    </p:set>
                                    <p:animEffect transition="in" filter="checkerboard(across)">
                                      <p:cBhvr>
                                        <p:cTn id="27" dur="500"/>
                                        <p:tgtEl>
                                          <p:spTgt spid="3174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7444"/>
                                        </p:tgtEl>
                                        <p:attrNameLst>
                                          <p:attrName>style.visibility</p:attrName>
                                        </p:attrNameLst>
                                      </p:cBhvr>
                                      <p:to>
                                        <p:strVal val="visible"/>
                                      </p:to>
                                    </p:set>
                                    <p:animEffect transition="in" filter="fade">
                                      <p:cBhvr>
                                        <p:cTn id="32" dur="500"/>
                                        <p:tgtEl>
                                          <p:spTgt spid="317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3" grpId="0" build="p"/>
      <p:bldP spid="31744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r>
              <a:rPr lang="en-GB"/>
              <a:t>The bunny</a:t>
            </a:r>
          </a:p>
        </p:txBody>
      </p:sp>
      <p:sp>
        <p:nvSpPr>
          <p:cNvPr id="318467" name="Rectangle 3"/>
          <p:cNvSpPr>
            <a:spLocks noGrp="1" noChangeArrowheads="1"/>
          </p:cNvSpPr>
          <p:nvPr>
            <p:ph type="body" idx="1"/>
          </p:nvPr>
        </p:nvSpPr>
        <p:spPr>
          <a:xfrm>
            <a:off x="539552" y="1347614"/>
            <a:ext cx="8128000" cy="3086100"/>
          </a:xfrm>
        </p:spPr>
        <p:txBody>
          <a:bodyPr>
            <a:normAutofit/>
          </a:bodyPr>
          <a:lstStyle/>
          <a:p>
            <a:pPr>
              <a:lnSpc>
                <a:spcPct val="90000"/>
              </a:lnSpc>
            </a:pPr>
            <a:r>
              <a:rPr lang="en-US" sz="2800" dirty="0"/>
              <a:t>The bunny has no </a:t>
            </a:r>
            <a:r>
              <a:rPr lang="en-US" sz="2800" dirty="0" err="1"/>
              <a:t>normals</a:t>
            </a:r>
            <a:r>
              <a:rPr lang="en-US" sz="2800" dirty="0"/>
              <a:t>.</a:t>
            </a:r>
          </a:p>
          <a:p>
            <a:pPr>
              <a:lnSpc>
                <a:spcPct val="90000"/>
              </a:lnSpc>
            </a:pPr>
            <a:r>
              <a:rPr lang="en-US" sz="2800" dirty="0"/>
              <a:t>We want to calculate the </a:t>
            </a:r>
            <a:r>
              <a:rPr lang="en-US" sz="2800" dirty="0" err="1"/>
              <a:t>normals</a:t>
            </a:r>
            <a:r>
              <a:rPr lang="en-US" sz="2800" dirty="0"/>
              <a:t> at each vertex. </a:t>
            </a:r>
          </a:p>
          <a:p>
            <a:pPr>
              <a:lnSpc>
                <a:spcPct val="90000"/>
              </a:lnSpc>
            </a:pPr>
            <a:r>
              <a:rPr lang="en-US" sz="2800" dirty="0"/>
              <a:t>But we only have triangle (face) information</a:t>
            </a:r>
          </a:p>
          <a:p>
            <a:pPr lvl="1">
              <a:lnSpc>
                <a:spcPct val="90000"/>
              </a:lnSpc>
            </a:pPr>
            <a:r>
              <a:rPr lang="en-GB" sz="2400" dirty="0"/>
              <a:t>i.e. we can only calculate the normal to the face?</a:t>
            </a:r>
          </a:p>
          <a:p>
            <a:pPr lvl="1">
              <a:lnSpc>
                <a:spcPct val="90000"/>
              </a:lnSpc>
            </a:pPr>
            <a:r>
              <a:rPr lang="en-GB" sz="2400" dirty="0"/>
              <a:t>Why?</a:t>
            </a:r>
          </a:p>
        </p:txBody>
      </p:sp>
      <p:sp>
        <p:nvSpPr>
          <p:cNvPr id="31846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animEffect transition="in" filter="checkerboard(across)">
                                      <p:cBhvr>
                                        <p:cTn id="7" dur="500"/>
                                        <p:tgtEl>
                                          <p:spTgt spid="318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8467">
                                            <p:txEl>
                                              <p:pRg st="1" end="1"/>
                                            </p:txEl>
                                          </p:spTgt>
                                        </p:tgtEl>
                                        <p:attrNameLst>
                                          <p:attrName>style.visibility</p:attrName>
                                        </p:attrNameLst>
                                      </p:cBhvr>
                                      <p:to>
                                        <p:strVal val="visible"/>
                                      </p:to>
                                    </p:set>
                                    <p:animEffect transition="in" filter="checkerboard(across)">
                                      <p:cBhvr>
                                        <p:cTn id="12" dur="500"/>
                                        <p:tgtEl>
                                          <p:spTgt spid="318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8467">
                                            <p:txEl>
                                              <p:pRg st="2" end="2"/>
                                            </p:txEl>
                                          </p:spTgt>
                                        </p:tgtEl>
                                        <p:attrNameLst>
                                          <p:attrName>style.visibility</p:attrName>
                                        </p:attrNameLst>
                                      </p:cBhvr>
                                      <p:to>
                                        <p:strVal val="visible"/>
                                      </p:to>
                                    </p:set>
                                    <p:animEffect transition="in" filter="checkerboard(across)">
                                      <p:cBhvr>
                                        <p:cTn id="17" dur="500"/>
                                        <p:tgtEl>
                                          <p:spTgt spid="318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8467">
                                            <p:txEl>
                                              <p:pRg st="3" end="3"/>
                                            </p:txEl>
                                          </p:spTgt>
                                        </p:tgtEl>
                                        <p:attrNameLst>
                                          <p:attrName>style.visibility</p:attrName>
                                        </p:attrNameLst>
                                      </p:cBhvr>
                                      <p:to>
                                        <p:strVal val="visible"/>
                                      </p:to>
                                    </p:set>
                                    <p:animEffect transition="in" filter="checkerboard(across)">
                                      <p:cBhvr>
                                        <p:cTn id="22" dur="500"/>
                                        <p:tgtEl>
                                          <p:spTgt spid="3184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18467">
                                            <p:txEl>
                                              <p:pRg st="4" end="4"/>
                                            </p:txEl>
                                          </p:spTgt>
                                        </p:tgtEl>
                                        <p:attrNameLst>
                                          <p:attrName>style.visibility</p:attrName>
                                        </p:attrNameLst>
                                      </p:cBhvr>
                                      <p:to>
                                        <p:strVal val="visible"/>
                                      </p:to>
                                    </p:set>
                                    <p:animEffect transition="in" filter="checkerboard(across)">
                                      <p:cBhvr>
                                        <p:cTn id="27" dur="500"/>
                                        <p:tgtEl>
                                          <p:spTgt spid="3184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8468"/>
                                        </p:tgtEl>
                                        <p:attrNameLst>
                                          <p:attrName>style.visibility</p:attrName>
                                        </p:attrNameLst>
                                      </p:cBhvr>
                                      <p:to>
                                        <p:strVal val="visible"/>
                                      </p:to>
                                    </p:set>
                                    <p:animEffect transition="in" filter="fade">
                                      <p:cBhvr>
                                        <p:cTn id="32" dur="500"/>
                                        <p:tgtEl>
                                          <p:spTgt spid="318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build="p"/>
      <p:bldP spid="31846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p:txBody>
          <a:bodyPr/>
          <a:lstStyle/>
          <a:p>
            <a:r>
              <a:rPr lang="en-GB"/>
              <a:t>The bunny</a:t>
            </a:r>
          </a:p>
        </p:txBody>
      </p:sp>
      <p:sp>
        <p:nvSpPr>
          <p:cNvPr id="319491" name="Rectangle 3"/>
          <p:cNvSpPr>
            <a:spLocks noGrp="1" noChangeArrowheads="1"/>
          </p:cNvSpPr>
          <p:nvPr>
            <p:ph type="body" idx="1"/>
          </p:nvPr>
        </p:nvSpPr>
        <p:spPr>
          <a:xfrm>
            <a:off x="539552" y="1419622"/>
            <a:ext cx="8128000" cy="3086100"/>
          </a:xfrm>
        </p:spPr>
        <p:txBody>
          <a:bodyPr/>
          <a:lstStyle/>
          <a:p>
            <a:r>
              <a:rPr lang="en-US" dirty="0"/>
              <a:t>One way (not correct):</a:t>
            </a:r>
          </a:p>
          <a:p>
            <a:pPr lvl="1"/>
            <a:r>
              <a:rPr lang="en-GB" dirty="0"/>
              <a:t>Calculate the normal at each face, and save it in all of the vertices</a:t>
            </a:r>
          </a:p>
          <a:p>
            <a:pPr lvl="1"/>
            <a:r>
              <a:rPr lang="en-GB" dirty="0"/>
              <a:t>Overwrite them if needed.</a:t>
            </a:r>
          </a:p>
          <a:p>
            <a:pPr lvl="1"/>
            <a:r>
              <a:rPr lang="en-GB" dirty="0"/>
              <a:t>Result: OK, but rough looking bunny</a:t>
            </a:r>
          </a:p>
        </p:txBody>
      </p:sp>
      <p:sp>
        <p:nvSpPr>
          <p:cNvPr id="31949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Effect transition="in" filter="checkerboard(across)">
                                      <p:cBhvr>
                                        <p:cTn id="7" dur="500"/>
                                        <p:tgtEl>
                                          <p:spTgt spid="319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9491">
                                            <p:txEl>
                                              <p:pRg st="1" end="1"/>
                                            </p:txEl>
                                          </p:spTgt>
                                        </p:tgtEl>
                                        <p:attrNameLst>
                                          <p:attrName>style.visibility</p:attrName>
                                        </p:attrNameLst>
                                      </p:cBhvr>
                                      <p:to>
                                        <p:strVal val="visible"/>
                                      </p:to>
                                    </p:set>
                                    <p:animEffect transition="in" filter="checkerboard(across)">
                                      <p:cBhvr>
                                        <p:cTn id="12" dur="500"/>
                                        <p:tgtEl>
                                          <p:spTgt spid="319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9491">
                                            <p:txEl>
                                              <p:pRg st="2" end="2"/>
                                            </p:txEl>
                                          </p:spTgt>
                                        </p:tgtEl>
                                        <p:attrNameLst>
                                          <p:attrName>style.visibility</p:attrName>
                                        </p:attrNameLst>
                                      </p:cBhvr>
                                      <p:to>
                                        <p:strVal val="visible"/>
                                      </p:to>
                                    </p:set>
                                    <p:animEffect transition="in" filter="checkerboard(across)">
                                      <p:cBhvr>
                                        <p:cTn id="17" dur="500"/>
                                        <p:tgtEl>
                                          <p:spTgt spid="319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19491">
                                            <p:txEl>
                                              <p:pRg st="3" end="3"/>
                                            </p:txEl>
                                          </p:spTgt>
                                        </p:tgtEl>
                                        <p:attrNameLst>
                                          <p:attrName>style.visibility</p:attrName>
                                        </p:attrNameLst>
                                      </p:cBhvr>
                                      <p:to>
                                        <p:strVal val="visible"/>
                                      </p:to>
                                    </p:set>
                                    <p:animEffect transition="in" filter="checkerboard(across)">
                                      <p:cBhvr>
                                        <p:cTn id="22" dur="500"/>
                                        <p:tgtEl>
                                          <p:spTgt spid="3194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9492"/>
                                        </p:tgtEl>
                                        <p:attrNameLst>
                                          <p:attrName>style.visibility</p:attrName>
                                        </p:attrNameLst>
                                      </p:cBhvr>
                                      <p:to>
                                        <p:strVal val="visible"/>
                                      </p:to>
                                    </p:set>
                                    <p:animEffect transition="in" filter="fade">
                                      <p:cBhvr>
                                        <p:cTn id="27" dur="500"/>
                                        <p:tgtEl>
                                          <p:spTgt spid="319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uild="p"/>
      <p:bldP spid="31949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p:txBody>
          <a:bodyPr/>
          <a:lstStyle/>
          <a:p>
            <a:r>
              <a:rPr lang="en-GB" dirty="0"/>
              <a:t>The bunny: correct</a:t>
            </a:r>
          </a:p>
        </p:txBody>
      </p:sp>
      <p:sp>
        <p:nvSpPr>
          <p:cNvPr id="320515" name="Rectangle 3"/>
          <p:cNvSpPr>
            <a:spLocks noGrp="1" noChangeArrowheads="1"/>
          </p:cNvSpPr>
          <p:nvPr>
            <p:ph type="body" idx="1"/>
          </p:nvPr>
        </p:nvSpPr>
        <p:spPr>
          <a:xfrm>
            <a:off x="495300" y="1209675"/>
            <a:ext cx="8648700" cy="3133725"/>
          </a:xfrm>
        </p:spPr>
        <p:txBody>
          <a:bodyPr>
            <a:normAutofit fontScale="92500" lnSpcReduction="10000"/>
          </a:bodyPr>
          <a:lstStyle/>
          <a:p>
            <a:pPr marL="609600" indent="-609600">
              <a:lnSpc>
                <a:spcPct val="90000"/>
              </a:lnSpc>
            </a:pPr>
            <a:r>
              <a:rPr lang="en-GB" sz="2800" dirty="0"/>
              <a:t>For each face:</a:t>
            </a:r>
          </a:p>
          <a:p>
            <a:pPr marL="990600" lvl="1" indent="-533400">
              <a:lnSpc>
                <a:spcPct val="90000"/>
              </a:lnSpc>
              <a:buFontTx/>
              <a:buAutoNum type="arabicPeriod"/>
            </a:pPr>
            <a:r>
              <a:rPr lang="en-GB" sz="2400" dirty="0"/>
              <a:t>Calculate the normal. </a:t>
            </a:r>
          </a:p>
          <a:p>
            <a:pPr marL="990600" lvl="1" indent="-533400">
              <a:lnSpc>
                <a:spcPct val="90000"/>
              </a:lnSpc>
              <a:buFontTx/>
              <a:buAutoNum type="arabicPeriod"/>
            </a:pPr>
            <a:r>
              <a:rPr lang="en-GB" sz="2400" dirty="0"/>
              <a:t>Use the dot product to see if it’s facing the centre (origin) or not (positive or negative)</a:t>
            </a:r>
          </a:p>
          <a:p>
            <a:pPr marL="990600" lvl="1" indent="-533400">
              <a:lnSpc>
                <a:spcPct val="90000"/>
              </a:lnSpc>
              <a:buFontTx/>
              <a:buAutoNum type="arabicPeriod"/>
            </a:pPr>
            <a:r>
              <a:rPr lang="en-GB" sz="2400" dirty="0"/>
              <a:t>If it’s negative, reverse it (1 – vector)</a:t>
            </a:r>
          </a:p>
          <a:p>
            <a:pPr marL="990600" lvl="1" indent="-533400">
              <a:lnSpc>
                <a:spcPct val="90000"/>
              </a:lnSpc>
              <a:buFontTx/>
              <a:buAutoNum type="arabicPeriod"/>
            </a:pPr>
            <a:r>
              <a:rPr lang="en-GB" sz="2400" dirty="0"/>
              <a:t>Add normal to current vertex </a:t>
            </a:r>
            <a:r>
              <a:rPr lang="en-GB" sz="2400" dirty="0" err="1"/>
              <a:t>normals</a:t>
            </a:r>
            <a:r>
              <a:rPr lang="en-GB" sz="2400" dirty="0"/>
              <a:t> (for all three vertices)</a:t>
            </a:r>
          </a:p>
          <a:p>
            <a:pPr marL="609600" indent="-609600">
              <a:lnSpc>
                <a:spcPct val="90000"/>
              </a:lnSpc>
            </a:pPr>
            <a:r>
              <a:rPr lang="en-GB" sz="2800" dirty="0"/>
              <a:t>For each vertex:</a:t>
            </a:r>
          </a:p>
          <a:p>
            <a:pPr marL="990600" lvl="1" indent="-533400">
              <a:lnSpc>
                <a:spcPct val="90000"/>
              </a:lnSpc>
              <a:buFontTx/>
              <a:buAutoNum type="arabicPeriod"/>
            </a:pPr>
            <a:r>
              <a:rPr lang="en-GB" sz="2400" dirty="0"/>
              <a:t>Add up all the </a:t>
            </a:r>
            <a:r>
              <a:rPr lang="en-GB" sz="2400" dirty="0" err="1"/>
              <a:t>normals</a:t>
            </a:r>
            <a:endParaRPr lang="en-GB" sz="2400" dirty="0"/>
          </a:p>
          <a:p>
            <a:pPr marL="990600" lvl="1" indent="-533400">
              <a:lnSpc>
                <a:spcPct val="90000"/>
              </a:lnSpc>
              <a:buFontTx/>
              <a:buAutoNum type="arabicPeriod"/>
            </a:pPr>
            <a:r>
              <a:rPr lang="en-GB" sz="2400" dirty="0"/>
              <a:t>“Normalize” them (to unit length of 1.0f)</a:t>
            </a:r>
          </a:p>
          <a:p>
            <a:pPr marL="609600" indent="-609600">
              <a:lnSpc>
                <a:spcPct val="90000"/>
              </a:lnSpc>
            </a:pPr>
            <a:endParaRPr lang="en-GB" sz="2800" dirty="0"/>
          </a:p>
        </p:txBody>
      </p:sp>
      <p:sp>
        <p:nvSpPr>
          <p:cNvPr id="32051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checkerboard(across)">
                                      <p:cBhvr>
                                        <p:cTn id="7" dur="500"/>
                                        <p:tgtEl>
                                          <p:spTgt spid="320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checkerboard(across)">
                                      <p:cBhvr>
                                        <p:cTn id="12" dur="500"/>
                                        <p:tgtEl>
                                          <p:spTgt spid="3205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checkerboard(across)">
                                      <p:cBhvr>
                                        <p:cTn id="17" dur="500"/>
                                        <p:tgtEl>
                                          <p:spTgt spid="3205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checkerboard(across)">
                                      <p:cBhvr>
                                        <p:cTn id="22" dur="500"/>
                                        <p:tgtEl>
                                          <p:spTgt spid="3205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checkerboard(across)">
                                      <p:cBhvr>
                                        <p:cTn id="27" dur="500"/>
                                        <p:tgtEl>
                                          <p:spTgt spid="3205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20515">
                                            <p:txEl>
                                              <p:pRg st="5" end="5"/>
                                            </p:txEl>
                                          </p:spTgt>
                                        </p:tgtEl>
                                        <p:attrNameLst>
                                          <p:attrName>style.visibility</p:attrName>
                                        </p:attrNameLst>
                                      </p:cBhvr>
                                      <p:to>
                                        <p:strVal val="visible"/>
                                      </p:to>
                                    </p:set>
                                    <p:animEffect transition="in" filter="checkerboard(across)">
                                      <p:cBhvr>
                                        <p:cTn id="32" dur="500"/>
                                        <p:tgtEl>
                                          <p:spTgt spid="3205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20515">
                                            <p:txEl>
                                              <p:pRg st="6" end="6"/>
                                            </p:txEl>
                                          </p:spTgt>
                                        </p:tgtEl>
                                        <p:attrNameLst>
                                          <p:attrName>style.visibility</p:attrName>
                                        </p:attrNameLst>
                                      </p:cBhvr>
                                      <p:to>
                                        <p:strVal val="visible"/>
                                      </p:to>
                                    </p:set>
                                    <p:animEffect transition="in" filter="checkerboard(across)">
                                      <p:cBhvr>
                                        <p:cTn id="37" dur="500"/>
                                        <p:tgtEl>
                                          <p:spTgt spid="3205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20515">
                                            <p:txEl>
                                              <p:pRg st="7" end="7"/>
                                            </p:txEl>
                                          </p:spTgt>
                                        </p:tgtEl>
                                        <p:attrNameLst>
                                          <p:attrName>style.visibility</p:attrName>
                                        </p:attrNameLst>
                                      </p:cBhvr>
                                      <p:to>
                                        <p:strVal val="visible"/>
                                      </p:to>
                                    </p:set>
                                    <p:animEffect transition="in" filter="checkerboard(across)">
                                      <p:cBhvr>
                                        <p:cTn id="42" dur="500"/>
                                        <p:tgtEl>
                                          <p:spTgt spid="3205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20516"/>
                                        </p:tgtEl>
                                        <p:attrNameLst>
                                          <p:attrName>style.visibility</p:attrName>
                                        </p:attrNameLst>
                                      </p:cBhvr>
                                      <p:to>
                                        <p:strVal val="visible"/>
                                      </p:to>
                                    </p:set>
                                    <p:animEffect transition="in" filter="fade">
                                      <p:cBhvr>
                                        <p:cTn id="47" dur="500"/>
                                        <p:tgtEl>
                                          <p:spTgt spid="320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P spid="32051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567" name="Picture 7"/>
          <p:cNvPicPr>
            <a:picLocks noChangeAspect="1" noChangeArrowheads="1"/>
          </p:cNvPicPr>
          <p:nvPr/>
        </p:nvPicPr>
        <p:blipFill>
          <a:blip r:embed="rId2" cstate="print"/>
          <a:stretch>
            <a:fillRect/>
          </a:stretch>
        </p:blipFill>
        <p:spPr bwMode="auto">
          <a:xfrm>
            <a:off x="2195736" y="339502"/>
            <a:ext cx="5719934" cy="4289950"/>
          </a:xfrm>
          <a:prstGeom prst="rect">
            <a:avLst/>
          </a:prstGeom>
          <a:noFill/>
          <a:ln>
            <a:noFill/>
          </a:ln>
        </p:spPr>
      </p:pic>
      <p:sp>
        <p:nvSpPr>
          <p:cNvPr id="322569" name="AutoShape 9"/>
          <p:cNvSpPr>
            <a:spLocks noChangeArrowheads="1"/>
          </p:cNvSpPr>
          <p:nvPr/>
        </p:nvSpPr>
        <p:spPr bwMode="auto">
          <a:xfrm>
            <a:off x="228601" y="147638"/>
            <a:ext cx="6607175" cy="561975"/>
          </a:xfrm>
          <a:prstGeom prst="roundRect">
            <a:avLst>
              <a:gd name="adj" fmla="val 16667"/>
            </a:avLst>
          </a:prstGeom>
          <a:solidFill>
            <a:srgbClr val="00B8FF"/>
          </a:solidFill>
          <a:ln w="76200">
            <a:solidFill>
              <a:srgbClr val="FF0000"/>
            </a:solidFill>
            <a:round/>
            <a:headEnd/>
            <a:tailEnd/>
          </a:ln>
          <a:effectLst/>
        </p:spPr>
        <p:txBody>
          <a:bodyPr wrap="none" anchor="ctr"/>
          <a:lstStyle/>
          <a:p>
            <a:pPr algn="ctr"/>
            <a:r>
              <a:rPr lang="en-GB" b="0" dirty="0"/>
              <a:t>The bunny, with just the triangle edges (</a:t>
            </a:r>
            <a:r>
              <a:rPr lang="en-GB" dirty="0"/>
              <a:t>aka “wireframe”)</a:t>
            </a:r>
          </a:p>
        </p:txBody>
      </p:sp>
      <p:sp>
        <p:nvSpPr>
          <p:cNvPr id="322570" name="AutoShape 10"/>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2569"/>
                                        </p:tgtEl>
                                        <p:attrNameLst>
                                          <p:attrName>style.visibility</p:attrName>
                                        </p:attrNameLst>
                                      </p:cBhvr>
                                      <p:to>
                                        <p:strVal val="visible"/>
                                      </p:to>
                                    </p:set>
                                    <p:animEffect transition="in" filter="checkerboard(across)">
                                      <p:cBhvr>
                                        <p:cTn id="7" dur="500"/>
                                        <p:tgtEl>
                                          <p:spTgt spid="322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2570"/>
                                        </p:tgtEl>
                                        <p:attrNameLst>
                                          <p:attrName>style.visibility</p:attrName>
                                        </p:attrNameLst>
                                      </p:cBhvr>
                                      <p:to>
                                        <p:strVal val="visible"/>
                                      </p:to>
                                    </p:set>
                                    <p:animEffect transition="in" filter="fade">
                                      <p:cBhvr>
                                        <p:cTn id="12" dur="500"/>
                                        <p:tgtEl>
                                          <p:spTgt spid="322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9" grpId="0" animBg="1"/>
      <p:bldP spid="32257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en-GB"/>
              <a:t>Turning on lighting</a:t>
            </a:r>
          </a:p>
        </p:txBody>
      </p:sp>
      <p:sp>
        <p:nvSpPr>
          <p:cNvPr id="326659" name="Rectangle 3"/>
          <p:cNvSpPr>
            <a:spLocks noGrp="1" noChangeArrowheads="1"/>
          </p:cNvSpPr>
          <p:nvPr>
            <p:ph type="body" idx="1"/>
          </p:nvPr>
        </p:nvSpPr>
        <p:spPr>
          <a:xfrm>
            <a:off x="522288" y="1428750"/>
            <a:ext cx="8196262" cy="3086100"/>
          </a:xfrm>
        </p:spPr>
        <p:txBody>
          <a:bodyPr>
            <a:normAutofit fontScale="92500" lnSpcReduction="10000"/>
          </a:bodyPr>
          <a:lstStyle/>
          <a:p>
            <a:r>
              <a:rPr lang="en-GB" dirty="0"/>
              <a:t>Recall:</a:t>
            </a:r>
          </a:p>
          <a:p>
            <a:pPr lvl="1"/>
            <a:r>
              <a:rPr lang="en-GB" dirty="0"/>
              <a:t>There is no lighting</a:t>
            </a:r>
          </a:p>
          <a:p>
            <a:pPr lvl="1"/>
            <a:r>
              <a:rPr lang="en-GB" dirty="0"/>
              <a:t>You need to create a </a:t>
            </a:r>
            <a:r>
              <a:rPr lang="en-GB" dirty="0" err="1"/>
              <a:t>shader</a:t>
            </a:r>
            <a:r>
              <a:rPr lang="en-GB" dirty="0"/>
              <a:t> file</a:t>
            </a:r>
          </a:p>
          <a:p>
            <a:pPr lvl="1"/>
            <a:r>
              <a:rPr lang="en-GB" dirty="0"/>
              <a:t>You need to create the mathematical calculations that determine the colour of the vertex (or pixel) and place them into the </a:t>
            </a:r>
            <a:r>
              <a:rPr lang="en-GB" dirty="0" err="1"/>
              <a:t>shader</a:t>
            </a:r>
            <a:endParaRPr lang="en-GB" dirty="0"/>
          </a:p>
          <a:p>
            <a:pPr lvl="1"/>
            <a:r>
              <a:rPr lang="en-GB" dirty="0"/>
              <a:t>Decide if you want “per vertex” or “per pixel/fragment” lighting</a:t>
            </a:r>
          </a:p>
        </p:txBody>
      </p:sp>
      <p:sp>
        <p:nvSpPr>
          <p:cNvPr id="32666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6659">
                                            <p:txEl>
                                              <p:pRg st="0" end="0"/>
                                            </p:txEl>
                                          </p:spTgt>
                                        </p:tgtEl>
                                        <p:attrNameLst>
                                          <p:attrName>style.visibility</p:attrName>
                                        </p:attrNameLst>
                                      </p:cBhvr>
                                      <p:to>
                                        <p:strVal val="visible"/>
                                      </p:to>
                                    </p:set>
                                    <p:animEffect transition="in" filter="checkerboard(across)">
                                      <p:cBhvr>
                                        <p:cTn id="7" dur="500"/>
                                        <p:tgtEl>
                                          <p:spTgt spid="326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6659">
                                            <p:txEl>
                                              <p:pRg st="1" end="1"/>
                                            </p:txEl>
                                          </p:spTgt>
                                        </p:tgtEl>
                                        <p:attrNameLst>
                                          <p:attrName>style.visibility</p:attrName>
                                        </p:attrNameLst>
                                      </p:cBhvr>
                                      <p:to>
                                        <p:strVal val="visible"/>
                                      </p:to>
                                    </p:set>
                                    <p:animEffect transition="in" filter="checkerboard(across)">
                                      <p:cBhvr>
                                        <p:cTn id="12" dur="500"/>
                                        <p:tgtEl>
                                          <p:spTgt spid="3266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26659">
                                            <p:txEl>
                                              <p:pRg st="2" end="2"/>
                                            </p:txEl>
                                          </p:spTgt>
                                        </p:tgtEl>
                                        <p:attrNameLst>
                                          <p:attrName>style.visibility</p:attrName>
                                        </p:attrNameLst>
                                      </p:cBhvr>
                                      <p:to>
                                        <p:strVal val="visible"/>
                                      </p:to>
                                    </p:set>
                                    <p:animEffect transition="in" filter="checkerboard(across)">
                                      <p:cBhvr>
                                        <p:cTn id="17" dur="500"/>
                                        <p:tgtEl>
                                          <p:spTgt spid="326659">
                                            <p:txEl>
                                              <p:pRg st="2" end="2"/>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326659">
                                            <p:txEl>
                                              <p:pRg st="3" end="3"/>
                                            </p:txEl>
                                          </p:spTgt>
                                        </p:tgtEl>
                                        <p:attrNameLst>
                                          <p:attrName>style.visibility</p:attrName>
                                        </p:attrNameLst>
                                      </p:cBhvr>
                                      <p:to>
                                        <p:strVal val="visible"/>
                                      </p:to>
                                    </p:set>
                                    <p:animEffect transition="in" filter="checkerboard(across)">
                                      <p:cBhvr>
                                        <p:cTn id="20" dur="500"/>
                                        <p:tgtEl>
                                          <p:spTgt spid="326659">
                                            <p:txEl>
                                              <p:pRg st="3" end="3"/>
                                            </p:txEl>
                                          </p:spTgt>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326659">
                                            <p:txEl>
                                              <p:pRg st="4" end="4"/>
                                            </p:txEl>
                                          </p:spTgt>
                                        </p:tgtEl>
                                        <p:attrNameLst>
                                          <p:attrName>style.visibility</p:attrName>
                                        </p:attrNameLst>
                                      </p:cBhvr>
                                      <p:to>
                                        <p:strVal val="visible"/>
                                      </p:to>
                                    </p:set>
                                    <p:animEffect transition="in" filter="checkerboard(across)">
                                      <p:cBhvr>
                                        <p:cTn id="23" dur="500"/>
                                        <p:tgtEl>
                                          <p:spTgt spid="326659">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26660"/>
                                        </p:tgtEl>
                                        <p:attrNameLst>
                                          <p:attrName>style.visibility</p:attrName>
                                        </p:attrNameLst>
                                      </p:cBhvr>
                                      <p:to>
                                        <p:strVal val="visible"/>
                                      </p:to>
                                    </p:set>
                                    <p:animEffect transition="in" filter="fade">
                                      <p:cBhvr>
                                        <p:cTn id="28" dur="500"/>
                                        <p:tgtEl>
                                          <p:spTgt spid="326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9" grpId="0" build="p"/>
      <p:bldP spid="32666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5636" name="Picture 4"/>
          <p:cNvPicPr>
            <a:picLocks noChangeAspect="1" noChangeArrowheads="1"/>
          </p:cNvPicPr>
          <p:nvPr/>
        </p:nvPicPr>
        <p:blipFill>
          <a:blip r:embed="rId2" cstate="print"/>
          <a:stretch>
            <a:fillRect/>
          </a:stretch>
        </p:blipFill>
        <p:spPr bwMode="auto">
          <a:xfrm>
            <a:off x="1619672" y="195486"/>
            <a:ext cx="5911955" cy="4433966"/>
          </a:xfrm>
          <a:prstGeom prst="rect">
            <a:avLst/>
          </a:prstGeom>
          <a:noFill/>
          <a:ln>
            <a:noFill/>
          </a:ln>
        </p:spPr>
      </p:pic>
      <p:sp>
        <p:nvSpPr>
          <p:cNvPr id="325637" name="AutoShape 5"/>
          <p:cNvSpPr>
            <a:spLocks noChangeArrowheads="1"/>
          </p:cNvSpPr>
          <p:nvPr/>
        </p:nvSpPr>
        <p:spPr bwMode="auto">
          <a:xfrm>
            <a:off x="228600" y="147638"/>
            <a:ext cx="2012950" cy="561975"/>
          </a:xfrm>
          <a:prstGeom prst="roundRect">
            <a:avLst>
              <a:gd name="adj" fmla="val 16667"/>
            </a:avLst>
          </a:prstGeom>
          <a:solidFill>
            <a:srgbClr val="00B8FF"/>
          </a:solidFill>
          <a:ln w="76200">
            <a:solidFill>
              <a:srgbClr val="FF0000"/>
            </a:solidFill>
            <a:round/>
            <a:headEnd/>
            <a:tailEnd/>
          </a:ln>
          <a:effectLst/>
        </p:spPr>
        <p:txBody>
          <a:bodyPr wrap="none" anchor="ctr"/>
          <a:lstStyle/>
          <a:p>
            <a:pPr algn="ctr"/>
            <a:r>
              <a:rPr lang="en-GB" b="0"/>
              <a:t>You get</a:t>
            </a:r>
            <a:r>
              <a:rPr lang="en-GB"/>
              <a:t>…</a:t>
            </a:r>
          </a:p>
        </p:txBody>
      </p:sp>
      <p:sp>
        <p:nvSpPr>
          <p:cNvPr id="325638" name="AutoShape 6"/>
          <p:cNvSpPr>
            <a:spLocks noChangeArrowheads="1"/>
          </p:cNvSpPr>
          <p:nvPr/>
        </p:nvSpPr>
        <p:spPr bwMode="auto">
          <a:xfrm>
            <a:off x="2874963" y="4255294"/>
            <a:ext cx="5778500" cy="561975"/>
          </a:xfrm>
          <a:prstGeom prst="roundRect">
            <a:avLst>
              <a:gd name="adj" fmla="val 16667"/>
            </a:avLst>
          </a:prstGeom>
          <a:solidFill>
            <a:srgbClr val="00B8FF"/>
          </a:solidFill>
          <a:ln w="76200">
            <a:solidFill>
              <a:srgbClr val="FF0000"/>
            </a:solidFill>
            <a:round/>
            <a:headEnd/>
            <a:tailEnd/>
          </a:ln>
          <a:effectLst/>
        </p:spPr>
        <p:txBody>
          <a:bodyPr wrap="none" anchor="ctr"/>
          <a:lstStyle/>
          <a:p>
            <a:pPr algn="ctr"/>
            <a:r>
              <a:rPr lang="en-GB" b="0"/>
              <a:t>A bunny in the dark. Great. </a:t>
            </a:r>
            <a:endParaRPr lang="en-GB"/>
          </a:p>
        </p:txBody>
      </p:sp>
      <p:sp>
        <p:nvSpPr>
          <p:cNvPr id="325639" name="AutoShape 7"/>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5637"/>
                                        </p:tgtEl>
                                        <p:attrNameLst>
                                          <p:attrName>style.visibility</p:attrName>
                                        </p:attrNameLst>
                                      </p:cBhvr>
                                      <p:to>
                                        <p:strVal val="visible"/>
                                      </p:to>
                                    </p:set>
                                    <p:animEffect transition="in" filter="checkerboard(across)">
                                      <p:cBhvr>
                                        <p:cTn id="7" dur="500"/>
                                        <p:tgtEl>
                                          <p:spTgt spid="325637"/>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nodeType="clickEffect">
                                  <p:stCondLst>
                                    <p:cond delay="0"/>
                                  </p:stCondLst>
                                  <p:childTnLst>
                                    <p:set>
                                      <p:cBhvr>
                                        <p:cTn id="11" dur="1" fill="hold">
                                          <p:stCondLst>
                                            <p:cond delay="0"/>
                                          </p:stCondLst>
                                        </p:cTn>
                                        <p:tgtEl>
                                          <p:spTgt spid="325636"/>
                                        </p:tgtEl>
                                        <p:attrNameLst>
                                          <p:attrName>style.visibility</p:attrName>
                                        </p:attrNameLst>
                                      </p:cBhvr>
                                      <p:to>
                                        <p:strVal val="visible"/>
                                      </p:to>
                                    </p:set>
                                    <p:anim calcmode="lin" valueType="num">
                                      <p:cBhvr>
                                        <p:cTn id="12" dur="1000" fill="hold"/>
                                        <p:tgtEl>
                                          <p:spTgt spid="325636"/>
                                        </p:tgtEl>
                                        <p:attrNameLst>
                                          <p:attrName>ppt_h</p:attrName>
                                        </p:attrNameLst>
                                      </p:cBhvr>
                                      <p:tavLst>
                                        <p:tav tm="0">
                                          <p:val>
                                            <p:strVal val="#ppt_h/20"/>
                                          </p:val>
                                        </p:tav>
                                        <p:tav tm="50000">
                                          <p:val>
                                            <p:strVal val="#ppt_h/20"/>
                                          </p:val>
                                        </p:tav>
                                        <p:tav tm="100000">
                                          <p:val>
                                            <p:strVal val="#ppt_h"/>
                                          </p:val>
                                        </p:tav>
                                      </p:tavLst>
                                    </p:anim>
                                    <p:anim calcmode="lin" valueType="num">
                                      <p:cBhvr>
                                        <p:cTn id="13" dur="1000" fill="hold"/>
                                        <p:tgtEl>
                                          <p:spTgt spid="325636"/>
                                        </p:tgtEl>
                                        <p:attrNameLst>
                                          <p:attrName>ppt_w</p:attrName>
                                        </p:attrNameLst>
                                      </p:cBhvr>
                                      <p:tavLst>
                                        <p:tav tm="0">
                                          <p:val>
                                            <p:strVal val="#ppt_w+.3"/>
                                          </p:val>
                                        </p:tav>
                                        <p:tav tm="50000">
                                          <p:val>
                                            <p:strVal val="#ppt_w+.3"/>
                                          </p:val>
                                        </p:tav>
                                        <p:tav tm="100000">
                                          <p:val>
                                            <p:strVal val="#ppt_w"/>
                                          </p:val>
                                        </p:tav>
                                      </p:tavLst>
                                    </p:anim>
                                    <p:anim calcmode="lin" valueType="num">
                                      <p:cBhvr>
                                        <p:cTn id="14" dur="1000" fill="hold"/>
                                        <p:tgtEl>
                                          <p:spTgt spid="325636"/>
                                        </p:tgtEl>
                                        <p:attrNameLst>
                                          <p:attrName>ppt_x</p:attrName>
                                        </p:attrNameLst>
                                      </p:cBhvr>
                                      <p:tavLst>
                                        <p:tav tm="0">
                                          <p:val>
                                            <p:strVal val="#ppt_x-.3"/>
                                          </p:val>
                                        </p:tav>
                                        <p:tav tm="50000">
                                          <p:val>
                                            <p:strVal val="#ppt_x"/>
                                          </p:val>
                                        </p:tav>
                                        <p:tav tm="100000">
                                          <p:val>
                                            <p:strVal val="#ppt_x"/>
                                          </p:val>
                                        </p:tav>
                                      </p:tavLst>
                                    </p:anim>
                                    <p:anim calcmode="lin" valueType="num">
                                      <p:cBhvr>
                                        <p:cTn id="15" dur="1000" fill="hold"/>
                                        <p:tgtEl>
                                          <p:spTgt spid="32563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325638"/>
                                        </p:tgtEl>
                                        <p:attrNameLst>
                                          <p:attrName>style.visibility</p:attrName>
                                        </p:attrNameLst>
                                      </p:cBhvr>
                                      <p:to>
                                        <p:strVal val="visible"/>
                                      </p:to>
                                    </p:set>
                                    <p:animEffect transition="in" filter="checkerboard(across)">
                                      <p:cBhvr>
                                        <p:cTn id="20" dur="500"/>
                                        <p:tgtEl>
                                          <p:spTgt spid="32563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5639"/>
                                        </p:tgtEl>
                                        <p:attrNameLst>
                                          <p:attrName>style.visibility</p:attrName>
                                        </p:attrNameLst>
                                      </p:cBhvr>
                                      <p:to>
                                        <p:strVal val="visible"/>
                                      </p:to>
                                    </p:set>
                                    <p:animEffect transition="in" filter="fade">
                                      <p:cBhvr>
                                        <p:cTn id="25" dur="500"/>
                                        <p:tgtEl>
                                          <p:spTgt spid="325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7" grpId="0" animBg="1"/>
      <p:bldP spid="325638" grpId="0" animBg="1"/>
      <p:bldP spid="32563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a:xfrm>
            <a:off x="755576" y="339502"/>
            <a:ext cx="7772400" cy="685800"/>
          </a:xfrm>
        </p:spPr>
        <p:txBody>
          <a:bodyPr/>
          <a:lstStyle/>
          <a:p>
            <a:r>
              <a:rPr lang="en-GB" dirty="0"/>
              <a:t>What’s wrong?</a:t>
            </a:r>
          </a:p>
        </p:txBody>
      </p:sp>
      <p:sp>
        <p:nvSpPr>
          <p:cNvPr id="327683" name="Rectangle 3"/>
          <p:cNvSpPr>
            <a:spLocks noGrp="1" noChangeArrowheads="1"/>
          </p:cNvSpPr>
          <p:nvPr>
            <p:ph type="body" idx="1"/>
          </p:nvPr>
        </p:nvSpPr>
        <p:spPr>
          <a:xfrm>
            <a:off x="755576" y="1203598"/>
            <a:ext cx="7848600" cy="3086100"/>
          </a:xfrm>
        </p:spPr>
        <p:txBody>
          <a:bodyPr>
            <a:normAutofit/>
          </a:bodyPr>
          <a:lstStyle/>
          <a:p>
            <a:r>
              <a:rPr lang="en-GB" sz="2400" dirty="0"/>
              <a:t>Most of the lighting calculations (except for ambient and emissive) rely on the interaction with the normal</a:t>
            </a:r>
          </a:p>
          <a:p>
            <a:r>
              <a:rPr lang="en-GB" sz="2400" dirty="0"/>
              <a:t>But, the bunny has no </a:t>
            </a:r>
            <a:r>
              <a:rPr lang="en-GB" sz="2400" dirty="0" err="1"/>
              <a:t>normals</a:t>
            </a:r>
            <a:r>
              <a:rPr lang="en-GB" sz="2400" dirty="0"/>
              <a:t>. </a:t>
            </a:r>
          </a:p>
          <a:p>
            <a:r>
              <a:rPr lang="en-GB" sz="2400" dirty="0"/>
              <a:t>Curses!</a:t>
            </a:r>
          </a:p>
          <a:p>
            <a:r>
              <a:rPr lang="en-GB" sz="2400" dirty="0"/>
              <a:t>We need to calculate the normal and we need to calculate it at </a:t>
            </a:r>
            <a:r>
              <a:rPr lang="en-GB" sz="2400" b="1" i="1" dirty="0"/>
              <a:t>each vertex</a:t>
            </a:r>
          </a:p>
        </p:txBody>
      </p:sp>
      <p:sp>
        <p:nvSpPr>
          <p:cNvPr id="32768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7683">
                                            <p:txEl>
                                              <p:pRg st="0" end="0"/>
                                            </p:txEl>
                                          </p:spTgt>
                                        </p:tgtEl>
                                        <p:attrNameLst>
                                          <p:attrName>style.visibility</p:attrName>
                                        </p:attrNameLst>
                                      </p:cBhvr>
                                      <p:to>
                                        <p:strVal val="visible"/>
                                      </p:to>
                                    </p:set>
                                    <p:animEffect transition="in" filter="checkerboard(across)">
                                      <p:cBhvr>
                                        <p:cTn id="7" dur="500"/>
                                        <p:tgtEl>
                                          <p:spTgt spid="327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7683">
                                            <p:txEl>
                                              <p:pRg st="1" end="1"/>
                                            </p:txEl>
                                          </p:spTgt>
                                        </p:tgtEl>
                                        <p:attrNameLst>
                                          <p:attrName>style.visibility</p:attrName>
                                        </p:attrNameLst>
                                      </p:cBhvr>
                                      <p:to>
                                        <p:strVal val="visible"/>
                                      </p:to>
                                    </p:set>
                                    <p:animEffect transition="in" filter="checkerboard(across)">
                                      <p:cBhvr>
                                        <p:cTn id="12" dur="500"/>
                                        <p:tgtEl>
                                          <p:spTgt spid="327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27683">
                                            <p:txEl>
                                              <p:pRg st="2" end="2"/>
                                            </p:txEl>
                                          </p:spTgt>
                                        </p:tgtEl>
                                        <p:attrNameLst>
                                          <p:attrName>style.visibility</p:attrName>
                                        </p:attrNameLst>
                                      </p:cBhvr>
                                      <p:to>
                                        <p:strVal val="visible"/>
                                      </p:to>
                                    </p:set>
                                    <p:animEffect transition="in" filter="checkerboard(across)">
                                      <p:cBhvr>
                                        <p:cTn id="17" dur="500"/>
                                        <p:tgtEl>
                                          <p:spTgt spid="3276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27683">
                                            <p:txEl>
                                              <p:pRg st="3" end="3"/>
                                            </p:txEl>
                                          </p:spTgt>
                                        </p:tgtEl>
                                        <p:attrNameLst>
                                          <p:attrName>style.visibility</p:attrName>
                                        </p:attrNameLst>
                                      </p:cBhvr>
                                      <p:to>
                                        <p:strVal val="visible"/>
                                      </p:to>
                                    </p:set>
                                    <p:animEffect transition="in" filter="checkerboard(across)">
                                      <p:cBhvr>
                                        <p:cTn id="22" dur="500"/>
                                        <p:tgtEl>
                                          <p:spTgt spid="3276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7684"/>
                                        </p:tgtEl>
                                        <p:attrNameLst>
                                          <p:attrName>style.visibility</p:attrName>
                                        </p:attrNameLst>
                                      </p:cBhvr>
                                      <p:to>
                                        <p:strVal val="visible"/>
                                      </p:to>
                                    </p:set>
                                    <p:animEffect transition="in" filter="fade">
                                      <p:cBhvr>
                                        <p:cTn id="27" dur="500"/>
                                        <p:tgtEl>
                                          <p:spTgt spid="327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build="p"/>
      <p:bldP spid="32768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a:xfrm>
            <a:off x="539552" y="339502"/>
            <a:ext cx="7772400" cy="685800"/>
          </a:xfrm>
        </p:spPr>
        <p:txBody>
          <a:bodyPr/>
          <a:lstStyle/>
          <a:p>
            <a:r>
              <a:rPr lang="en-GB" dirty="0"/>
              <a:t>How to calculate?</a:t>
            </a:r>
          </a:p>
        </p:txBody>
      </p:sp>
      <p:sp>
        <p:nvSpPr>
          <p:cNvPr id="331779" name="Rectangle 3"/>
          <p:cNvSpPr>
            <a:spLocks noGrp="1" noChangeArrowheads="1"/>
          </p:cNvSpPr>
          <p:nvPr>
            <p:ph type="body" idx="1"/>
          </p:nvPr>
        </p:nvSpPr>
        <p:spPr>
          <a:xfrm>
            <a:off x="520701" y="1371601"/>
            <a:ext cx="7947025" cy="1640681"/>
          </a:xfrm>
        </p:spPr>
        <p:txBody>
          <a:bodyPr>
            <a:normAutofit/>
          </a:bodyPr>
          <a:lstStyle/>
          <a:p>
            <a:r>
              <a:rPr lang="en-GB" sz="2400" dirty="0"/>
              <a:t>The “cross product” will do it</a:t>
            </a:r>
          </a:p>
          <a:p>
            <a:r>
              <a:rPr lang="en-GB" sz="2400" dirty="0"/>
              <a:t>Recall that a cross product returns the vector </a:t>
            </a:r>
            <a:r>
              <a:rPr lang="en-GB" sz="2400" b="1" i="1" dirty="0"/>
              <a:t>perpendicular</a:t>
            </a:r>
            <a:r>
              <a:rPr lang="en-GB" sz="2400" dirty="0"/>
              <a:t> to the </a:t>
            </a:r>
            <a:r>
              <a:rPr lang="en-GB" sz="2400" b="1" i="1" dirty="0"/>
              <a:t>plane</a:t>
            </a:r>
            <a:r>
              <a:rPr lang="en-GB" sz="2400" dirty="0"/>
              <a:t> made by two other vectors…</a:t>
            </a:r>
            <a:endParaRPr lang="en-GB" sz="2400" b="1" i="1" dirty="0"/>
          </a:p>
        </p:txBody>
      </p:sp>
      <p:sp>
        <p:nvSpPr>
          <p:cNvPr id="33178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23"/>
          <p:cNvGrpSpPr>
            <a:grpSpLocks/>
          </p:cNvGrpSpPr>
          <p:nvPr/>
        </p:nvGrpSpPr>
        <p:grpSpPr bwMode="auto">
          <a:xfrm>
            <a:off x="4721226" y="3098007"/>
            <a:ext cx="4030663" cy="1512094"/>
            <a:chOff x="2640" y="2612"/>
            <a:chExt cx="2539" cy="1270"/>
          </a:xfrm>
        </p:grpSpPr>
        <p:sp>
          <p:nvSpPr>
            <p:cNvPr id="331785" name="AutoShape 9"/>
            <p:cNvSpPr>
              <a:spLocks noChangeArrowheads="1"/>
            </p:cNvSpPr>
            <p:nvPr/>
          </p:nvSpPr>
          <p:spPr bwMode="auto">
            <a:xfrm rot="466127">
              <a:off x="2825" y="2667"/>
              <a:ext cx="2290" cy="933"/>
            </a:xfrm>
            <a:prstGeom prst="triangle">
              <a:avLst>
                <a:gd name="adj" fmla="val 72319"/>
              </a:avLst>
            </a:prstGeom>
            <a:solidFill>
              <a:srgbClr val="00B8FF">
                <a:alpha val="55000"/>
              </a:srgbClr>
            </a:solidFill>
            <a:ln w="38100">
              <a:solidFill>
                <a:schemeClr val="tx1"/>
              </a:solidFill>
              <a:miter lim="800000"/>
              <a:headEnd/>
              <a:tailEnd/>
            </a:ln>
            <a:effectLst/>
          </p:spPr>
          <p:txBody>
            <a:bodyPr wrap="none" anchor="ctr"/>
            <a:lstStyle/>
            <a:p>
              <a:endParaRPr lang="en-CA"/>
            </a:p>
          </p:txBody>
        </p:sp>
        <p:sp>
          <p:nvSpPr>
            <p:cNvPr id="331781" name="Oval 5"/>
            <p:cNvSpPr>
              <a:spLocks noChangeArrowheads="1"/>
            </p:cNvSpPr>
            <p:nvPr/>
          </p:nvSpPr>
          <p:spPr bwMode="auto">
            <a:xfrm>
              <a:off x="2640" y="3318"/>
              <a:ext cx="227" cy="227"/>
            </a:xfrm>
            <a:prstGeom prst="ellipse">
              <a:avLst/>
            </a:prstGeom>
            <a:solidFill>
              <a:srgbClr val="00B8FF"/>
            </a:solidFill>
            <a:ln w="9525">
              <a:solidFill>
                <a:schemeClr val="tx1"/>
              </a:solidFill>
              <a:round/>
              <a:headEnd/>
              <a:tailEnd/>
            </a:ln>
            <a:effectLst/>
          </p:spPr>
          <p:txBody>
            <a:bodyPr wrap="none" anchor="ctr"/>
            <a:lstStyle/>
            <a:p>
              <a:pPr algn="ctr"/>
              <a:r>
                <a:rPr lang="en-GB" sz="2000" b="0"/>
                <a:t>V1</a:t>
              </a:r>
            </a:p>
          </p:txBody>
        </p:sp>
        <p:sp>
          <p:nvSpPr>
            <p:cNvPr id="331786" name="Oval 10"/>
            <p:cNvSpPr>
              <a:spLocks noChangeArrowheads="1"/>
            </p:cNvSpPr>
            <p:nvPr/>
          </p:nvSpPr>
          <p:spPr bwMode="auto">
            <a:xfrm>
              <a:off x="4423" y="2612"/>
              <a:ext cx="227" cy="227"/>
            </a:xfrm>
            <a:prstGeom prst="ellipse">
              <a:avLst/>
            </a:prstGeom>
            <a:solidFill>
              <a:srgbClr val="00B8FF"/>
            </a:solidFill>
            <a:ln w="9525">
              <a:solidFill>
                <a:schemeClr val="tx1"/>
              </a:solidFill>
              <a:round/>
              <a:headEnd/>
              <a:tailEnd/>
            </a:ln>
            <a:effectLst/>
          </p:spPr>
          <p:txBody>
            <a:bodyPr wrap="none" anchor="ctr"/>
            <a:lstStyle/>
            <a:p>
              <a:pPr algn="ctr"/>
              <a:r>
                <a:rPr lang="en-GB" sz="2000" b="0"/>
                <a:t>V2</a:t>
              </a:r>
            </a:p>
          </p:txBody>
        </p:sp>
        <p:sp>
          <p:nvSpPr>
            <p:cNvPr id="331787" name="Oval 11"/>
            <p:cNvSpPr>
              <a:spLocks noChangeArrowheads="1"/>
            </p:cNvSpPr>
            <p:nvPr/>
          </p:nvSpPr>
          <p:spPr bwMode="auto">
            <a:xfrm>
              <a:off x="4952" y="3655"/>
              <a:ext cx="227" cy="227"/>
            </a:xfrm>
            <a:prstGeom prst="ellipse">
              <a:avLst/>
            </a:prstGeom>
            <a:solidFill>
              <a:srgbClr val="00B8FF"/>
            </a:solidFill>
            <a:ln w="9525">
              <a:solidFill>
                <a:schemeClr val="tx1"/>
              </a:solidFill>
              <a:round/>
              <a:headEnd/>
              <a:tailEnd/>
            </a:ln>
            <a:effectLst/>
          </p:spPr>
          <p:txBody>
            <a:bodyPr wrap="none" anchor="ctr"/>
            <a:lstStyle/>
            <a:p>
              <a:pPr algn="ctr"/>
              <a:r>
                <a:rPr lang="en-GB" sz="2000" b="0"/>
                <a:t>V3</a:t>
              </a:r>
            </a:p>
          </p:txBody>
        </p:sp>
      </p:grpSp>
      <p:grpSp>
        <p:nvGrpSpPr>
          <p:cNvPr id="3" name="Group 25"/>
          <p:cNvGrpSpPr>
            <a:grpSpLocks/>
          </p:cNvGrpSpPr>
          <p:nvPr/>
        </p:nvGrpSpPr>
        <p:grpSpPr bwMode="auto">
          <a:xfrm>
            <a:off x="4927600" y="3139679"/>
            <a:ext cx="2732088" cy="922734"/>
            <a:chOff x="2770" y="2647"/>
            <a:chExt cx="1721" cy="775"/>
          </a:xfrm>
        </p:grpSpPr>
        <p:sp>
          <p:nvSpPr>
            <p:cNvPr id="331788" name="Line 12"/>
            <p:cNvSpPr>
              <a:spLocks noChangeShapeType="1"/>
            </p:cNvSpPr>
            <p:nvPr/>
          </p:nvSpPr>
          <p:spPr bwMode="auto">
            <a:xfrm flipV="1">
              <a:off x="2770" y="2743"/>
              <a:ext cx="1721" cy="679"/>
            </a:xfrm>
            <a:prstGeom prst="line">
              <a:avLst/>
            </a:prstGeom>
            <a:noFill/>
            <a:ln w="76200">
              <a:solidFill>
                <a:srgbClr val="FF0000"/>
              </a:solidFill>
              <a:round/>
              <a:headEnd/>
              <a:tailEnd type="stealth" w="lg" len="lg"/>
            </a:ln>
            <a:effectLst/>
          </p:spPr>
          <p:txBody>
            <a:bodyPr/>
            <a:lstStyle/>
            <a:p>
              <a:endParaRPr lang="en-CA"/>
            </a:p>
          </p:txBody>
        </p:sp>
        <p:sp>
          <p:nvSpPr>
            <p:cNvPr id="331792" name="Text Box 16"/>
            <p:cNvSpPr txBox="1">
              <a:spLocks noChangeArrowheads="1"/>
            </p:cNvSpPr>
            <p:nvPr/>
          </p:nvSpPr>
          <p:spPr bwMode="auto">
            <a:xfrm>
              <a:off x="3511" y="2647"/>
              <a:ext cx="604" cy="310"/>
            </a:xfrm>
            <a:prstGeom prst="rect">
              <a:avLst/>
            </a:prstGeom>
            <a:noFill/>
            <a:ln w="9525">
              <a:noFill/>
              <a:miter lim="800000"/>
              <a:headEnd/>
              <a:tailEnd/>
            </a:ln>
            <a:effectLst/>
          </p:spPr>
          <p:txBody>
            <a:bodyPr>
              <a:spAutoFit/>
            </a:bodyPr>
            <a:lstStyle/>
            <a:p>
              <a:pPr algn="ctr">
                <a:spcBef>
                  <a:spcPct val="50000"/>
                </a:spcBef>
              </a:pPr>
              <a:r>
                <a:rPr lang="en-GB" b="0">
                  <a:solidFill>
                    <a:schemeClr val="tx1"/>
                  </a:solidFill>
                </a:rPr>
                <a:t>vec1</a:t>
              </a:r>
            </a:p>
          </p:txBody>
        </p:sp>
      </p:grpSp>
      <p:grpSp>
        <p:nvGrpSpPr>
          <p:cNvPr id="5" name="Group 24"/>
          <p:cNvGrpSpPr>
            <a:grpSpLocks/>
          </p:cNvGrpSpPr>
          <p:nvPr/>
        </p:nvGrpSpPr>
        <p:grpSpPr bwMode="auto">
          <a:xfrm>
            <a:off x="4273551" y="1368029"/>
            <a:ext cx="1711325" cy="2684859"/>
            <a:chOff x="2358" y="1159"/>
            <a:chExt cx="1078" cy="2255"/>
          </a:xfrm>
        </p:grpSpPr>
        <p:sp>
          <p:nvSpPr>
            <p:cNvPr id="331794" name="Text Box 18"/>
            <p:cNvSpPr txBox="1">
              <a:spLocks noChangeArrowheads="1"/>
            </p:cNvSpPr>
            <p:nvPr/>
          </p:nvSpPr>
          <p:spPr bwMode="auto">
            <a:xfrm rot="16200000">
              <a:off x="2188" y="2648"/>
              <a:ext cx="748" cy="407"/>
            </a:xfrm>
            <a:prstGeom prst="rect">
              <a:avLst/>
            </a:prstGeom>
            <a:noFill/>
            <a:ln w="9525">
              <a:noFill/>
              <a:miter lim="800000"/>
              <a:headEnd/>
              <a:tailEnd/>
            </a:ln>
            <a:effectLst/>
          </p:spPr>
          <p:txBody>
            <a:bodyPr>
              <a:spAutoFit/>
            </a:bodyPr>
            <a:lstStyle/>
            <a:p>
              <a:pPr algn="ctr">
                <a:spcBef>
                  <a:spcPct val="50000"/>
                </a:spcBef>
              </a:pPr>
              <a:r>
                <a:rPr lang="en-GB" b="0">
                  <a:solidFill>
                    <a:schemeClr val="tx1"/>
                  </a:solidFill>
                </a:rPr>
                <a:t>Normal</a:t>
              </a:r>
            </a:p>
          </p:txBody>
        </p:sp>
        <p:sp>
          <p:nvSpPr>
            <p:cNvPr id="331797" name="AutoShape 21"/>
            <p:cNvSpPr>
              <a:spLocks noChangeArrowheads="1"/>
            </p:cNvSpPr>
            <p:nvPr/>
          </p:nvSpPr>
          <p:spPr bwMode="auto">
            <a:xfrm rot="5400000" flipH="1">
              <a:off x="2757" y="2723"/>
              <a:ext cx="733" cy="624"/>
            </a:xfrm>
            <a:prstGeom prst="parallelogram">
              <a:avLst>
                <a:gd name="adj" fmla="val 12176"/>
              </a:avLst>
            </a:prstGeom>
            <a:solidFill>
              <a:srgbClr val="FF9900">
                <a:alpha val="39000"/>
              </a:srgbClr>
            </a:solidFill>
            <a:ln w="76200">
              <a:solidFill>
                <a:srgbClr val="FF9900"/>
              </a:solidFill>
              <a:miter lim="800000"/>
              <a:headEnd/>
              <a:tailEnd/>
            </a:ln>
            <a:effectLst/>
          </p:spPr>
          <p:txBody>
            <a:bodyPr wrap="none" anchor="ctr"/>
            <a:lstStyle/>
            <a:p>
              <a:endParaRPr lang="en-CA"/>
            </a:p>
          </p:txBody>
        </p:sp>
        <p:sp>
          <p:nvSpPr>
            <p:cNvPr id="331791" name="Line 15"/>
            <p:cNvSpPr>
              <a:spLocks noChangeShapeType="1"/>
            </p:cNvSpPr>
            <p:nvPr/>
          </p:nvSpPr>
          <p:spPr bwMode="auto">
            <a:xfrm flipV="1">
              <a:off x="2805" y="1159"/>
              <a:ext cx="0" cy="2255"/>
            </a:xfrm>
            <a:prstGeom prst="line">
              <a:avLst/>
            </a:prstGeom>
            <a:noFill/>
            <a:ln w="101600">
              <a:solidFill>
                <a:srgbClr val="CCFFFF"/>
              </a:solidFill>
              <a:round/>
              <a:headEnd/>
              <a:tailEnd type="stealth" w="lg" len="lg"/>
            </a:ln>
            <a:effectLst/>
          </p:spPr>
          <p:txBody>
            <a:bodyPr/>
            <a:lstStyle/>
            <a:p>
              <a:endParaRPr lang="en-CA"/>
            </a:p>
          </p:txBody>
        </p:sp>
      </p:grpSp>
      <p:sp>
        <p:nvSpPr>
          <p:cNvPr id="331798" name="Text Box 22"/>
          <p:cNvSpPr txBox="1">
            <a:spLocks noChangeArrowheads="1"/>
          </p:cNvSpPr>
          <p:nvPr/>
        </p:nvSpPr>
        <p:spPr bwMode="auto">
          <a:xfrm>
            <a:off x="5256213" y="3425429"/>
            <a:ext cx="598487" cy="430887"/>
          </a:xfrm>
          <a:prstGeom prst="rect">
            <a:avLst/>
          </a:prstGeom>
          <a:noFill/>
          <a:ln w="9525">
            <a:noFill/>
            <a:miter lim="800000"/>
            <a:headEnd/>
            <a:tailEnd/>
          </a:ln>
          <a:effectLst/>
        </p:spPr>
        <p:txBody>
          <a:bodyPr lIns="0" tIns="0" rIns="0" bIns="0">
            <a:spAutoFit/>
          </a:bodyPr>
          <a:lstStyle/>
          <a:p>
            <a:pPr>
              <a:spcBef>
                <a:spcPct val="50000"/>
              </a:spcBef>
            </a:pPr>
            <a:r>
              <a:rPr lang="en-GB" sz="2800">
                <a:solidFill>
                  <a:schemeClr val="tx1"/>
                </a:solidFill>
              </a:rPr>
              <a:t>90</a:t>
            </a:r>
            <a:r>
              <a:rPr lang="en-GB" sz="2800">
                <a:solidFill>
                  <a:schemeClr val="tx1"/>
                </a:solidFill>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1779">
                                            <p:txEl>
                                              <p:pRg st="0" end="0"/>
                                            </p:txEl>
                                          </p:spTgt>
                                        </p:tgtEl>
                                        <p:attrNameLst>
                                          <p:attrName>style.visibility</p:attrName>
                                        </p:attrNameLst>
                                      </p:cBhvr>
                                      <p:to>
                                        <p:strVal val="visible"/>
                                      </p:to>
                                    </p:set>
                                    <p:animEffect transition="in" filter="checkerboard(across)">
                                      <p:cBhvr>
                                        <p:cTn id="7" dur="500"/>
                                        <p:tgtEl>
                                          <p:spTgt spid="331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1779">
                                            <p:txEl>
                                              <p:pRg st="1" end="1"/>
                                            </p:txEl>
                                          </p:spTgt>
                                        </p:tgtEl>
                                        <p:attrNameLst>
                                          <p:attrName>style.visibility</p:attrName>
                                        </p:attrNameLst>
                                      </p:cBhvr>
                                      <p:to>
                                        <p:strVal val="visible"/>
                                      </p:to>
                                    </p:set>
                                    <p:animEffect transition="in" filter="checkerboard(across)">
                                      <p:cBhvr>
                                        <p:cTn id="12" dur="500"/>
                                        <p:tgtEl>
                                          <p:spTgt spid="331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900" decel="100000" fill="hold"/>
                                        <p:tgtEl>
                                          <p:spTgt spid="5"/>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331798"/>
                                        </p:tgtEl>
                                        <p:attrNameLst>
                                          <p:attrName>style.visibility</p:attrName>
                                        </p:attrNameLst>
                                      </p:cBhvr>
                                      <p:to>
                                        <p:strVal val="visible"/>
                                      </p:to>
                                    </p:set>
                                    <p:animEffect transition="in" filter="checkerboard(across)">
                                      <p:cBhvr>
                                        <p:cTn id="35" dur="500"/>
                                        <p:tgtEl>
                                          <p:spTgt spid="33179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31780"/>
                                        </p:tgtEl>
                                        <p:attrNameLst>
                                          <p:attrName>style.visibility</p:attrName>
                                        </p:attrNameLst>
                                      </p:cBhvr>
                                      <p:to>
                                        <p:strVal val="visible"/>
                                      </p:to>
                                    </p:set>
                                    <p:animEffect transition="in" filter="fade">
                                      <p:cBhvr>
                                        <p:cTn id="40" dur="500"/>
                                        <p:tgtEl>
                                          <p:spTgt spid="331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p:bldP spid="331780" grpId="0" animBg="1"/>
      <p:bldP spid="33179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a:xfrm>
            <a:off x="467544" y="195486"/>
            <a:ext cx="5226050" cy="1073944"/>
          </a:xfrm>
        </p:spPr>
        <p:txBody>
          <a:bodyPr/>
          <a:lstStyle/>
          <a:p>
            <a:r>
              <a:rPr lang="en-GB" dirty="0"/>
              <a:t>How to calculate?</a:t>
            </a:r>
          </a:p>
        </p:txBody>
      </p:sp>
      <p:sp>
        <p:nvSpPr>
          <p:cNvPr id="332803" name="Rectangle 3"/>
          <p:cNvSpPr>
            <a:spLocks noGrp="1" noChangeArrowheads="1"/>
          </p:cNvSpPr>
          <p:nvPr>
            <p:ph type="body" idx="1"/>
          </p:nvPr>
        </p:nvSpPr>
        <p:spPr>
          <a:xfrm>
            <a:off x="577850" y="1371601"/>
            <a:ext cx="8396288" cy="3126581"/>
          </a:xfrm>
        </p:spPr>
        <p:txBody>
          <a:bodyPr>
            <a:noAutofit/>
          </a:bodyPr>
          <a:lstStyle/>
          <a:p>
            <a:r>
              <a:rPr lang="en-GB" sz="2400" b="1" dirty="0">
                <a:latin typeface="Courier New" pitchFamily="49" charset="0"/>
              </a:rPr>
              <a:t>vec1</a:t>
            </a:r>
            <a:r>
              <a:rPr lang="en-GB" sz="2400" dirty="0"/>
              <a:t> = difference between </a:t>
            </a:r>
            <a:r>
              <a:rPr lang="en-GB" sz="2400" b="1" dirty="0">
                <a:latin typeface="Courier New" pitchFamily="49" charset="0"/>
              </a:rPr>
              <a:t>V2</a:t>
            </a:r>
            <a:r>
              <a:rPr lang="en-GB" sz="2400" dirty="0"/>
              <a:t> and </a:t>
            </a:r>
            <a:r>
              <a:rPr lang="en-GB" sz="2400" b="1" dirty="0">
                <a:latin typeface="Courier New" pitchFamily="49" charset="0"/>
              </a:rPr>
              <a:t>V1</a:t>
            </a:r>
          </a:p>
          <a:p>
            <a:r>
              <a:rPr lang="en-GB" sz="2400" b="1" dirty="0">
                <a:latin typeface="Courier New" pitchFamily="49" charset="0"/>
              </a:rPr>
              <a:t>vec2</a:t>
            </a:r>
            <a:r>
              <a:rPr lang="en-GB" sz="2400" dirty="0"/>
              <a:t> = difference between </a:t>
            </a:r>
            <a:r>
              <a:rPr lang="en-GB" sz="2400" b="1" dirty="0">
                <a:latin typeface="Courier New" pitchFamily="49" charset="0"/>
              </a:rPr>
              <a:t>V3</a:t>
            </a:r>
            <a:r>
              <a:rPr lang="en-GB" sz="2400" dirty="0"/>
              <a:t> and </a:t>
            </a:r>
            <a:r>
              <a:rPr lang="en-GB" sz="2400" b="1" dirty="0">
                <a:latin typeface="Courier New" pitchFamily="49" charset="0"/>
              </a:rPr>
              <a:t>V1</a:t>
            </a:r>
          </a:p>
          <a:p>
            <a:r>
              <a:rPr lang="en-GB" sz="2400" dirty="0"/>
              <a:t>Note that vectors are </a:t>
            </a:r>
            <a:r>
              <a:rPr lang="en-GB" sz="2400" b="1" i="1" dirty="0"/>
              <a:t>only</a:t>
            </a:r>
            <a:r>
              <a:rPr lang="en-GB" sz="2400" dirty="0"/>
              <a:t> </a:t>
            </a:r>
            <a:r>
              <a:rPr lang="en-GB" sz="2400" u="sng" dirty="0"/>
              <a:t>direction</a:t>
            </a:r>
            <a:r>
              <a:rPr lang="en-GB" sz="2400" dirty="0"/>
              <a:t> and </a:t>
            </a:r>
            <a:r>
              <a:rPr lang="en-GB" sz="2400" u="sng" dirty="0"/>
              <a:t>distance</a:t>
            </a:r>
          </a:p>
          <a:p>
            <a:pPr lvl="1"/>
            <a:r>
              <a:rPr lang="en-GB" sz="2000" dirty="0"/>
              <a:t>i.e. there is no </a:t>
            </a:r>
            <a:r>
              <a:rPr lang="en-GB" sz="2000" b="1" i="1" u="sng" dirty="0"/>
              <a:t>absolute</a:t>
            </a:r>
            <a:r>
              <a:rPr lang="en-GB" sz="2000" dirty="0"/>
              <a:t> starting or ending point</a:t>
            </a:r>
          </a:p>
          <a:p>
            <a:pPr lvl="1"/>
            <a:r>
              <a:rPr lang="en-GB" sz="2000" dirty="0"/>
              <a:t>They are ‘relative’ to some starting point</a:t>
            </a:r>
          </a:p>
          <a:p>
            <a:r>
              <a:rPr lang="en-GB" sz="2400" dirty="0"/>
              <a:t>you can assume the starting is anywhere</a:t>
            </a:r>
          </a:p>
          <a:p>
            <a:pPr lvl="1"/>
            <a:r>
              <a:rPr lang="en-GB" sz="2000" dirty="0"/>
              <a:t>These ‘vectors’ have only a </a:t>
            </a:r>
            <a:r>
              <a:rPr lang="en-GB" sz="2000" i="1" u="sng" dirty="0"/>
              <a:t>single</a:t>
            </a:r>
            <a:r>
              <a:rPr lang="en-GB" sz="2000" dirty="0"/>
              <a:t> </a:t>
            </a:r>
            <a:r>
              <a:rPr lang="en-GB" sz="2000" dirty="0" err="1"/>
              <a:t>x,y,z</a:t>
            </a:r>
            <a:r>
              <a:rPr lang="en-GB" sz="2000" dirty="0"/>
              <a:t> because we </a:t>
            </a:r>
            <a:r>
              <a:rPr lang="en-GB" sz="2000" i="1" u="sng" dirty="0"/>
              <a:t>assume that the ‘start’ is at 0,0,0</a:t>
            </a:r>
            <a:r>
              <a:rPr lang="en-GB" sz="2000" dirty="0"/>
              <a:t> (the origin)</a:t>
            </a:r>
          </a:p>
        </p:txBody>
      </p:sp>
      <p:sp>
        <p:nvSpPr>
          <p:cNvPr id="33280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32806" name="AutoShape 6"/>
          <p:cNvSpPr>
            <a:spLocks noChangeArrowheads="1"/>
          </p:cNvSpPr>
          <p:nvPr/>
        </p:nvSpPr>
        <p:spPr bwMode="auto">
          <a:xfrm rot="466127">
            <a:off x="7021514" y="766763"/>
            <a:ext cx="1958975" cy="598885"/>
          </a:xfrm>
          <a:prstGeom prst="triangle">
            <a:avLst>
              <a:gd name="adj" fmla="val 72319"/>
            </a:avLst>
          </a:prstGeom>
          <a:solidFill>
            <a:srgbClr val="00B8FF">
              <a:alpha val="55000"/>
            </a:srgbClr>
          </a:solidFill>
          <a:ln w="38100">
            <a:solidFill>
              <a:schemeClr val="tx1"/>
            </a:solidFill>
            <a:miter lim="800000"/>
            <a:headEnd/>
            <a:tailEnd/>
          </a:ln>
          <a:effectLst/>
        </p:spPr>
        <p:txBody>
          <a:bodyPr wrap="none" anchor="ctr"/>
          <a:lstStyle/>
          <a:p>
            <a:endParaRPr lang="en-CA"/>
          </a:p>
        </p:txBody>
      </p:sp>
      <p:sp>
        <p:nvSpPr>
          <p:cNvPr id="332812" name="Text Box 12"/>
          <p:cNvSpPr txBox="1">
            <a:spLocks noChangeArrowheads="1"/>
          </p:cNvSpPr>
          <p:nvPr/>
        </p:nvSpPr>
        <p:spPr bwMode="auto">
          <a:xfrm>
            <a:off x="7502525" y="700088"/>
            <a:ext cx="669925" cy="307777"/>
          </a:xfrm>
          <a:prstGeom prst="rect">
            <a:avLst/>
          </a:prstGeom>
          <a:noFill/>
          <a:ln w="9525">
            <a:noFill/>
            <a:miter lim="800000"/>
            <a:headEnd/>
            <a:tailEnd/>
          </a:ln>
          <a:effectLst/>
        </p:spPr>
        <p:txBody>
          <a:bodyPr>
            <a:spAutoFit/>
          </a:bodyPr>
          <a:lstStyle/>
          <a:p>
            <a:pPr algn="ctr">
              <a:spcBef>
                <a:spcPct val="50000"/>
              </a:spcBef>
            </a:pPr>
            <a:r>
              <a:rPr lang="en-GB" sz="1400" b="0">
                <a:solidFill>
                  <a:schemeClr val="tx1"/>
                </a:solidFill>
              </a:rPr>
              <a:t>vec1</a:t>
            </a:r>
          </a:p>
        </p:txBody>
      </p:sp>
      <p:sp>
        <p:nvSpPr>
          <p:cNvPr id="332815" name="Text Box 15"/>
          <p:cNvSpPr txBox="1">
            <a:spLocks noChangeArrowheads="1"/>
          </p:cNvSpPr>
          <p:nvPr/>
        </p:nvSpPr>
        <p:spPr bwMode="auto">
          <a:xfrm>
            <a:off x="7618414" y="1384697"/>
            <a:ext cx="530225" cy="307777"/>
          </a:xfrm>
          <a:prstGeom prst="rect">
            <a:avLst/>
          </a:prstGeom>
          <a:noFill/>
          <a:ln w="9525">
            <a:noFill/>
            <a:miter lim="800000"/>
            <a:headEnd/>
            <a:tailEnd/>
          </a:ln>
          <a:effectLst/>
        </p:spPr>
        <p:txBody>
          <a:bodyPr>
            <a:spAutoFit/>
          </a:bodyPr>
          <a:lstStyle/>
          <a:p>
            <a:pPr algn="ctr">
              <a:spcBef>
                <a:spcPct val="50000"/>
              </a:spcBef>
            </a:pPr>
            <a:r>
              <a:rPr lang="en-GB" sz="1400" b="0">
                <a:solidFill>
                  <a:schemeClr val="tx1"/>
                </a:solidFill>
              </a:rPr>
              <a:t>vec2</a:t>
            </a:r>
          </a:p>
        </p:txBody>
      </p:sp>
      <p:sp>
        <p:nvSpPr>
          <p:cNvPr id="332817" name="Text Box 17"/>
          <p:cNvSpPr txBox="1">
            <a:spLocks noChangeArrowheads="1"/>
          </p:cNvSpPr>
          <p:nvPr/>
        </p:nvSpPr>
        <p:spPr bwMode="auto">
          <a:xfrm rot="16200000">
            <a:off x="6382941" y="525573"/>
            <a:ext cx="769144" cy="584775"/>
          </a:xfrm>
          <a:prstGeom prst="rect">
            <a:avLst/>
          </a:prstGeom>
          <a:noFill/>
          <a:ln w="9525">
            <a:noFill/>
            <a:miter lim="800000"/>
            <a:headEnd/>
            <a:tailEnd/>
          </a:ln>
          <a:effectLst/>
        </p:spPr>
        <p:txBody>
          <a:bodyPr>
            <a:spAutoFit/>
          </a:bodyPr>
          <a:lstStyle/>
          <a:p>
            <a:pPr algn="ctr">
              <a:spcBef>
                <a:spcPct val="50000"/>
              </a:spcBef>
            </a:pPr>
            <a:r>
              <a:rPr lang="en-GB" sz="1600" b="0">
                <a:solidFill>
                  <a:schemeClr val="tx1"/>
                </a:solidFill>
              </a:rPr>
              <a:t>Normal</a:t>
            </a:r>
          </a:p>
        </p:txBody>
      </p:sp>
      <p:sp>
        <p:nvSpPr>
          <p:cNvPr id="332819" name="Line 19"/>
          <p:cNvSpPr>
            <a:spLocks noChangeShapeType="1"/>
          </p:cNvSpPr>
          <p:nvPr/>
        </p:nvSpPr>
        <p:spPr bwMode="auto">
          <a:xfrm flipV="1">
            <a:off x="6921500" y="108348"/>
            <a:ext cx="0" cy="1159669"/>
          </a:xfrm>
          <a:prstGeom prst="line">
            <a:avLst/>
          </a:prstGeom>
          <a:noFill/>
          <a:ln w="101600">
            <a:solidFill>
              <a:srgbClr val="CCFFFF"/>
            </a:solidFill>
            <a:round/>
            <a:headEnd/>
            <a:tailEnd type="stealth" w="lg" len="lg"/>
          </a:ln>
          <a:effectLst/>
        </p:spPr>
        <p:txBody>
          <a:bodyPr/>
          <a:lstStyle/>
          <a:p>
            <a:endParaRPr lang="en-CA"/>
          </a:p>
        </p:txBody>
      </p:sp>
      <p:sp>
        <p:nvSpPr>
          <p:cNvPr id="332807" name="Oval 7"/>
          <p:cNvSpPr>
            <a:spLocks noChangeArrowheads="1"/>
          </p:cNvSpPr>
          <p:nvPr/>
        </p:nvSpPr>
        <p:spPr bwMode="auto">
          <a:xfrm>
            <a:off x="6815138" y="1172766"/>
            <a:ext cx="241300" cy="180975"/>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V1</a:t>
            </a:r>
          </a:p>
        </p:txBody>
      </p:sp>
      <p:sp>
        <p:nvSpPr>
          <p:cNvPr id="332808" name="Oval 8"/>
          <p:cNvSpPr>
            <a:spLocks noChangeArrowheads="1"/>
          </p:cNvSpPr>
          <p:nvPr/>
        </p:nvSpPr>
        <p:spPr bwMode="auto">
          <a:xfrm>
            <a:off x="8356601" y="671513"/>
            <a:ext cx="258763" cy="192881"/>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V2</a:t>
            </a:r>
          </a:p>
        </p:txBody>
      </p:sp>
      <p:sp>
        <p:nvSpPr>
          <p:cNvPr id="332809" name="Oval 9"/>
          <p:cNvSpPr>
            <a:spLocks noChangeArrowheads="1"/>
          </p:cNvSpPr>
          <p:nvPr/>
        </p:nvSpPr>
        <p:spPr bwMode="auto">
          <a:xfrm>
            <a:off x="8770938" y="1351359"/>
            <a:ext cx="260350" cy="195263"/>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V3</a:t>
            </a:r>
          </a:p>
        </p:txBody>
      </p:sp>
      <p:sp>
        <p:nvSpPr>
          <p:cNvPr id="332811" name="Line 11"/>
          <p:cNvSpPr>
            <a:spLocks noChangeShapeType="1"/>
          </p:cNvSpPr>
          <p:nvPr/>
        </p:nvSpPr>
        <p:spPr bwMode="auto">
          <a:xfrm flipV="1">
            <a:off x="7051675" y="827485"/>
            <a:ext cx="1346200" cy="394097"/>
          </a:xfrm>
          <a:prstGeom prst="line">
            <a:avLst/>
          </a:prstGeom>
          <a:noFill/>
          <a:ln w="76200">
            <a:solidFill>
              <a:srgbClr val="FF0000"/>
            </a:solidFill>
            <a:round/>
            <a:headEnd/>
            <a:tailEnd type="stealth" w="lg" len="lg"/>
          </a:ln>
          <a:effectLst/>
        </p:spPr>
        <p:txBody>
          <a:bodyPr/>
          <a:lstStyle/>
          <a:p>
            <a:endParaRPr lang="en-CA"/>
          </a:p>
        </p:txBody>
      </p:sp>
      <p:sp>
        <p:nvSpPr>
          <p:cNvPr id="332814" name="Line 14"/>
          <p:cNvSpPr>
            <a:spLocks noChangeShapeType="1"/>
          </p:cNvSpPr>
          <p:nvPr/>
        </p:nvSpPr>
        <p:spPr bwMode="auto">
          <a:xfrm>
            <a:off x="7016751" y="1273969"/>
            <a:ext cx="1776413" cy="175022"/>
          </a:xfrm>
          <a:prstGeom prst="line">
            <a:avLst/>
          </a:prstGeom>
          <a:noFill/>
          <a:ln w="76200">
            <a:solidFill>
              <a:srgbClr val="FF0000"/>
            </a:solidFill>
            <a:round/>
            <a:headEnd/>
            <a:tailEnd type="stealth" w="lg" len="lg"/>
          </a:ln>
          <a:effectLst/>
        </p:spPr>
        <p:txBody>
          <a:bodyPr/>
          <a:lstStyle/>
          <a:p>
            <a:endParaRPr lang="en-CA"/>
          </a:p>
        </p:txBody>
      </p:sp>
      <p:sp>
        <p:nvSpPr>
          <p:cNvPr id="332818" name="AutoShape 18"/>
          <p:cNvSpPr>
            <a:spLocks noChangeArrowheads="1"/>
          </p:cNvSpPr>
          <p:nvPr/>
        </p:nvSpPr>
        <p:spPr bwMode="auto">
          <a:xfrm rot="5400000" flipH="1">
            <a:off x="7030244" y="754856"/>
            <a:ext cx="471488" cy="533400"/>
          </a:xfrm>
          <a:prstGeom prst="parallelogram">
            <a:avLst>
              <a:gd name="adj" fmla="val 12217"/>
            </a:avLst>
          </a:prstGeom>
          <a:solidFill>
            <a:srgbClr val="FF9900">
              <a:alpha val="39000"/>
            </a:srgbClr>
          </a:solidFill>
          <a:ln w="76200">
            <a:solidFill>
              <a:srgbClr val="FF9900"/>
            </a:solidFill>
            <a:miter lim="800000"/>
            <a:headEnd/>
            <a:tailEnd/>
          </a:ln>
          <a:effectLst/>
        </p:spPr>
        <p:txBody>
          <a:bodyPr wrap="none" anchor="ctr"/>
          <a:lstStyle/>
          <a:p>
            <a:endParaRPr lang="en-CA"/>
          </a:p>
        </p:txBody>
      </p:sp>
      <p:sp>
        <p:nvSpPr>
          <p:cNvPr id="332820" name="Text Box 20"/>
          <p:cNvSpPr txBox="1">
            <a:spLocks noChangeArrowheads="1"/>
          </p:cNvSpPr>
          <p:nvPr/>
        </p:nvSpPr>
        <p:spPr bwMode="auto">
          <a:xfrm>
            <a:off x="7088188" y="920354"/>
            <a:ext cx="323850" cy="553998"/>
          </a:xfrm>
          <a:prstGeom prst="rect">
            <a:avLst/>
          </a:prstGeom>
          <a:noFill/>
          <a:ln w="9525">
            <a:noFill/>
            <a:miter lim="800000"/>
            <a:headEnd/>
            <a:tailEnd/>
          </a:ln>
          <a:effectLst/>
        </p:spPr>
        <p:txBody>
          <a:bodyPr lIns="0" tIns="0" rIns="0" bIns="0">
            <a:spAutoFit/>
          </a:bodyPr>
          <a:lstStyle/>
          <a:p>
            <a:pPr>
              <a:spcBef>
                <a:spcPct val="50000"/>
              </a:spcBef>
            </a:pPr>
            <a:r>
              <a:rPr lang="en-GB" sz="1800">
                <a:solidFill>
                  <a:schemeClr val="tx1"/>
                </a:solidFill>
              </a:rPr>
              <a:t>90</a:t>
            </a:r>
            <a:r>
              <a:rPr lang="en-GB" sz="1800">
                <a:solidFill>
                  <a:schemeClr val="tx1"/>
                </a:solidFill>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2803">
                                            <p:txEl>
                                              <p:pRg st="0" end="0"/>
                                            </p:txEl>
                                          </p:spTgt>
                                        </p:tgtEl>
                                        <p:attrNameLst>
                                          <p:attrName>style.visibility</p:attrName>
                                        </p:attrNameLst>
                                      </p:cBhvr>
                                      <p:to>
                                        <p:strVal val="visible"/>
                                      </p:to>
                                    </p:set>
                                    <p:animEffect transition="in" filter="checkerboard(across)">
                                      <p:cBhvr>
                                        <p:cTn id="7" dur="500"/>
                                        <p:tgtEl>
                                          <p:spTgt spid="332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grpId="0" nodeType="clickEffect">
                                  <p:stCondLst>
                                    <p:cond delay="0"/>
                                  </p:stCondLst>
                                  <p:childTnLst>
                                    <p:animScale>
                                      <p:cBhvr>
                                        <p:cTn id="11" dur="500" fill="hold"/>
                                        <p:tgtEl>
                                          <p:spTgt spid="332808"/>
                                        </p:tgtEl>
                                      </p:cBhvr>
                                      <p:by x="150000" y="150000"/>
                                    </p:animScale>
                                  </p:childTnLst>
                                </p:cTn>
                              </p:par>
                            </p:childTnLst>
                          </p:cTn>
                        </p:par>
                        <p:par>
                          <p:cTn id="12" fill="hold">
                            <p:stCondLst>
                              <p:cond delay="500"/>
                            </p:stCondLst>
                            <p:childTnLst>
                              <p:par>
                                <p:cTn id="13" presetID="6" presetClass="emph" presetSubtype="0" fill="hold" grpId="0" nodeType="afterEffect">
                                  <p:stCondLst>
                                    <p:cond delay="0"/>
                                  </p:stCondLst>
                                  <p:childTnLst>
                                    <p:animScale>
                                      <p:cBhvr>
                                        <p:cTn id="14" dur="500" fill="hold"/>
                                        <p:tgtEl>
                                          <p:spTgt spid="332807"/>
                                        </p:tgtEl>
                                      </p:cBhvr>
                                      <p:by x="150000" y="150000"/>
                                    </p:animScale>
                                  </p:childTnLst>
                                </p:cTn>
                              </p:par>
                            </p:childTnLst>
                          </p:cTn>
                        </p:par>
                        <p:par>
                          <p:cTn id="15" fill="hold">
                            <p:stCondLst>
                              <p:cond delay="1000"/>
                            </p:stCondLst>
                            <p:childTnLst>
                              <p:par>
                                <p:cTn id="16" presetID="6" presetClass="emph" presetSubtype="0" fill="hold" grpId="0" nodeType="afterEffect">
                                  <p:stCondLst>
                                    <p:cond delay="0"/>
                                  </p:stCondLst>
                                  <p:childTnLst>
                                    <p:animScale>
                                      <p:cBhvr>
                                        <p:cTn id="17" dur="500" fill="hold"/>
                                        <p:tgtEl>
                                          <p:spTgt spid="332811"/>
                                        </p:tgtEl>
                                      </p:cBhvr>
                                      <p:by x="150000" y="150000"/>
                                    </p:animScale>
                                  </p:childTnLst>
                                </p:cTn>
                              </p:par>
                            </p:childTnLst>
                          </p:cTn>
                        </p:par>
                      </p:childTnLst>
                    </p:cTn>
                  </p:par>
                  <p:par>
                    <p:cTn id="18" fill="hold">
                      <p:stCondLst>
                        <p:cond delay="indefinite"/>
                      </p:stCondLst>
                      <p:childTnLst>
                        <p:par>
                          <p:cTn id="19" fill="hold">
                            <p:stCondLst>
                              <p:cond delay="0"/>
                            </p:stCondLst>
                            <p:childTnLst>
                              <p:par>
                                <p:cTn id="20" presetID="6" presetClass="emph" presetSubtype="0" fill="hold" grpId="1" nodeType="clickEffect">
                                  <p:stCondLst>
                                    <p:cond delay="0"/>
                                  </p:stCondLst>
                                  <p:childTnLst>
                                    <p:animScale>
                                      <p:cBhvr>
                                        <p:cTn id="21" dur="500" fill="hold"/>
                                        <p:tgtEl>
                                          <p:spTgt spid="332808"/>
                                        </p:tgtEl>
                                      </p:cBhvr>
                                      <p:by x="70000" y="70000"/>
                                    </p:animScale>
                                  </p:childTnLst>
                                </p:cTn>
                              </p:par>
                              <p:par>
                                <p:cTn id="22" presetID="6" presetClass="emph" presetSubtype="0" fill="hold" grpId="1" nodeType="withEffect">
                                  <p:stCondLst>
                                    <p:cond delay="0"/>
                                  </p:stCondLst>
                                  <p:childTnLst>
                                    <p:animScale>
                                      <p:cBhvr>
                                        <p:cTn id="23" dur="500" fill="hold"/>
                                        <p:tgtEl>
                                          <p:spTgt spid="332811"/>
                                        </p:tgtEl>
                                      </p:cBhvr>
                                      <p:by x="70000" y="70000"/>
                                    </p:animScale>
                                  </p:childTnLst>
                                </p:cTn>
                              </p:par>
                              <p:par>
                                <p:cTn id="24" presetID="6" presetClass="emph" presetSubtype="0" fill="hold" grpId="2" nodeType="withEffect">
                                  <p:stCondLst>
                                    <p:cond delay="0"/>
                                  </p:stCondLst>
                                  <p:childTnLst>
                                    <p:animScale>
                                      <p:cBhvr>
                                        <p:cTn id="25" dur="500" fill="hold"/>
                                        <p:tgtEl>
                                          <p:spTgt spid="332807"/>
                                        </p:tgtEl>
                                      </p:cBhvr>
                                      <p:by x="70000" y="70000"/>
                                    </p:animScale>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332803">
                                            <p:txEl>
                                              <p:pRg st="1" end="1"/>
                                            </p:txEl>
                                          </p:spTgt>
                                        </p:tgtEl>
                                        <p:attrNameLst>
                                          <p:attrName>style.visibility</p:attrName>
                                        </p:attrNameLst>
                                      </p:cBhvr>
                                      <p:to>
                                        <p:strVal val="visible"/>
                                      </p:to>
                                    </p:set>
                                    <p:animEffect transition="in" filter="checkerboard(across)">
                                      <p:cBhvr>
                                        <p:cTn id="30" dur="500"/>
                                        <p:tgtEl>
                                          <p:spTgt spid="332803">
                                            <p:txEl>
                                              <p:pRg st="1" end="1"/>
                                            </p:txEl>
                                          </p:spTgt>
                                        </p:tgtEl>
                                      </p:cBhvr>
                                    </p:animEffect>
                                  </p:childTnLst>
                                </p:cTn>
                              </p:par>
                            </p:childTnLst>
                          </p:cTn>
                        </p:par>
                        <p:par>
                          <p:cTn id="31" fill="hold">
                            <p:stCondLst>
                              <p:cond delay="500"/>
                            </p:stCondLst>
                            <p:childTnLst>
                              <p:par>
                                <p:cTn id="32" presetID="6" presetClass="emph" presetSubtype="0" fill="hold" grpId="0" nodeType="afterEffect">
                                  <p:stCondLst>
                                    <p:cond delay="0"/>
                                  </p:stCondLst>
                                  <p:childTnLst>
                                    <p:animScale>
                                      <p:cBhvr>
                                        <p:cTn id="33" dur="500" fill="hold"/>
                                        <p:tgtEl>
                                          <p:spTgt spid="332809"/>
                                        </p:tgtEl>
                                      </p:cBhvr>
                                      <p:by x="150000" y="150000"/>
                                    </p:animScale>
                                  </p:childTnLst>
                                </p:cTn>
                              </p:par>
                            </p:childTnLst>
                          </p:cTn>
                        </p:par>
                      </p:childTnLst>
                    </p:cTn>
                  </p:par>
                  <p:par>
                    <p:cTn id="34" fill="hold">
                      <p:stCondLst>
                        <p:cond delay="indefinite"/>
                      </p:stCondLst>
                      <p:childTnLst>
                        <p:par>
                          <p:cTn id="35" fill="hold">
                            <p:stCondLst>
                              <p:cond delay="0"/>
                            </p:stCondLst>
                            <p:childTnLst>
                              <p:par>
                                <p:cTn id="36" presetID="6" presetClass="emph" presetSubtype="0" fill="hold" grpId="1" nodeType="clickEffect">
                                  <p:stCondLst>
                                    <p:cond delay="0"/>
                                  </p:stCondLst>
                                  <p:childTnLst>
                                    <p:animScale>
                                      <p:cBhvr>
                                        <p:cTn id="37" dur="500" fill="hold"/>
                                        <p:tgtEl>
                                          <p:spTgt spid="332807"/>
                                        </p:tgtEl>
                                      </p:cBhvr>
                                      <p:by x="150000" y="150000"/>
                                    </p:animScale>
                                  </p:childTnLst>
                                </p:cTn>
                              </p:par>
                            </p:childTnLst>
                          </p:cTn>
                        </p:par>
                        <p:par>
                          <p:cTn id="38" fill="hold">
                            <p:stCondLst>
                              <p:cond delay="500"/>
                            </p:stCondLst>
                            <p:childTnLst>
                              <p:par>
                                <p:cTn id="39" presetID="6" presetClass="emph" presetSubtype="0" fill="hold" grpId="0" nodeType="afterEffect">
                                  <p:stCondLst>
                                    <p:cond delay="0"/>
                                  </p:stCondLst>
                                  <p:childTnLst>
                                    <p:animScale>
                                      <p:cBhvr>
                                        <p:cTn id="40" dur="500" fill="hold"/>
                                        <p:tgtEl>
                                          <p:spTgt spid="332814"/>
                                        </p:tgtEl>
                                      </p:cBhvr>
                                      <p:by x="150000" y="150000"/>
                                    </p:animScale>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grpId="1" nodeType="clickEffect">
                                  <p:stCondLst>
                                    <p:cond delay="0"/>
                                  </p:stCondLst>
                                  <p:childTnLst>
                                    <p:animScale>
                                      <p:cBhvr>
                                        <p:cTn id="44" dur="500" fill="hold"/>
                                        <p:tgtEl>
                                          <p:spTgt spid="332809"/>
                                        </p:tgtEl>
                                      </p:cBhvr>
                                      <p:by x="70000" y="70000"/>
                                    </p:animScale>
                                  </p:childTnLst>
                                </p:cTn>
                              </p:par>
                              <p:par>
                                <p:cTn id="45" presetID="6" presetClass="emph" presetSubtype="0" fill="hold" grpId="1" nodeType="withEffect">
                                  <p:stCondLst>
                                    <p:cond delay="0"/>
                                  </p:stCondLst>
                                  <p:childTnLst>
                                    <p:animScale>
                                      <p:cBhvr>
                                        <p:cTn id="46" dur="500" fill="hold"/>
                                        <p:tgtEl>
                                          <p:spTgt spid="332814"/>
                                        </p:tgtEl>
                                      </p:cBhvr>
                                      <p:by x="70000" y="70000"/>
                                    </p:animScale>
                                  </p:childTnLst>
                                </p:cTn>
                              </p:par>
                              <p:par>
                                <p:cTn id="47" presetID="6" presetClass="emph" presetSubtype="0" fill="hold" grpId="3" nodeType="withEffect">
                                  <p:stCondLst>
                                    <p:cond delay="0"/>
                                  </p:stCondLst>
                                  <p:childTnLst>
                                    <p:animScale>
                                      <p:cBhvr>
                                        <p:cTn id="48" dur="500" fill="hold"/>
                                        <p:tgtEl>
                                          <p:spTgt spid="332807"/>
                                        </p:tgtEl>
                                      </p:cBhvr>
                                      <p:by x="70000" y="70000"/>
                                    </p:animScale>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332803">
                                            <p:txEl>
                                              <p:pRg st="2" end="2"/>
                                            </p:txEl>
                                          </p:spTgt>
                                        </p:tgtEl>
                                        <p:attrNameLst>
                                          <p:attrName>style.visibility</p:attrName>
                                        </p:attrNameLst>
                                      </p:cBhvr>
                                      <p:to>
                                        <p:strVal val="visible"/>
                                      </p:to>
                                    </p:set>
                                    <p:animEffect transition="in" filter="checkerboard(across)">
                                      <p:cBhvr>
                                        <p:cTn id="53" dur="500"/>
                                        <p:tgtEl>
                                          <p:spTgt spid="332803">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grpId="0" nodeType="clickEffect">
                                  <p:stCondLst>
                                    <p:cond delay="0"/>
                                  </p:stCondLst>
                                  <p:childTnLst>
                                    <p:set>
                                      <p:cBhvr>
                                        <p:cTn id="57" dur="1" fill="hold">
                                          <p:stCondLst>
                                            <p:cond delay="0"/>
                                          </p:stCondLst>
                                        </p:cTn>
                                        <p:tgtEl>
                                          <p:spTgt spid="332803">
                                            <p:txEl>
                                              <p:pRg st="3" end="3"/>
                                            </p:txEl>
                                          </p:spTgt>
                                        </p:tgtEl>
                                        <p:attrNameLst>
                                          <p:attrName>style.visibility</p:attrName>
                                        </p:attrNameLst>
                                      </p:cBhvr>
                                      <p:to>
                                        <p:strVal val="visible"/>
                                      </p:to>
                                    </p:set>
                                    <p:animEffect transition="in" filter="checkerboard(across)">
                                      <p:cBhvr>
                                        <p:cTn id="58" dur="500"/>
                                        <p:tgtEl>
                                          <p:spTgt spid="332803">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grpId="0" nodeType="clickEffect">
                                  <p:stCondLst>
                                    <p:cond delay="0"/>
                                  </p:stCondLst>
                                  <p:childTnLst>
                                    <p:set>
                                      <p:cBhvr>
                                        <p:cTn id="62" dur="1" fill="hold">
                                          <p:stCondLst>
                                            <p:cond delay="0"/>
                                          </p:stCondLst>
                                        </p:cTn>
                                        <p:tgtEl>
                                          <p:spTgt spid="332803">
                                            <p:txEl>
                                              <p:pRg st="4" end="4"/>
                                            </p:txEl>
                                          </p:spTgt>
                                        </p:tgtEl>
                                        <p:attrNameLst>
                                          <p:attrName>style.visibility</p:attrName>
                                        </p:attrNameLst>
                                      </p:cBhvr>
                                      <p:to>
                                        <p:strVal val="visible"/>
                                      </p:to>
                                    </p:set>
                                    <p:animEffect transition="in" filter="checkerboard(across)">
                                      <p:cBhvr>
                                        <p:cTn id="63" dur="500"/>
                                        <p:tgtEl>
                                          <p:spTgt spid="332803">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332803">
                                            <p:txEl>
                                              <p:pRg st="5" end="5"/>
                                            </p:txEl>
                                          </p:spTgt>
                                        </p:tgtEl>
                                        <p:attrNameLst>
                                          <p:attrName>style.visibility</p:attrName>
                                        </p:attrNameLst>
                                      </p:cBhvr>
                                      <p:to>
                                        <p:strVal val="visible"/>
                                      </p:to>
                                    </p:set>
                                    <p:animEffect transition="in" filter="checkerboard(across)">
                                      <p:cBhvr>
                                        <p:cTn id="68" dur="500"/>
                                        <p:tgtEl>
                                          <p:spTgt spid="332803">
                                            <p:txEl>
                                              <p:pRg st="5" end="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5" presetClass="entr" presetSubtype="10" fill="hold" grpId="0" nodeType="clickEffect">
                                  <p:stCondLst>
                                    <p:cond delay="0"/>
                                  </p:stCondLst>
                                  <p:childTnLst>
                                    <p:set>
                                      <p:cBhvr>
                                        <p:cTn id="72" dur="1" fill="hold">
                                          <p:stCondLst>
                                            <p:cond delay="0"/>
                                          </p:stCondLst>
                                        </p:cTn>
                                        <p:tgtEl>
                                          <p:spTgt spid="332803">
                                            <p:txEl>
                                              <p:pRg st="6" end="6"/>
                                            </p:txEl>
                                          </p:spTgt>
                                        </p:tgtEl>
                                        <p:attrNameLst>
                                          <p:attrName>style.visibility</p:attrName>
                                        </p:attrNameLst>
                                      </p:cBhvr>
                                      <p:to>
                                        <p:strVal val="visible"/>
                                      </p:to>
                                    </p:set>
                                    <p:animEffect transition="in" filter="checkerboard(across)">
                                      <p:cBhvr>
                                        <p:cTn id="73" dur="500"/>
                                        <p:tgtEl>
                                          <p:spTgt spid="332803">
                                            <p:txEl>
                                              <p:pRg st="6" end="6"/>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32804"/>
                                        </p:tgtEl>
                                        <p:attrNameLst>
                                          <p:attrName>style.visibility</p:attrName>
                                        </p:attrNameLst>
                                      </p:cBhvr>
                                      <p:to>
                                        <p:strVal val="visible"/>
                                      </p:to>
                                    </p:set>
                                    <p:animEffect transition="in" filter="fade">
                                      <p:cBhvr>
                                        <p:cTn id="78" dur="500"/>
                                        <p:tgtEl>
                                          <p:spTgt spid="332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build="p"/>
      <p:bldP spid="332804" grpId="0" animBg="1"/>
      <p:bldP spid="332807" grpId="0" animBg="1"/>
      <p:bldP spid="332807" grpId="1" animBg="1"/>
      <p:bldP spid="332807" grpId="2" animBg="1"/>
      <p:bldP spid="332807" grpId="3" animBg="1"/>
      <p:bldP spid="332808" grpId="0" animBg="1"/>
      <p:bldP spid="332808" grpId="1" animBg="1"/>
      <p:bldP spid="332809" grpId="0" animBg="1"/>
      <p:bldP spid="332809" grpId="1" animBg="1"/>
      <p:bldP spid="332811" grpId="0" animBg="1"/>
      <p:bldP spid="332811" grpId="1" animBg="1"/>
      <p:bldP spid="332814" grpId="0" animBg="1"/>
      <p:bldP spid="332814"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665163" y="325041"/>
            <a:ext cx="8155309" cy="683419"/>
          </a:xfrm>
        </p:spPr>
        <p:txBody>
          <a:bodyPr/>
          <a:lstStyle/>
          <a:p>
            <a:r>
              <a:rPr lang="en-GB" sz="4000" dirty="0"/>
              <a:t>“Identity” matrix and “normalization”</a:t>
            </a:r>
          </a:p>
        </p:txBody>
      </p:sp>
      <p:sp>
        <p:nvSpPr>
          <p:cNvPr id="336899" name="Rectangle 3"/>
          <p:cNvSpPr>
            <a:spLocks noGrp="1" noChangeArrowheads="1"/>
          </p:cNvSpPr>
          <p:nvPr>
            <p:ph type="body" idx="1"/>
          </p:nvPr>
        </p:nvSpPr>
        <p:spPr>
          <a:xfrm>
            <a:off x="560389" y="1203599"/>
            <a:ext cx="8396287" cy="3294584"/>
          </a:xfrm>
        </p:spPr>
        <p:txBody>
          <a:bodyPr>
            <a:noAutofit/>
          </a:bodyPr>
          <a:lstStyle/>
          <a:p>
            <a:pPr>
              <a:lnSpc>
                <a:spcPct val="90000"/>
              </a:lnSpc>
            </a:pPr>
            <a:r>
              <a:rPr lang="en-GB" sz="2000" dirty="0"/>
              <a:t>An “identity” matrix is a matrix where the numbers on the diagonal are 1.0 and everything else is 0.0</a:t>
            </a:r>
          </a:p>
          <a:p>
            <a:pPr lvl="1">
              <a:lnSpc>
                <a:spcPct val="90000"/>
              </a:lnSpc>
            </a:pPr>
            <a:r>
              <a:rPr lang="en-GB" sz="1800" dirty="0"/>
              <a:t>Say what? </a:t>
            </a:r>
          </a:p>
          <a:p>
            <a:pPr>
              <a:lnSpc>
                <a:spcPct val="90000"/>
              </a:lnSpc>
            </a:pPr>
            <a:r>
              <a:rPr lang="en-GB" sz="2000" dirty="0"/>
              <a:t>It’s like the number 1.0, where </a:t>
            </a:r>
            <a:r>
              <a:rPr lang="en-GB" sz="2000" i="1" dirty="0"/>
              <a:t>anything multiplied by 1.0 will be the same number</a:t>
            </a:r>
          </a:p>
          <a:p>
            <a:pPr>
              <a:lnSpc>
                <a:spcPct val="90000"/>
              </a:lnSpc>
            </a:pPr>
            <a:r>
              <a:rPr lang="en-GB" sz="2000" dirty="0"/>
              <a:t>Any matrix multiplied by an “identity” matrix will be the </a:t>
            </a:r>
            <a:r>
              <a:rPr lang="en-GB" sz="2000" i="1" u="sng" dirty="0"/>
              <a:t>same matrix</a:t>
            </a:r>
          </a:p>
          <a:p>
            <a:pPr>
              <a:lnSpc>
                <a:spcPct val="90000"/>
              </a:lnSpc>
            </a:pPr>
            <a:r>
              <a:rPr lang="en-GB" sz="2000" dirty="0"/>
              <a:t>So it’s a good thing to start with an identity matrix.</a:t>
            </a:r>
          </a:p>
          <a:p>
            <a:pPr>
              <a:lnSpc>
                <a:spcPct val="90000"/>
              </a:lnSpc>
            </a:pPr>
            <a:r>
              <a:rPr lang="en-GB" sz="2000" dirty="0"/>
              <a:t>Notice that we passed the world matrix to a DirectX “identity” function </a:t>
            </a:r>
            <a:r>
              <a:rPr lang="en-GB" sz="2000" b="1" i="1" u="sng" dirty="0"/>
              <a:t>before</a:t>
            </a:r>
            <a:r>
              <a:rPr lang="en-GB" sz="2000" dirty="0"/>
              <a:t> we first used it?</a:t>
            </a:r>
          </a:p>
          <a:p>
            <a:pPr>
              <a:lnSpc>
                <a:spcPct val="90000"/>
              </a:lnSpc>
            </a:pPr>
            <a:r>
              <a:rPr lang="en-GB" sz="2000" dirty="0"/>
              <a:t>What would the values be if we </a:t>
            </a:r>
            <a:r>
              <a:rPr lang="en-GB" sz="2000" b="1" i="1" dirty="0"/>
              <a:t>didn’t</a:t>
            </a:r>
            <a:r>
              <a:rPr lang="en-GB" sz="2000" dirty="0"/>
              <a:t>? Think about it.</a:t>
            </a:r>
          </a:p>
        </p:txBody>
      </p:sp>
      <p:sp>
        <p:nvSpPr>
          <p:cNvPr id="33690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6899">
                                            <p:txEl>
                                              <p:pRg st="0" end="0"/>
                                            </p:txEl>
                                          </p:spTgt>
                                        </p:tgtEl>
                                        <p:attrNameLst>
                                          <p:attrName>style.visibility</p:attrName>
                                        </p:attrNameLst>
                                      </p:cBhvr>
                                      <p:to>
                                        <p:strVal val="visible"/>
                                      </p:to>
                                    </p:set>
                                    <p:anim calcmode="discrete" valueType="clr">
                                      <p:cBhvr override="childStyle">
                                        <p:cTn id="7" dur="80"/>
                                        <p:tgtEl>
                                          <p:spTgt spid="33689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689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36899">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36899">
                                            <p:txEl>
                                              <p:pRg st="1" end="1"/>
                                            </p:txEl>
                                          </p:spTgt>
                                        </p:tgtEl>
                                        <p:attrNameLst>
                                          <p:attrName>style.visibility</p:attrName>
                                        </p:attrNameLst>
                                      </p:cBhvr>
                                      <p:to>
                                        <p:strVal val="visible"/>
                                      </p:to>
                                    </p:set>
                                    <p:anim calcmode="discrete" valueType="clr">
                                      <p:cBhvr override="childStyle">
                                        <p:cTn id="14" dur="80"/>
                                        <p:tgtEl>
                                          <p:spTgt spid="33689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36899">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36899">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36899">
                                            <p:txEl>
                                              <p:pRg st="2" end="2"/>
                                            </p:txEl>
                                          </p:spTgt>
                                        </p:tgtEl>
                                        <p:attrNameLst>
                                          <p:attrName>style.visibility</p:attrName>
                                        </p:attrNameLst>
                                      </p:cBhvr>
                                      <p:to>
                                        <p:strVal val="visible"/>
                                      </p:to>
                                    </p:set>
                                    <p:anim calcmode="discrete" valueType="clr">
                                      <p:cBhvr override="childStyle">
                                        <p:cTn id="21" dur="80"/>
                                        <p:tgtEl>
                                          <p:spTgt spid="33689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36899">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36899">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336899">
                                            <p:txEl>
                                              <p:pRg st="3" end="3"/>
                                            </p:txEl>
                                          </p:spTgt>
                                        </p:tgtEl>
                                        <p:attrNameLst>
                                          <p:attrName>style.visibility</p:attrName>
                                        </p:attrNameLst>
                                      </p:cBhvr>
                                      <p:to>
                                        <p:strVal val="visible"/>
                                      </p:to>
                                    </p:set>
                                    <p:anim calcmode="discrete" valueType="clr">
                                      <p:cBhvr override="childStyle">
                                        <p:cTn id="28" dur="80"/>
                                        <p:tgtEl>
                                          <p:spTgt spid="33689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36899">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336899">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336899">
                                            <p:txEl>
                                              <p:pRg st="4" end="4"/>
                                            </p:txEl>
                                          </p:spTgt>
                                        </p:tgtEl>
                                        <p:attrNameLst>
                                          <p:attrName>style.visibility</p:attrName>
                                        </p:attrNameLst>
                                      </p:cBhvr>
                                      <p:to>
                                        <p:strVal val="visible"/>
                                      </p:to>
                                    </p:set>
                                    <p:anim calcmode="discrete" valueType="clr">
                                      <p:cBhvr override="childStyle">
                                        <p:cTn id="35" dur="80"/>
                                        <p:tgtEl>
                                          <p:spTgt spid="33689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336899">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336899">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336899">
                                            <p:txEl>
                                              <p:pRg st="5" end="5"/>
                                            </p:txEl>
                                          </p:spTgt>
                                        </p:tgtEl>
                                        <p:attrNameLst>
                                          <p:attrName>style.visibility</p:attrName>
                                        </p:attrNameLst>
                                      </p:cBhvr>
                                      <p:to>
                                        <p:strVal val="visible"/>
                                      </p:to>
                                    </p:set>
                                    <p:anim calcmode="discrete" valueType="clr">
                                      <p:cBhvr override="childStyle">
                                        <p:cTn id="42" dur="80"/>
                                        <p:tgtEl>
                                          <p:spTgt spid="336899">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336899">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336899">
                                            <p:txEl>
                                              <p:pRg st="5" end="5"/>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336899">
                                            <p:txEl>
                                              <p:pRg st="6" end="6"/>
                                            </p:txEl>
                                          </p:spTgt>
                                        </p:tgtEl>
                                        <p:attrNameLst>
                                          <p:attrName>style.visibility</p:attrName>
                                        </p:attrNameLst>
                                      </p:cBhvr>
                                      <p:to>
                                        <p:strVal val="visible"/>
                                      </p:to>
                                    </p:set>
                                    <p:anim calcmode="discrete" valueType="clr">
                                      <p:cBhvr override="childStyle">
                                        <p:cTn id="49" dur="80"/>
                                        <p:tgtEl>
                                          <p:spTgt spid="336899">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336899">
                                            <p:txEl>
                                              <p:pRg st="6" end="6"/>
                                            </p:txEl>
                                          </p:spTgt>
                                        </p:tgtEl>
                                        <p:attrNameLst>
                                          <p:attrName>fillcolor</p:attrName>
                                        </p:attrNameLst>
                                      </p:cBhvr>
                                      <p:tavLst>
                                        <p:tav tm="0">
                                          <p:val>
                                            <p:clrVal>
                                              <a:schemeClr val="accent2"/>
                                            </p:clrVal>
                                          </p:val>
                                        </p:tav>
                                        <p:tav tm="50000">
                                          <p:val>
                                            <p:clrVal>
                                              <a:schemeClr val="hlink"/>
                                            </p:clrVal>
                                          </p:val>
                                        </p:tav>
                                      </p:tavLst>
                                    </p:anim>
                                    <p:set>
                                      <p:cBhvr>
                                        <p:cTn id="51" dur="80"/>
                                        <p:tgtEl>
                                          <p:spTgt spid="336899">
                                            <p:txEl>
                                              <p:pRg st="6" end="6"/>
                                            </p:txEl>
                                          </p:spTgt>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36900"/>
                                        </p:tgtEl>
                                        <p:attrNameLst>
                                          <p:attrName>style.visibility</p:attrName>
                                        </p:attrNameLst>
                                      </p:cBhvr>
                                      <p:to>
                                        <p:strVal val="visible"/>
                                      </p:to>
                                    </p:set>
                                    <p:animEffect transition="in" filter="fade">
                                      <p:cBhvr>
                                        <p:cTn id="56" dur="500"/>
                                        <p:tgtEl>
                                          <p:spTgt spid="336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9" grpId="0" build="p"/>
      <p:bldP spid="33690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665163" y="325041"/>
            <a:ext cx="8155309" cy="683419"/>
          </a:xfrm>
        </p:spPr>
        <p:txBody>
          <a:bodyPr/>
          <a:lstStyle/>
          <a:p>
            <a:r>
              <a:rPr lang="en-GB" sz="4000" dirty="0"/>
              <a:t>“Identity” matrix and “normalization”</a:t>
            </a:r>
          </a:p>
        </p:txBody>
      </p:sp>
      <p:sp>
        <p:nvSpPr>
          <p:cNvPr id="335875" name="Rectangle 3"/>
          <p:cNvSpPr>
            <a:spLocks noGrp="1" noChangeArrowheads="1"/>
          </p:cNvSpPr>
          <p:nvPr>
            <p:ph type="body" idx="1"/>
          </p:nvPr>
        </p:nvSpPr>
        <p:spPr>
          <a:xfrm>
            <a:off x="577850" y="1371601"/>
            <a:ext cx="8396288" cy="3126581"/>
          </a:xfrm>
        </p:spPr>
        <p:txBody>
          <a:bodyPr>
            <a:normAutofit/>
          </a:bodyPr>
          <a:lstStyle/>
          <a:p>
            <a:r>
              <a:rPr lang="en-GB" sz="2800" dirty="0"/>
              <a:t>A ‘normalized’ vector is one that “fits” into an identity matrix</a:t>
            </a:r>
          </a:p>
          <a:p>
            <a:r>
              <a:rPr lang="en-GB" sz="2800" dirty="0"/>
              <a:t>In other words, the vector is scaled so that the </a:t>
            </a:r>
            <a:r>
              <a:rPr lang="en-GB" sz="2800" b="1" i="1" u="sng" dirty="0"/>
              <a:t>length</a:t>
            </a:r>
            <a:r>
              <a:rPr lang="en-GB" sz="2800" dirty="0"/>
              <a:t> of the vector is 1.0</a:t>
            </a:r>
          </a:p>
        </p:txBody>
      </p:sp>
      <p:sp>
        <p:nvSpPr>
          <p:cNvPr id="33587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39"/>
          <p:cNvGrpSpPr>
            <a:grpSpLocks/>
          </p:cNvGrpSpPr>
          <p:nvPr/>
        </p:nvGrpSpPr>
        <p:grpSpPr bwMode="auto">
          <a:xfrm>
            <a:off x="768351" y="3180160"/>
            <a:ext cx="3209925" cy="1058465"/>
            <a:chOff x="484" y="2671"/>
            <a:chExt cx="2022" cy="889"/>
          </a:xfrm>
        </p:grpSpPr>
        <p:sp>
          <p:nvSpPr>
            <p:cNvPr id="335896" name="Line 24"/>
            <p:cNvSpPr>
              <a:spLocks noChangeShapeType="1"/>
            </p:cNvSpPr>
            <p:nvPr/>
          </p:nvSpPr>
          <p:spPr bwMode="auto">
            <a:xfrm flipV="1">
              <a:off x="586" y="2757"/>
              <a:ext cx="1819" cy="710"/>
            </a:xfrm>
            <a:prstGeom prst="line">
              <a:avLst/>
            </a:prstGeom>
            <a:noFill/>
            <a:ln w="76200">
              <a:solidFill>
                <a:srgbClr val="FF0000"/>
              </a:solidFill>
              <a:round/>
              <a:headEnd/>
              <a:tailEnd type="stealth" w="lg" len="lg"/>
            </a:ln>
            <a:effectLst/>
          </p:spPr>
          <p:txBody>
            <a:bodyPr/>
            <a:lstStyle/>
            <a:p>
              <a:endParaRPr lang="en-CA"/>
            </a:p>
          </p:txBody>
        </p:sp>
        <p:sp>
          <p:nvSpPr>
            <p:cNvPr id="335901" name="Text Box 29"/>
            <p:cNvSpPr txBox="1">
              <a:spLocks noChangeArrowheads="1"/>
            </p:cNvSpPr>
            <p:nvPr/>
          </p:nvSpPr>
          <p:spPr bwMode="auto">
            <a:xfrm>
              <a:off x="708" y="2781"/>
              <a:ext cx="1244" cy="259"/>
            </a:xfrm>
            <a:prstGeom prst="rect">
              <a:avLst/>
            </a:prstGeom>
            <a:noFill/>
            <a:ln w="9525">
              <a:noFill/>
              <a:miter lim="800000"/>
              <a:headEnd/>
              <a:tailEnd/>
            </a:ln>
            <a:effectLst/>
          </p:spPr>
          <p:txBody>
            <a:bodyPr>
              <a:spAutoFit/>
            </a:bodyPr>
            <a:lstStyle/>
            <a:p>
              <a:pPr algn="ctr">
                <a:spcBef>
                  <a:spcPct val="50000"/>
                </a:spcBef>
              </a:pPr>
              <a:r>
                <a:rPr lang="en-GB" sz="1400" b="0">
                  <a:solidFill>
                    <a:schemeClr val="tx1"/>
                  </a:solidFill>
                </a:rPr>
                <a:t>Vector length = 5.6</a:t>
              </a:r>
            </a:p>
          </p:txBody>
        </p:sp>
        <p:sp>
          <p:nvSpPr>
            <p:cNvPr id="335903" name="Oval 31"/>
            <p:cNvSpPr>
              <a:spLocks noChangeArrowheads="1"/>
            </p:cNvSpPr>
            <p:nvPr/>
          </p:nvSpPr>
          <p:spPr bwMode="auto">
            <a:xfrm>
              <a:off x="484" y="3398"/>
              <a:ext cx="163" cy="162"/>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V1</a:t>
              </a:r>
            </a:p>
          </p:txBody>
        </p:sp>
        <p:sp>
          <p:nvSpPr>
            <p:cNvPr id="335904" name="Oval 32"/>
            <p:cNvSpPr>
              <a:spLocks noChangeArrowheads="1"/>
            </p:cNvSpPr>
            <p:nvPr/>
          </p:nvSpPr>
          <p:spPr bwMode="auto">
            <a:xfrm>
              <a:off x="2343" y="2671"/>
              <a:ext cx="163" cy="162"/>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V2</a:t>
              </a:r>
            </a:p>
          </p:txBody>
        </p:sp>
      </p:grpSp>
      <p:grpSp>
        <p:nvGrpSpPr>
          <p:cNvPr id="3" name="Group 40"/>
          <p:cNvGrpSpPr>
            <a:grpSpLocks/>
          </p:cNvGrpSpPr>
          <p:nvPr/>
        </p:nvGrpSpPr>
        <p:grpSpPr bwMode="auto">
          <a:xfrm>
            <a:off x="5086351" y="3492103"/>
            <a:ext cx="2036763" cy="657225"/>
            <a:chOff x="3204" y="2933"/>
            <a:chExt cx="1283" cy="552"/>
          </a:xfrm>
        </p:grpSpPr>
        <p:sp>
          <p:nvSpPr>
            <p:cNvPr id="335900" name="Line 28"/>
            <p:cNvSpPr>
              <a:spLocks noChangeShapeType="1"/>
            </p:cNvSpPr>
            <p:nvPr/>
          </p:nvSpPr>
          <p:spPr bwMode="auto">
            <a:xfrm flipV="1">
              <a:off x="3855" y="3185"/>
              <a:ext cx="538" cy="210"/>
            </a:xfrm>
            <a:prstGeom prst="line">
              <a:avLst/>
            </a:prstGeom>
            <a:noFill/>
            <a:ln w="76200">
              <a:solidFill>
                <a:srgbClr val="FF0000"/>
              </a:solidFill>
              <a:round/>
              <a:headEnd/>
              <a:tailEnd type="stealth" w="lg" len="lg"/>
            </a:ln>
            <a:effectLst/>
          </p:spPr>
          <p:txBody>
            <a:bodyPr/>
            <a:lstStyle/>
            <a:p>
              <a:endParaRPr lang="en-CA"/>
            </a:p>
          </p:txBody>
        </p:sp>
        <p:sp>
          <p:nvSpPr>
            <p:cNvPr id="335902" name="Text Box 30"/>
            <p:cNvSpPr txBox="1">
              <a:spLocks noChangeArrowheads="1"/>
            </p:cNvSpPr>
            <p:nvPr/>
          </p:nvSpPr>
          <p:spPr bwMode="auto">
            <a:xfrm>
              <a:off x="3204" y="2933"/>
              <a:ext cx="1244" cy="259"/>
            </a:xfrm>
            <a:prstGeom prst="rect">
              <a:avLst/>
            </a:prstGeom>
            <a:noFill/>
            <a:ln w="9525">
              <a:noFill/>
              <a:miter lim="800000"/>
              <a:headEnd/>
              <a:tailEnd/>
            </a:ln>
            <a:effectLst/>
          </p:spPr>
          <p:txBody>
            <a:bodyPr>
              <a:spAutoFit/>
            </a:bodyPr>
            <a:lstStyle/>
            <a:p>
              <a:pPr algn="ctr">
                <a:spcBef>
                  <a:spcPct val="50000"/>
                </a:spcBef>
              </a:pPr>
              <a:r>
                <a:rPr lang="en-GB" sz="1400" b="0">
                  <a:solidFill>
                    <a:schemeClr val="tx1"/>
                  </a:solidFill>
                </a:rPr>
                <a:t>Vector length = 1</a:t>
              </a:r>
            </a:p>
          </p:txBody>
        </p:sp>
        <p:sp>
          <p:nvSpPr>
            <p:cNvPr id="335905" name="Oval 33"/>
            <p:cNvSpPr>
              <a:spLocks noChangeArrowheads="1"/>
            </p:cNvSpPr>
            <p:nvPr/>
          </p:nvSpPr>
          <p:spPr bwMode="auto">
            <a:xfrm>
              <a:off x="3738" y="3323"/>
              <a:ext cx="163" cy="162"/>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V1</a:t>
              </a:r>
            </a:p>
          </p:txBody>
        </p:sp>
        <p:sp>
          <p:nvSpPr>
            <p:cNvPr id="335906" name="Oval 34"/>
            <p:cNvSpPr>
              <a:spLocks noChangeArrowheads="1"/>
            </p:cNvSpPr>
            <p:nvPr/>
          </p:nvSpPr>
          <p:spPr bwMode="auto">
            <a:xfrm>
              <a:off x="4324" y="3095"/>
              <a:ext cx="163" cy="162"/>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V2</a:t>
              </a:r>
            </a:p>
          </p:txBody>
        </p:sp>
      </p:grpSp>
      <p:sp>
        <p:nvSpPr>
          <p:cNvPr id="335909" name="Line 37"/>
          <p:cNvSpPr>
            <a:spLocks noChangeShapeType="1"/>
          </p:cNvSpPr>
          <p:nvPr/>
        </p:nvSpPr>
        <p:spPr bwMode="auto">
          <a:xfrm flipH="1" flipV="1">
            <a:off x="3886200" y="3374231"/>
            <a:ext cx="433388" cy="1034654"/>
          </a:xfrm>
          <a:prstGeom prst="line">
            <a:avLst/>
          </a:prstGeom>
          <a:noFill/>
          <a:ln w="57150">
            <a:solidFill>
              <a:schemeClr val="tx1"/>
            </a:solidFill>
            <a:round/>
            <a:headEnd/>
            <a:tailEnd type="stealth" w="lg" len="lg"/>
          </a:ln>
          <a:effectLst/>
        </p:spPr>
        <p:txBody>
          <a:bodyPr/>
          <a:lstStyle/>
          <a:p>
            <a:endParaRPr lang="en-CA"/>
          </a:p>
        </p:txBody>
      </p:sp>
      <p:sp>
        <p:nvSpPr>
          <p:cNvPr id="335910" name="Line 38"/>
          <p:cNvSpPr>
            <a:spLocks noChangeShapeType="1"/>
          </p:cNvSpPr>
          <p:nvPr/>
        </p:nvSpPr>
        <p:spPr bwMode="auto">
          <a:xfrm flipV="1">
            <a:off x="6726238" y="3876675"/>
            <a:ext cx="309562" cy="514350"/>
          </a:xfrm>
          <a:prstGeom prst="line">
            <a:avLst/>
          </a:prstGeom>
          <a:noFill/>
          <a:ln w="57150">
            <a:solidFill>
              <a:schemeClr val="tx1"/>
            </a:solidFill>
            <a:round/>
            <a:headEnd/>
            <a:tailEnd type="stealth" w="lg" len="lg"/>
          </a:ln>
          <a:effectLst/>
        </p:spPr>
        <p:txBody>
          <a:bodyPr/>
          <a:lstStyle/>
          <a:p>
            <a:endParaRPr lang="en-CA"/>
          </a:p>
        </p:txBody>
      </p:sp>
      <p:sp>
        <p:nvSpPr>
          <p:cNvPr id="335908" name="AutoShape 36"/>
          <p:cNvSpPr>
            <a:spLocks noChangeArrowheads="1"/>
          </p:cNvSpPr>
          <p:nvPr/>
        </p:nvSpPr>
        <p:spPr bwMode="auto">
          <a:xfrm>
            <a:off x="899592" y="4587974"/>
            <a:ext cx="7271122" cy="411511"/>
          </a:xfrm>
          <a:prstGeom prst="roundRect">
            <a:avLst>
              <a:gd name="adj" fmla="val 16667"/>
            </a:avLst>
          </a:prstGeom>
          <a:solidFill>
            <a:srgbClr val="00B8FF"/>
          </a:solidFill>
          <a:ln w="9525">
            <a:solidFill>
              <a:schemeClr val="tx1"/>
            </a:solidFill>
            <a:round/>
            <a:headEnd/>
            <a:tailEnd/>
          </a:ln>
          <a:effectLst/>
        </p:spPr>
        <p:txBody>
          <a:bodyPr anchor="ctr"/>
          <a:lstStyle/>
          <a:p>
            <a:pPr algn="ctr"/>
            <a:r>
              <a:rPr lang="en-GB" b="0" dirty="0">
                <a:solidFill>
                  <a:schemeClr val="bg1"/>
                </a:solidFill>
              </a:rPr>
              <a:t>Note that this coordinate will change (be scaled) so that the length “fits”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Effect transition="in" filter="checkerboard(across)">
                                      <p:cBhvr>
                                        <p:cTn id="7" dur="500"/>
                                        <p:tgtEl>
                                          <p:spTgt spid="335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5875">
                                            <p:txEl>
                                              <p:pRg st="1" end="1"/>
                                            </p:txEl>
                                          </p:spTgt>
                                        </p:tgtEl>
                                        <p:attrNameLst>
                                          <p:attrName>style.visibility</p:attrName>
                                        </p:attrNameLst>
                                      </p:cBhvr>
                                      <p:to>
                                        <p:strVal val="visible"/>
                                      </p:to>
                                    </p:set>
                                    <p:animEffect transition="in" filter="checkerboard(across)">
                                      <p:cBhvr>
                                        <p:cTn id="12" dur="500"/>
                                        <p:tgtEl>
                                          <p:spTgt spid="3358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35908"/>
                                        </p:tgtEl>
                                        <p:attrNameLst>
                                          <p:attrName>style.visibility</p:attrName>
                                        </p:attrNameLst>
                                      </p:cBhvr>
                                      <p:to>
                                        <p:strVal val="visible"/>
                                      </p:to>
                                    </p:set>
                                    <p:animEffect transition="in" filter="checkerboard(across)">
                                      <p:cBhvr>
                                        <p:cTn id="27" dur="500"/>
                                        <p:tgtEl>
                                          <p:spTgt spid="335908"/>
                                        </p:tgtEl>
                                      </p:cBhvr>
                                    </p:animEffect>
                                  </p:childTnLst>
                                </p:cTn>
                              </p:par>
                            </p:childTnLst>
                          </p:cTn>
                        </p:par>
                        <p:par>
                          <p:cTn id="28" fill="hold">
                            <p:stCondLst>
                              <p:cond delay="500"/>
                            </p:stCondLst>
                            <p:childTnLst>
                              <p:par>
                                <p:cTn id="29" presetID="37" presetClass="entr" presetSubtype="0" fill="hold" grpId="0" nodeType="afterEffect">
                                  <p:stCondLst>
                                    <p:cond delay="0"/>
                                  </p:stCondLst>
                                  <p:childTnLst>
                                    <p:set>
                                      <p:cBhvr>
                                        <p:cTn id="30" dur="1" fill="hold">
                                          <p:stCondLst>
                                            <p:cond delay="0"/>
                                          </p:stCondLst>
                                        </p:cTn>
                                        <p:tgtEl>
                                          <p:spTgt spid="335909"/>
                                        </p:tgtEl>
                                        <p:attrNameLst>
                                          <p:attrName>style.visibility</p:attrName>
                                        </p:attrNameLst>
                                      </p:cBhvr>
                                      <p:to>
                                        <p:strVal val="visible"/>
                                      </p:to>
                                    </p:set>
                                    <p:animEffect transition="in" filter="fade">
                                      <p:cBhvr>
                                        <p:cTn id="31" dur="1000"/>
                                        <p:tgtEl>
                                          <p:spTgt spid="335909"/>
                                        </p:tgtEl>
                                      </p:cBhvr>
                                    </p:animEffect>
                                    <p:anim calcmode="lin" valueType="num">
                                      <p:cBhvr>
                                        <p:cTn id="32" dur="1000" fill="hold"/>
                                        <p:tgtEl>
                                          <p:spTgt spid="335909"/>
                                        </p:tgtEl>
                                        <p:attrNameLst>
                                          <p:attrName>ppt_x</p:attrName>
                                        </p:attrNameLst>
                                      </p:cBhvr>
                                      <p:tavLst>
                                        <p:tav tm="0">
                                          <p:val>
                                            <p:strVal val="#ppt_x"/>
                                          </p:val>
                                        </p:tav>
                                        <p:tav tm="100000">
                                          <p:val>
                                            <p:strVal val="#ppt_x"/>
                                          </p:val>
                                        </p:tav>
                                      </p:tavLst>
                                    </p:anim>
                                    <p:anim calcmode="lin" valueType="num">
                                      <p:cBhvr>
                                        <p:cTn id="33" dur="900" decel="100000" fill="hold"/>
                                        <p:tgtEl>
                                          <p:spTgt spid="335909"/>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335909"/>
                                        </p:tgtEl>
                                        <p:attrNameLst>
                                          <p:attrName>ppt_y</p:attrName>
                                        </p:attrNameLst>
                                      </p:cBhvr>
                                      <p:tavLst>
                                        <p:tav tm="0">
                                          <p:val>
                                            <p:strVal val="#ppt_y-.03"/>
                                          </p:val>
                                        </p:tav>
                                        <p:tav tm="100000">
                                          <p:val>
                                            <p:strVal val="#ppt_y"/>
                                          </p:val>
                                        </p:tav>
                                      </p:tavLst>
                                    </p:anim>
                                  </p:childTnLst>
                                </p:cTn>
                              </p:par>
                            </p:childTnLst>
                          </p:cTn>
                        </p:par>
                        <p:par>
                          <p:cTn id="35" fill="hold">
                            <p:stCondLst>
                              <p:cond delay="1500"/>
                            </p:stCondLst>
                            <p:childTnLst>
                              <p:par>
                                <p:cTn id="36" presetID="37" presetClass="entr" presetSubtype="0" fill="hold" grpId="0" nodeType="afterEffect">
                                  <p:stCondLst>
                                    <p:cond delay="0"/>
                                  </p:stCondLst>
                                  <p:childTnLst>
                                    <p:set>
                                      <p:cBhvr>
                                        <p:cTn id="37" dur="1" fill="hold">
                                          <p:stCondLst>
                                            <p:cond delay="0"/>
                                          </p:stCondLst>
                                        </p:cTn>
                                        <p:tgtEl>
                                          <p:spTgt spid="335910"/>
                                        </p:tgtEl>
                                        <p:attrNameLst>
                                          <p:attrName>style.visibility</p:attrName>
                                        </p:attrNameLst>
                                      </p:cBhvr>
                                      <p:to>
                                        <p:strVal val="visible"/>
                                      </p:to>
                                    </p:set>
                                    <p:animEffect transition="in" filter="fade">
                                      <p:cBhvr>
                                        <p:cTn id="38" dur="1000"/>
                                        <p:tgtEl>
                                          <p:spTgt spid="335910"/>
                                        </p:tgtEl>
                                      </p:cBhvr>
                                    </p:animEffect>
                                    <p:anim calcmode="lin" valueType="num">
                                      <p:cBhvr>
                                        <p:cTn id="39" dur="1000" fill="hold"/>
                                        <p:tgtEl>
                                          <p:spTgt spid="335910"/>
                                        </p:tgtEl>
                                        <p:attrNameLst>
                                          <p:attrName>ppt_x</p:attrName>
                                        </p:attrNameLst>
                                      </p:cBhvr>
                                      <p:tavLst>
                                        <p:tav tm="0">
                                          <p:val>
                                            <p:strVal val="#ppt_x"/>
                                          </p:val>
                                        </p:tav>
                                        <p:tav tm="100000">
                                          <p:val>
                                            <p:strVal val="#ppt_x"/>
                                          </p:val>
                                        </p:tav>
                                      </p:tavLst>
                                    </p:anim>
                                    <p:anim calcmode="lin" valueType="num">
                                      <p:cBhvr>
                                        <p:cTn id="40" dur="900" decel="100000" fill="hold"/>
                                        <p:tgtEl>
                                          <p:spTgt spid="335910"/>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335910"/>
                                        </p:tgtEl>
                                        <p:attrNameLst>
                                          <p:attrName>ppt_y</p:attrName>
                                        </p:attrNameLst>
                                      </p:cBhvr>
                                      <p:tavLst>
                                        <p:tav tm="0">
                                          <p:val>
                                            <p:strVal val="#ppt_y-.03"/>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35876"/>
                                        </p:tgtEl>
                                        <p:attrNameLst>
                                          <p:attrName>style.visibility</p:attrName>
                                        </p:attrNameLst>
                                      </p:cBhvr>
                                      <p:to>
                                        <p:strVal val="visible"/>
                                      </p:to>
                                    </p:set>
                                    <p:animEffect transition="in" filter="fade">
                                      <p:cBhvr>
                                        <p:cTn id="46" dur="500"/>
                                        <p:tgtEl>
                                          <p:spTgt spid="335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uild="p"/>
      <p:bldP spid="335876" grpId="0" animBg="1"/>
      <p:bldP spid="335909" grpId="0" animBg="1"/>
      <p:bldP spid="335910" grpId="0" animBg="1"/>
      <p:bldP spid="33590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http://www.gonemovies.com/WWW/Pictures/Pictures/HolmesWatsonFreeman.jpg"/>
          <p:cNvPicPr>
            <a:picLocks noChangeAspect="1" noChangeArrowheads="1"/>
          </p:cNvPicPr>
          <p:nvPr/>
        </p:nvPicPr>
        <p:blipFill>
          <a:blip r:embed="rId2" cstate="print"/>
          <a:srcRect l="21063" r="9429"/>
          <a:stretch>
            <a:fillRect/>
          </a:stretch>
        </p:blipFill>
        <p:spPr bwMode="auto">
          <a:xfrm>
            <a:off x="7092280" y="915566"/>
            <a:ext cx="1891368" cy="1530169"/>
          </a:xfrm>
          <a:prstGeom prst="rect">
            <a:avLst/>
          </a:prstGeom>
          <a:noFill/>
        </p:spPr>
      </p:pic>
      <p:sp>
        <p:nvSpPr>
          <p:cNvPr id="337922" name="Rectangle 2"/>
          <p:cNvSpPr>
            <a:spLocks noGrp="1" noChangeArrowheads="1"/>
          </p:cNvSpPr>
          <p:nvPr>
            <p:ph type="title"/>
          </p:nvPr>
        </p:nvSpPr>
        <p:spPr>
          <a:xfrm>
            <a:off x="665163" y="325041"/>
            <a:ext cx="7867277" cy="683419"/>
          </a:xfrm>
        </p:spPr>
        <p:txBody>
          <a:bodyPr/>
          <a:lstStyle/>
          <a:p>
            <a:r>
              <a:rPr lang="en-GB" sz="4000" dirty="0"/>
              <a:t>“Identity” matrix and “normalization”</a:t>
            </a:r>
          </a:p>
        </p:txBody>
      </p:sp>
      <p:sp>
        <p:nvSpPr>
          <p:cNvPr id="337923" name="Rectangle 3"/>
          <p:cNvSpPr>
            <a:spLocks noGrp="1" noChangeArrowheads="1"/>
          </p:cNvSpPr>
          <p:nvPr>
            <p:ph type="body" idx="1"/>
          </p:nvPr>
        </p:nvSpPr>
        <p:spPr>
          <a:xfrm>
            <a:off x="560389" y="1059582"/>
            <a:ext cx="8396287" cy="3672407"/>
          </a:xfrm>
        </p:spPr>
        <p:txBody>
          <a:bodyPr>
            <a:normAutofit/>
          </a:bodyPr>
          <a:lstStyle/>
          <a:p>
            <a:r>
              <a:rPr lang="en-GB" sz="2800" dirty="0"/>
              <a:t>How do you get the length of a vector?</a:t>
            </a:r>
          </a:p>
          <a:p>
            <a:pPr lvl="1"/>
            <a:endParaRPr lang="en-GB" sz="2000" b="1" baseline="30000" dirty="0"/>
          </a:p>
          <a:p>
            <a:pPr lvl="1"/>
            <a:r>
              <a:rPr lang="en-GB" sz="2000" dirty="0"/>
              <a:t>Length =    (z</a:t>
            </a:r>
            <a:r>
              <a:rPr lang="en-GB" sz="2000" baseline="-25000" dirty="0"/>
              <a:t>2</a:t>
            </a:r>
            <a:r>
              <a:rPr lang="en-GB" sz="2000" dirty="0"/>
              <a:t>-z</a:t>
            </a:r>
            <a:r>
              <a:rPr lang="en-GB" sz="2000" baseline="-25000" dirty="0"/>
              <a:t>1</a:t>
            </a:r>
            <a:r>
              <a:rPr lang="en-GB" sz="2000" dirty="0"/>
              <a:t>)</a:t>
            </a:r>
            <a:r>
              <a:rPr lang="en-GB" sz="2000" baseline="30000" dirty="0"/>
              <a:t>2</a:t>
            </a:r>
            <a:r>
              <a:rPr lang="en-GB" sz="2000" dirty="0"/>
              <a:t>+(y</a:t>
            </a:r>
            <a:r>
              <a:rPr lang="en-GB" sz="2000" baseline="-25000" dirty="0"/>
              <a:t>2</a:t>
            </a:r>
            <a:r>
              <a:rPr lang="en-GB" sz="2000" dirty="0"/>
              <a:t>-y</a:t>
            </a:r>
            <a:r>
              <a:rPr lang="en-GB" sz="2000" baseline="-25000" dirty="0"/>
              <a:t>1</a:t>
            </a:r>
            <a:r>
              <a:rPr lang="en-GB" sz="2000" dirty="0"/>
              <a:t>)</a:t>
            </a:r>
            <a:r>
              <a:rPr lang="en-GB" sz="2000" baseline="30000" dirty="0"/>
              <a:t>2</a:t>
            </a:r>
            <a:r>
              <a:rPr lang="en-GB" sz="2000" dirty="0"/>
              <a:t>+(x</a:t>
            </a:r>
            <a:r>
              <a:rPr lang="en-GB" sz="2000" baseline="-25000" dirty="0"/>
              <a:t>2</a:t>
            </a:r>
            <a:r>
              <a:rPr lang="en-GB" sz="2000" dirty="0"/>
              <a:t>-x</a:t>
            </a:r>
            <a:r>
              <a:rPr lang="en-GB" sz="2000" baseline="-25000" dirty="0"/>
              <a:t>1</a:t>
            </a:r>
            <a:r>
              <a:rPr lang="en-GB" sz="2000" dirty="0"/>
              <a:t>)</a:t>
            </a:r>
            <a:r>
              <a:rPr lang="en-GB" sz="2000" baseline="30000" dirty="0"/>
              <a:t>2</a:t>
            </a:r>
            <a:br>
              <a:rPr lang="en-GB" sz="2000" baseline="30000" dirty="0"/>
            </a:br>
            <a:endParaRPr lang="en-GB" sz="2000" baseline="30000" dirty="0"/>
          </a:p>
          <a:p>
            <a:r>
              <a:rPr lang="en-GB" sz="2000" dirty="0"/>
              <a:t>“Good gracious my dear Holmes, that looks like Pythagoras…”</a:t>
            </a:r>
          </a:p>
          <a:p>
            <a:r>
              <a:rPr lang="en-GB" sz="2400" dirty="0"/>
              <a:t>Assuming that your vector starts at 0,0,0 (which our </a:t>
            </a:r>
            <a:r>
              <a:rPr lang="en-GB" sz="2400" dirty="0" err="1"/>
              <a:t>normals</a:t>
            </a:r>
            <a:r>
              <a:rPr lang="en-GB" sz="2400" dirty="0"/>
              <a:t> do), then you divide each coordinate by the length:</a:t>
            </a:r>
          </a:p>
          <a:p>
            <a:pPr lvl="1"/>
            <a:r>
              <a:rPr lang="en-GB" sz="2000" dirty="0" err="1"/>
              <a:t>x</a:t>
            </a:r>
            <a:r>
              <a:rPr lang="en-GB" sz="2000" baseline="-25000" dirty="0" err="1"/>
              <a:t>normalized</a:t>
            </a:r>
            <a:r>
              <a:rPr lang="en-GB" sz="2000" dirty="0"/>
              <a:t> = x / length</a:t>
            </a:r>
          </a:p>
          <a:p>
            <a:pPr lvl="1"/>
            <a:r>
              <a:rPr lang="en-GB" sz="2000" dirty="0" err="1"/>
              <a:t>y</a:t>
            </a:r>
            <a:r>
              <a:rPr lang="en-GB" sz="2000" baseline="-25000" dirty="0" err="1"/>
              <a:t>normalized</a:t>
            </a:r>
            <a:r>
              <a:rPr lang="en-GB" sz="2000" dirty="0"/>
              <a:t> = y / length</a:t>
            </a:r>
          </a:p>
          <a:p>
            <a:pPr lvl="1"/>
            <a:r>
              <a:rPr lang="en-GB" sz="2000" dirty="0" err="1"/>
              <a:t>z</a:t>
            </a:r>
            <a:r>
              <a:rPr lang="en-GB" sz="2000" baseline="-25000" dirty="0" err="1"/>
              <a:t>normalized</a:t>
            </a:r>
            <a:r>
              <a:rPr lang="en-GB" sz="2000" dirty="0"/>
              <a:t> = z / length</a:t>
            </a:r>
          </a:p>
        </p:txBody>
      </p:sp>
      <p:sp>
        <p:nvSpPr>
          <p:cNvPr id="33792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37925" name="Freeform 5"/>
          <p:cNvSpPr>
            <a:spLocks/>
          </p:cNvSpPr>
          <p:nvPr/>
        </p:nvSpPr>
        <p:spPr bwMode="auto">
          <a:xfrm>
            <a:off x="2284101" y="1821180"/>
            <a:ext cx="2719948" cy="336947"/>
          </a:xfrm>
          <a:custGeom>
            <a:avLst/>
            <a:gdLst/>
            <a:ahLst/>
            <a:cxnLst>
              <a:cxn ang="0">
                <a:pos x="0" y="197"/>
              </a:cxn>
              <a:cxn ang="0">
                <a:pos x="66" y="283"/>
              </a:cxn>
              <a:cxn ang="0">
                <a:pos x="172" y="0"/>
              </a:cxn>
              <a:cxn ang="0">
                <a:pos x="2703" y="0"/>
              </a:cxn>
            </a:cxnLst>
            <a:rect l="0" t="0" r="r" b="b"/>
            <a:pathLst>
              <a:path w="2703" h="283">
                <a:moveTo>
                  <a:pt x="0" y="197"/>
                </a:moveTo>
                <a:lnTo>
                  <a:pt x="66" y="283"/>
                </a:lnTo>
                <a:lnTo>
                  <a:pt x="172" y="0"/>
                </a:lnTo>
                <a:lnTo>
                  <a:pt x="2703" y="0"/>
                </a:lnTo>
              </a:path>
            </a:pathLst>
          </a:custGeom>
          <a:noFill/>
          <a:ln w="38100">
            <a:solidFill>
              <a:schemeClr val="tx1"/>
            </a:solidFill>
            <a:round/>
            <a:headEnd/>
            <a:tailEnd/>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7923">
                                            <p:txEl>
                                              <p:pRg st="0" end="0"/>
                                            </p:txEl>
                                          </p:spTgt>
                                        </p:tgtEl>
                                        <p:attrNameLst>
                                          <p:attrName>style.visibility</p:attrName>
                                        </p:attrNameLst>
                                      </p:cBhvr>
                                      <p:to>
                                        <p:strVal val="visible"/>
                                      </p:to>
                                    </p:set>
                                    <p:anim calcmode="discrete" valueType="clr">
                                      <p:cBhvr override="childStyle">
                                        <p:cTn id="7" dur="80"/>
                                        <p:tgtEl>
                                          <p:spTgt spid="33792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792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3792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37923">
                                            <p:txEl>
                                              <p:pRg st="2" end="2"/>
                                            </p:txEl>
                                          </p:spTgt>
                                        </p:tgtEl>
                                        <p:attrNameLst>
                                          <p:attrName>style.visibility</p:attrName>
                                        </p:attrNameLst>
                                      </p:cBhvr>
                                      <p:to>
                                        <p:strVal val="visible"/>
                                      </p:to>
                                    </p:set>
                                    <p:anim calcmode="discrete" valueType="clr">
                                      <p:cBhvr override="childStyle">
                                        <p:cTn id="14" dur="80"/>
                                        <p:tgtEl>
                                          <p:spTgt spid="33792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37923">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337923">
                                            <p:txEl>
                                              <p:pRg st="2" end="2"/>
                                            </p:txEl>
                                          </p:spTgt>
                                        </p:tgtEl>
                                        <p:attrNameLst>
                                          <p:attrName>fill.type</p:attrName>
                                        </p:attrNameLst>
                                      </p:cBhvr>
                                      <p:to>
                                        <p:strVal val="solid"/>
                                      </p:to>
                                    </p:set>
                                  </p:childTnLst>
                                </p:cTn>
                              </p:par>
                              <p:par>
                                <p:cTn id="17" presetID="5" presetClass="entr" presetSubtype="10" fill="hold" grpId="0" nodeType="withEffect">
                                  <p:stCondLst>
                                    <p:cond delay="0"/>
                                  </p:stCondLst>
                                  <p:childTnLst>
                                    <p:set>
                                      <p:cBhvr>
                                        <p:cTn id="18" dur="1" fill="hold">
                                          <p:stCondLst>
                                            <p:cond delay="0"/>
                                          </p:stCondLst>
                                        </p:cTn>
                                        <p:tgtEl>
                                          <p:spTgt spid="337925"/>
                                        </p:tgtEl>
                                        <p:attrNameLst>
                                          <p:attrName>style.visibility</p:attrName>
                                        </p:attrNameLst>
                                      </p:cBhvr>
                                      <p:to>
                                        <p:strVal val="visible"/>
                                      </p:to>
                                    </p:set>
                                    <p:animEffect transition="in" filter="checkerboard(across)">
                                      <p:cBhvr>
                                        <p:cTn id="19" dur="500"/>
                                        <p:tgtEl>
                                          <p:spTgt spid="337925"/>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337923">
                                            <p:txEl>
                                              <p:pRg st="3" end="3"/>
                                            </p:txEl>
                                          </p:spTgt>
                                        </p:tgtEl>
                                        <p:attrNameLst>
                                          <p:attrName>style.visibility</p:attrName>
                                        </p:attrNameLst>
                                      </p:cBhvr>
                                      <p:to>
                                        <p:strVal val="visible"/>
                                      </p:to>
                                    </p:set>
                                    <p:anim calcmode="discrete" valueType="clr">
                                      <p:cBhvr override="childStyle">
                                        <p:cTn id="24" dur="80"/>
                                        <p:tgtEl>
                                          <p:spTgt spid="33792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337923">
                                            <p:txEl>
                                              <p:pRg st="3" end="3"/>
                                            </p:txEl>
                                          </p:spTgt>
                                        </p:tgtEl>
                                        <p:attrNameLst>
                                          <p:attrName>fillcolor</p:attrName>
                                        </p:attrNameLst>
                                      </p:cBhvr>
                                      <p:tavLst>
                                        <p:tav tm="0">
                                          <p:val>
                                            <p:clrVal>
                                              <a:schemeClr val="accent2"/>
                                            </p:clrVal>
                                          </p:val>
                                        </p:tav>
                                        <p:tav tm="50000">
                                          <p:val>
                                            <p:clrVal>
                                              <a:schemeClr val="hlink"/>
                                            </p:clrVal>
                                          </p:val>
                                        </p:tav>
                                      </p:tavLst>
                                    </p:anim>
                                    <p:set>
                                      <p:cBhvr>
                                        <p:cTn id="26" dur="80"/>
                                        <p:tgtEl>
                                          <p:spTgt spid="337923">
                                            <p:txEl>
                                              <p:pRg st="3" end="3"/>
                                            </p:txEl>
                                          </p:spTgt>
                                        </p:tgtEl>
                                        <p:attrNameLst>
                                          <p:attrName>fill.type</p:attrName>
                                        </p:attrNameLst>
                                      </p:cBhvr>
                                      <p:to>
                                        <p:strVal val="solid"/>
                                      </p:to>
                                    </p:set>
                                  </p:childTnLst>
                                </p:cTn>
                              </p:par>
                              <p:par>
                                <p:cTn id="27" presetID="5" presetClass="entr" presetSubtype="10" fill="hold" nodeType="withEffect">
                                  <p:stCondLst>
                                    <p:cond delay="0"/>
                                  </p:stCondLst>
                                  <p:childTnLst>
                                    <p:set>
                                      <p:cBhvr>
                                        <p:cTn id="28" dur="1" fill="hold">
                                          <p:stCondLst>
                                            <p:cond delay="0"/>
                                          </p:stCondLst>
                                        </p:cTn>
                                        <p:tgtEl>
                                          <p:spTgt spid="17410"/>
                                        </p:tgtEl>
                                        <p:attrNameLst>
                                          <p:attrName>style.visibility</p:attrName>
                                        </p:attrNameLst>
                                      </p:cBhvr>
                                      <p:to>
                                        <p:strVal val="visible"/>
                                      </p:to>
                                    </p:set>
                                    <p:animEffect transition="in" filter="checkerboard(across)">
                                      <p:cBhvr>
                                        <p:cTn id="29" dur="500"/>
                                        <p:tgtEl>
                                          <p:spTgt spid="17410"/>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grpId="0" nodeType="clickEffect">
                                  <p:stCondLst>
                                    <p:cond delay="0"/>
                                  </p:stCondLst>
                                  <p:iterate type="lt">
                                    <p:tmPct val="50000"/>
                                  </p:iterate>
                                  <p:childTnLst>
                                    <p:set>
                                      <p:cBhvr>
                                        <p:cTn id="33" dur="1" fill="hold">
                                          <p:stCondLst>
                                            <p:cond delay="0"/>
                                          </p:stCondLst>
                                        </p:cTn>
                                        <p:tgtEl>
                                          <p:spTgt spid="337923">
                                            <p:txEl>
                                              <p:pRg st="4" end="4"/>
                                            </p:txEl>
                                          </p:spTgt>
                                        </p:tgtEl>
                                        <p:attrNameLst>
                                          <p:attrName>style.visibility</p:attrName>
                                        </p:attrNameLst>
                                      </p:cBhvr>
                                      <p:to>
                                        <p:strVal val="visible"/>
                                      </p:to>
                                    </p:set>
                                    <p:anim calcmode="discrete" valueType="clr">
                                      <p:cBhvr override="childStyle">
                                        <p:cTn id="34" dur="80"/>
                                        <p:tgtEl>
                                          <p:spTgt spid="33792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337923">
                                            <p:txEl>
                                              <p:pRg st="4" end="4"/>
                                            </p:txEl>
                                          </p:spTgt>
                                        </p:tgtEl>
                                        <p:attrNameLst>
                                          <p:attrName>fillcolor</p:attrName>
                                        </p:attrNameLst>
                                      </p:cBhvr>
                                      <p:tavLst>
                                        <p:tav tm="0">
                                          <p:val>
                                            <p:clrVal>
                                              <a:schemeClr val="accent2"/>
                                            </p:clrVal>
                                          </p:val>
                                        </p:tav>
                                        <p:tav tm="50000">
                                          <p:val>
                                            <p:clrVal>
                                              <a:schemeClr val="hlink"/>
                                            </p:clrVal>
                                          </p:val>
                                        </p:tav>
                                      </p:tavLst>
                                    </p:anim>
                                    <p:set>
                                      <p:cBhvr>
                                        <p:cTn id="36" dur="80"/>
                                        <p:tgtEl>
                                          <p:spTgt spid="337923">
                                            <p:txEl>
                                              <p:pRg st="4" end="4"/>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337923">
                                            <p:txEl>
                                              <p:pRg st="5" end="5"/>
                                            </p:txEl>
                                          </p:spTgt>
                                        </p:tgtEl>
                                        <p:attrNameLst>
                                          <p:attrName>style.visibility</p:attrName>
                                        </p:attrNameLst>
                                      </p:cBhvr>
                                      <p:to>
                                        <p:strVal val="visible"/>
                                      </p:to>
                                    </p:set>
                                    <p:anim calcmode="discrete" valueType="clr">
                                      <p:cBhvr override="childStyle">
                                        <p:cTn id="41" dur="80"/>
                                        <p:tgtEl>
                                          <p:spTgt spid="337923">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337923">
                                            <p:txEl>
                                              <p:pRg st="5" end="5"/>
                                            </p:txEl>
                                          </p:spTgt>
                                        </p:tgtEl>
                                        <p:attrNameLst>
                                          <p:attrName>fillcolor</p:attrName>
                                        </p:attrNameLst>
                                      </p:cBhvr>
                                      <p:tavLst>
                                        <p:tav tm="0">
                                          <p:val>
                                            <p:clrVal>
                                              <a:schemeClr val="accent2"/>
                                            </p:clrVal>
                                          </p:val>
                                        </p:tav>
                                        <p:tav tm="50000">
                                          <p:val>
                                            <p:clrVal>
                                              <a:schemeClr val="hlink"/>
                                            </p:clrVal>
                                          </p:val>
                                        </p:tav>
                                      </p:tavLst>
                                    </p:anim>
                                    <p:set>
                                      <p:cBhvr>
                                        <p:cTn id="43" dur="80"/>
                                        <p:tgtEl>
                                          <p:spTgt spid="337923">
                                            <p:txEl>
                                              <p:pRg st="5" end="5"/>
                                            </p:txEl>
                                          </p:spTgt>
                                        </p:tgtEl>
                                        <p:attrNameLst>
                                          <p:attrName>fill.type</p:attrName>
                                        </p:attrNameLst>
                                      </p:cBhvr>
                                      <p:to>
                                        <p:strVal val="solid"/>
                                      </p:to>
                                    </p:set>
                                  </p:childTnLst>
                                </p:cTn>
                              </p:par>
                              <p:par>
                                <p:cTn id="44" presetID="27" presetClass="entr" presetSubtype="0" fill="hold" grpId="0" nodeType="withEffect">
                                  <p:stCondLst>
                                    <p:cond delay="0"/>
                                  </p:stCondLst>
                                  <p:iterate type="lt">
                                    <p:tmPct val="50000"/>
                                  </p:iterate>
                                  <p:childTnLst>
                                    <p:set>
                                      <p:cBhvr>
                                        <p:cTn id="45" dur="1" fill="hold">
                                          <p:stCondLst>
                                            <p:cond delay="0"/>
                                          </p:stCondLst>
                                        </p:cTn>
                                        <p:tgtEl>
                                          <p:spTgt spid="337923">
                                            <p:txEl>
                                              <p:pRg st="6" end="6"/>
                                            </p:txEl>
                                          </p:spTgt>
                                        </p:tgtEl>
                                        <p:attrNameLst>
                                          <p:attrName>style.visibility</p:attrName>
                                        </p:attrNameLst>
                                      </p:cBhvr>
                                      <p:to>
                                        <p:strVal val="visible"/>
                                      </p:to>
                                    </p:set>
                                    <p:anim calcmode="discrete" valueType="clr">
                                      <p:cBhvr override="childStyle">
                                        <p:cTn id="46" dur="80"/>
                                        <p:tgtEl>
                                          <p:spTgt spid="337923">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337923">
                                            <p:txEl>
                                              <p:pRg st="6" end="6"/>
                                            </p:txEl>
                                          </p:spTgt>
                                        </p:tgtEl>
                                        <p:attrNameLst>
                                          <p:attrName>fillcolor</p:attrName>
                                        </p:attrNameLst>
                                      </p:cBhvr>
                                      <p:tavLst>
                                        <p:tav tm="0">
                                          <p:val>
                                            <p:clrVal>
                                              <a:schemeClr val="accent2"/>
                                            </p:clrVal>
                                          </p:val>
                                        </p:tav>
                                        <p:tav tm="50000">
                                          <p:val>
                                            <p:clrVal>
                                              <a:schemeClr val="hlink"/>
                                            </p:clrVal>
                                          </p:val>
                                        </p:tav>
                                      </p:tavLst>
                                    </p:anim>
                                    <p:set>
                                      <p:cBhvr>
                                        <p:cTn id="48" dur="80"/>
                                        <p:tgtEl>
                                          <p:spTgt spid="337923">
                                            <p:txEl>
                                              <p:pRg st="6" end="6"/>
                                            </p:txEl>
                                          </p:spTgt>
                                        </p:tgtEl>
                                        <p:attrNameLst>
                                          <p:attrName>fill.type</p:attrName>
                                        </p:attrNameLst>
                                      </p:cBhvr>
                                      <p:to>
                                        <p:strVal val="solid"/>
                                      </p:to>
                                    </p:set>
                                  </p:childTnLst>
                                </p:cTn>
                              </p:par>
                              <p:par>
                                <p:cTn id="49" presetID="27" presetClass="entr" presetSubtype="0" fill="hold" grpId="0" nodeType="withEffect">
                                  <p:stCondLst>
                                    <p:cond delay="0"/>
                                  </p:stCondLst>
                                  <p:iterate type="lt">
                                    <p:tmPct val="50000"/>
                                  </p:iterate>
                                  <p:childTnLst>
                                    <p:set>
                                      <p:cBhvr>
                                        <p:cTn id="50" dur="1" fill="hold">
                                          <p:stCondLst>
                                            <p:cond delay="0"/>
                                          </p:stCondLst>
                                        </p:cTn>
                                        <p:tgtEl>
                                          <p:spTgt spid="337923">
                                            <p:txEl>
                                              <p:pRg st="7" end="7"/>
                                            </p:txEl>
                                          </p:spTgt>
                                        </p:tgtEl>
                                        <p:attrNameLst>
                                          <p:attrName>style.visibility</p:attrName>
                                        </p:attrNameLst>
                                      </p:cBhvr>
                                      <p:to>
                                        <p:strVal val="visible"/>
                                      </p:to>
                                    </p:set>
                                    <p:anim calcmode="discrete" valueType="clr">
                                      <p:cBhvr override="childStyle">
                                        <p:cTn id="51" dur="80"/>
                                        <p:tgtEl>
                                          <p:spTgt spid="337923">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2" dur="80"/>
                                        <p:tgtEl>
                                          <p:spTgt spid="337923">
                                            <p:txEl>
                                              <p:pRg st="7" end="7"/>
                                            </p:txEl>
                                          </p:spTgt>
                                        </p:tgtEl>
                                        <p:attrNameLst>
                                          <p:attrName>fillcolor</p:attrName>
                                        </p:attrNameLst>
                                      </p:cBhvr>
                                      <p:tavLst>
                                        <p:tav tm="0">
                                          <p:val>
                                            <p:clrVal>
                                              <a:schemeClr val="accent2"/>
                                            </p:clrVal>
                                          </p:val>
                                        </p:tav>
                                        <p:tav tm="50000">
                                          <p:val>
                                            <p:clrVal>
                                              <a:schemeClr val="hlink"/>
                                            </p:clrVal>
                                          </p:val>
                                        </p:tav>
                                      </p:tavLst>
                                    </p:anim>
                                    <p:set>
                                      <p:cBhvr>
                                        <p:cTn id="53" dur="80"/>
                                        <p:tgtEl>
                                          <p:spTgt spid="337923">
                                            <p:txEl>
                                              <p:pRg st="7" end="7"/>
                                            </p:txEl>
                                          </p:spTgt>
                                        </p:tgtEl>
                                        <p:attrNameLst>
                                          <p:attrName>fill.type</p:attrName>
                                        </p:attrNameLst>
                                      </p:cBhvr>
                                      <p:to>
                                        <p:strVal val="solid"/>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37924"/>
                                        </p:tgtEl>
                                        <p:attrNameLst>
                                          <p:attrName>style.visibility</p:attrName>
                                        </p:attrNameLst>
                                      </p:cBhvr>
                                      <p:to>
                                        <p:strVal val="visible"/>
                                      </p:to>
                                    </p:set>
                                    <p:animEffect transition="in" filter="fade">
                                      <p:cBhvr>
                                        <p:cTn id="58" dur="500"/>
                                        <p:tgtEl>
                                          <p:spTgt spid="337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uiExpand="1" build="p"/>
      <p:bldP spid="337924" grpId="0" animBg="1"/>
      <p:bldP spid="337925" grpId="0" uiExpan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7" name="Rectangle 3"/>
          <p:cNvSpPr>
            <a:spLocks noGrp="1" noChangeArrowheads="1"/>
          </p:cNvSpPr>
          <p:nvPr>
            <p:ph type="body" idx="1"/>
          </p:nvPr>
        </p:nvSpPr>
        <p:spPr>
          <a:xfrm>
            <a:off x="544514" y="1371600"/>
            <a:ext cx="8175625" cy="3274219"/>
          </a:xfrm>
        </p:spPr>
        <p:txBody>
          <a:bodyPr>
            <a:noAutofit/>
          </a:bodyPr>
          <a:lstStyle/>
          <a:p>
            <a:pPr>
              <a:lnSpc>
                <a:spcPct val="80000"/>
              </a:lnSpc>
            </a:pPr>
            <a:r>
              <a:rPr lang="en-GB" sz="2000" dirty="0"/>
              <a:t>There’s a teeny, </a:t>
            </a:r>
            <a:r>
              <a:rPr lang="en-GB" sz="2000" dirty="0" err="1"/>
              <a:t>weeny</a:t>
            </a:r>
            <a:r>
              <a:rPr lang="en-GB" sz="2000" dirty="0"/>
              <a:t>, little problem is that the “normal” is calculated from the </a:t>
            </a:r>
            <a:r>
              <a:rPr lang="en-GB" sz="2000" b="1" i="1" dirty="0"/>
              <a:t>face</a:t>
            </a:r>
            <a:r>
              <a:rPr lang="en-GB" sz="2000" dirty="0"/>
              <a:t> (triangle) </a:t>
            </a:r>
            <a:r>
              <a:rPr lang="en-GB" sz="2000" i="1" u="sng" dirty="0"/>
              <a:t>not</a:t>
            </a:r>
            <a:r>
              <a:rPr lang="en-GB" sz="2000" dirty="0"/>
              <a:t> the vertex, but the </a:t>
            </a:r>
            <a:r>
              <a:rPr lang="en-GB" sz="2000" i="1" dirty="0"/>
              <a:t>lighting</a:t>
            </a:r>
            <a:r>
              <a:rPr lang="en-GB" sz="2000" dirty="0"/>
              <a:t> is based on the </a:t>
            </a:r>
            <a:r>
              <a:rPr lang="en-GB" sz="2000" b="1" i="1" u="sng" dirty="0"/>
              <a:t>normal to the vertex</a:t>
            </a:r>
          </a:p>
          <a:p>
            <a:pPr>
              <a:lnSpc>
                <a:spcPct val="80000"/>
              </a:lnSpc>
            </a:pPr>
            <a:r>
              <a:rPr lang="en-GB" sz="2000" dirty="0"/>
              <a:t>Say what?  </a:t>
            </a:r>
          </a:p>
          <a:p>
            <a:pPr>
              <a:lnSpc>
                <a:spcPct val="80000"/>
              </a:lnSpc>
            </a:pPr>
            <a:r>
              <a:rPr lang="en-GB" sz="2000" dirty="0"/>
              <a:t>Well, a vertex </a:t>
            </a:r>
            <a:r>
              <a:rPr lang="en-GB" sz="2000" i="1" u="sng" dirty="0"/>
              <a:t>can’t</a:t>
            </a:r>
            <a:r>
              <a:rPr lang="en-GB" sz="2000" dirty="0"/>
              <a:t> really have a normal, </a:t>
            </a:r>
            <a:br>
              <a:rPr lang="en-GB" sz="2000" dirty="0"/>
            </a:br>
            <a:r>
              <a:rPr lang="en-GB" sz="2000" i="1" u="sng" dirty="0"/>
              <a:t>only a face (triangle) can</a:t>
            </a:r>
          </a:p>
          <a:p>
            <a:pPr>
              <a:lnSpc>
                <a:spcPct val="80000"/>
              </a:lnSpc>
            </a:pPr>
            <a:r>
              <a:rPr lang="en-GB" sz="2000" dirty="0"/>
              <a:t>What vector (line) is </a:t>
            </a:r>
            <a:r>
              <a:rPr lang="en-GB" sz="2000" u="sng" dirty="0"/>
              <a:t>perpendicular</a:t>
            </a:r>
            <a:r>
              <a:rPr lang="en-GB" sz="2000" dirty="0"/>
              <a:t> to this </a:t>
            </a:r>
            <a:r>
              <a:rPr lang="en-GB" sz="2000" u="sng" dirty="0"/>
              <a:t>point</a:t>
            </a:r>
            <a:r>
              <a:rPr lang="en-GB" sz="2000" dirty="0"/>
              <a:t>?</a:t>
            </a:r>
          </a:p>
          <a:p>
            <a:pPr>
              <a:lnSpc>
                <a:spcPct val="80000"/>
              </a:lnSpc>
            </a:pPr>
            <a:r>
              <a:rPr lang="en-GB" sz="2000" dirty="0"/>
              <a:t>Remember, it’s a </a:t>
            </a:r>
            <a:r>
              <a:rPr lang="en-GB" sz="2000" b="1" i="1" dirty="0"/>
              <a:t>point</a:t>
            </a:r>
            <a:r>
              <a:rPr lang="en-GB" sz="2000" dirty="0"/>
              <a:t>, </a:t>
            </a:r>
            <a:r>
              <a:rPr lang="en-GB" sz="2000" u="sng" dirty="0"/>
              <a:t>not</a:t>
            </a:r>
            <a:r>
              <a:rPr lang="en-GB" sz="2000" dirty="0"/>
              <a:t> a circle.</a:t>
            </a:r>
          </a:p>
          <a:p>
            <a:pPr>
              <a:lnSpc>
                <a:spcPct val="80000"/>
              </a:lnSpc>
            </a:pPr>
            <a:r>
              <a:rPr lang="en-GB" sz="2000" dirty="0"/>
              <a:t>How would you even calculate it? Does it even make any sense?</a:t>
            </a:r>
          </a:p>
        </p:txBody>
      </p:sp>
      <p:sp>
        <p:nvSpPr>
          <p:cNvPr id="328706" name="Rectangle 2"/>
          <p:cNvSpPr>
            <a:spLocks noGrp="1" noChangeArrowheads="1"/>
          </p:cNvSpPr>
          <p:nvPr>
            <p:ph type="title"/>
          </p:nvPr>
        </p:nvSpPr>
        <p:spPr/>
        <p:txBody>
          <a:bodyPr/>
          <a:lstStyle/>
          <a:p>
            <a:r>
              <a:rPr lang="en-GB"/>
              <a:t>Vertex normal</a:t>
            </a:r>
          </a:p>
        </p:txBody>
      </p:sp>
      <p:sp>
        <p:nvSpPr>
          <p:cNvPr id="32870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28709" name="Oval 5"/>
          <p:cNvSpPr>
            <a:spLocks noChangeArrowheads="1"/>
          </p:cNvSpPr>
          <p:nvPr/>
        </p:nvSpPr>
        <p:spPr bwMode="auto">
          <a:xfrm>
            <a:off x="8034339" y="2458641"/>
            <a:ext cx="161925" cy="139303"/>
          </a:xfrm>
          <a:prstGeom prst="ellipse">
            <a:avLst/>
          </a:prstGeom>
          <a:solidFill>
            <a:srgbClr val="FF0000"/>
          </a:solidFill>
          <a:ln w="9525">
            <a:solidFill>
              <a:schemeClr val="tx1"/>
            </a:solidFill>
            <a:round/>
            <a:headEnd/>
            <a:tailEnd/>
          </a:ln>
          <a:effectLst/>
        </p:spPr>
        <p:txBody>
          <a:bodyPr wrap="none" anchor="ctr"/>
          <a:lstStyle/>
          <a:p>
            <a:endParaRPr lang="en-CA"/>
          </a:p>
        </p:txBody>
      </p:sp>
      <p:sp>
        <p:nvSpPr>
          <p:cNvPr id="328711" name="Line 7"/>
          <p:cNvSpPr>
            <a:spLocks noChangeShapeType="1"/>
          </p:cNvSpPr>
          <p:nvPr/>
        </p:nvSpPr>
        <p:spPr bwMode="auto">
          <a:xfrm flipV="1">
            <a:off x="8078789" y="2662238"/>
            <a:ext cx="33337" cy="685800"/>
          </a:xfrm>
          <a:prstGeom prst="line">
            <a:avLst/>
          </a:prstGeom>
          <a:noFill/>
          <a:ln w="38100">
            <a:solidFill>
              <a:srgbClr val="FFCC00"/>
            </a:solidFill>
            <a:round/>
            <a:headEnd/>
            <a:tailEnd type="stealth" w="lg" len="lg"/>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28707">
                                            <p:txEl>
                                              <p:pRg st="0" end="0"/>
                                            </p:txEl>
                                          </p:spTgt>
                                        </p:tgtEl>
                                        <p:attrNameLst>
                                          <p:attrName>style.visibility</p:attrName>
                                        </p:attrNameLst>
                                      </p:cBhvr>
                                      <p:to>
                                        <p:strVal val="visible"/>
                                      </p:to>
                                    </p:set>
                                    <p:anim calcmode="discrete" valueType="clr">
                                      <p:cBhvr override="childStyle">
                                        <p:cTn id="7" dur="80"/>
                                        <p:tgtEl>
                                          <p:spTgt spid="32870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2870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2870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28707">
                                            <p:txEl>
                                              <p:pRg st="1" end="1"/>
                                            </p:txEl>
                                          </p:spTgt>
                                        </p:tgtEl>
                                        <p:attrNameLst>
                                          <p:attrName>style.visibility</p:attrName>
                                        </p:attrNameLst>
                                      </p:cBhvr>
                                      <p:to>
                                        <p:strVal val="visible"/>
                                      </p:to>
                                    </p:set>
                                    <p:anim calcmode="discrete" valueType="clr">
                                      <p:cBhvr override="childStyle">
                                        <p:cTn id="14" dur="80"/>
                                        <p:tgtEl>
                                          <p:spTgt spid="32870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2870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2870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28707">
                                            <p:txEl>
                                              <p:pRg st="2" end="2"/>
                                            </p:txEl>
                                          </p:spTgt>
                                        </p:tgtEl>
                                        <p:attrNameLst>
                                          <p:attrName>style.visibility</p:attrName>
                                        </p:attrNameLst>
                                      </p:cBhvr>
                                      <p:to>
                                        <p:strVal val="visible"/>
                                      </p:to>
                                    </p:set>
                                    <p:anim calcmode="discrete" valueType="clr">
                                      <p:cBhvr override="childStyle">
                                        <p:cTn id="21" dur="80"/>
                                        <p:tgtEl>
                                          <p:spTgt spid="32870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2870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2870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328707">
                                            <p:txEl>
                                              <p:pRg st="3" end="3"/>
                                            </p:txEl>
                                          </p:spTgt>
                                        </p:tgtEl>
                                        <p:attrNameLst>
                                          <p:attrName>style.visibility</p:attrName>
                                        </p:attrNameLst>
                                      </p:cBhvr>
                                      <p:to>
                                        <p:strVal val="visible"/>
                                      </p:to>
                                    </p:set>
                                    <p:anim calcmode="discrete" valueType="clr">
                                      <p:cBhvr override="childStyle">
                                        <p:cTn id="28" dur="80"/>
                                        <p:tgtEl>
                                          <p:spTgt spid="32870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28707">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328707">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grpId="0" nodeType="clickEffect">
                                  <p:stCondLst>
                                    <p:cond delay="0"/>
                                  </p:stCondLst>
                                  <p:childTnLst>
                                    <p:set>
                                      <p:cBhvr>
                                        <p:cTn id="34" dur="1" fill="hold">
                                          <p:stCondLst>
                                            <p:cond delay="0"/>
                                          </p:stCondLst>
                                        </p:cTn>
                                        <p:tgtEl>
                                          <p:spTgt spid="328709"/>
                                        </p:tgtEl>
                                        <p:attrNameLst>
                                          <p:attrName>style.visibility</p:attrName>
                                        </p:attrNameLst>
                                      </p:cBhvr>
                                      <p:to>
                                        <p:strVal val="visible"/>
                                      </p:to>
                                    </p:set>
                                    <p:anim calcmode="lin" valueType="num">
                                      <p:cBhvr>
                                        <p:cTn id="35" dur="500" fill="hold"/>
                                        <p:tgtEl>
                                          <p:spTgt spid="328709"/>
                                        </p:tgtEl>
                                        <p:attrNameLst>
                                          <p:attrName>ppt_w</p:attrName>
                                        </p:attrNameLst>
                                      </p:cBhvr>
                                      <p:tavLst>
                                        <p:tav tm="0">
                                          <p:val>
                                            <p:strVal val="4*#ppt_w"/>
                                          </p:val>
                                        </p:tav>
                                        <p:tav tm="100000">
                                          <p:val>
                                            <p:strVal val="#ppt_w"/>
                                          </p:val>
                                        </p:tav>
                                      </p:tavLst>
                                    </p:anim>
                                    <p:anim calcmode="lin" valueType="num">
                                      <p:cBhvr>
                                        <p:cTn id="36" dur="500" fill="hold"/>
                                        <p:tgtEl>
                                          <p:spTgt spid="328709"/>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328711"/>
                                        </p:tgtEl>
                                        <p:attrNameLst>
                                          <p:attrName>style.visibility</p:attrName>
                                        </p:attrNameLst>
                                      </p:cBhvr>
                                      <p:to>
                                        <p:strVal val="visible"/>
                                      </p:to>
                                    </p:set>
                                    <p:animEffect transition="in" filter="checkerboard(across)">
                                      <p:cBhvr>
                                        <p:cTn id="41" dur="500"/>
                                        <p:tgtEl>
                                          <p:spTgt spid="328711"/>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328707">
                                            <p:txEl>
                                              <p:pRg st="4" end="4"/>
                                            </p:txEl>
                                          </p:spTgt>
                                        </p:tgtEl>
                                        <p:attrNameLst>
                                          <p:attrName>style.visibility</p:attrName>
                                        </p:attrNameLst>
                                      </p:cBhvr>
                                      <p:to>
                                        <p:strVal val="visible"/>
                                      </p:to>
                                    </p:set>
                                    <p:animEffect transition="in" filter="checkerboard(across)">
                                      <p:cBhvr>
                                        <p:cTn id="46" dur="500"/>
                                        <p:tgtEl>
                                          <p:spTgt spid="328707">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328707">
                                            <p:txEl>
                                              <p:pRg st="5" end="5"/>
                                            </p:txEl>
                                          </p:spTgt>
                                        </p:tgtEl>
                                        <p:attrNameLst>
                                          <p:attrName>style.visibility</p:attrName>
                                        </p:attrNameLst>
                                      </p:cBhvr>
                                      <p:to>
                                        <p:strVal val="visible"/>
                                      </p:to>
                                    </p:set>
                                    <p:animEffect transition="in" filter="checkerboard(across)">
                                      <p:cBhvr>
                                        <p:cTn id="51" dur="500"/>
                                        <p:tgtEl>
                                          <p:spTgt spid="328707">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28708"/>
                                        </p:tgtEl>
                                        <p:attrNameLst>
                                          <p:attrName>style.visibility</p:attrName>
                                        </p:attrNameLst>
                                      </p:cBhvr>
                                      <p:to>
                                        <p:strVal val="visible"/>
                                      </p:to>
                                    </p:set>
                                    <p:animEffect transition="in" filter="fade">
                                      <p:cBhvr>
                                        <p:cTn id="56" dur="500"/>
                                        <p:tgtEl>
                                          <p:spTgt spid="328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p:bldP spid="328708" grpId="0" animBg="1"/>
      <p:bldP spid="328709" grpId="0" animBg="1"/>
      <p:bldP spid="3287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9737" name="Picture 9"/>
          <p:cNvPicPr>
            <a:picLocks noChangeAspect="1" noChangeArrowheads="1"/>
          </p:cNvPicPr>
          <p:nvPr/>
        </p:nvPicPr>
        <p:blipFill>
          <a:blip r:embed="rId2" cstate="print"/>
          <a:stretch>
            <a:fillRect/>
          </a:stretch>
        </p:blipFill>
        <p:spPr bwMode="auto">
          <a:xfrm>
            <a:off x="395536" y="195486"/>
            <a:ext cx="5196986" cy="4268582"/>
          </a:xfrm>
          <a:prstGeom prst="rect">
            <a:avLst/>
          </a:prstGeom>
          <a:noFill/>
          <a:ln>
            <a:noFill/>
          </a:ln>
        </p:spPr>
      </p:pic>
      <p:sp>
        <p:nvSpPr>
          <p:cNvPr id="329736" name="AutoShape 8"/>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pic>
        <p:nvPicPr>
          <p:cNvPr id="329742" name="Picture 14"/>
          <p:cNvPicPr>
            <a:picLocks noChangeAspect="1" noChangeArrowheads="1"/>
          </p:cNvPicPr>
          <p:nvPr/>
        </p:nvPicPr>
        <p:blipFill>
          <a:blip r:embed="rId3" cstate="print"/>
          <a:srcRect l="52387" t="15186" r="23914" b="45331"/>
          <a:stretch>
            <a:fillRect/>
          </a:stretch>
        </p:blipFill>
        <p:spPr bwMode="auto">
          <a:xfrm>
            <a:off x="5364088" y="195486"/>
            <a:ext cx="2808312" cy="3842953"/>
          </a:xfrm>
          <a:prstGeom prst="rect">
            <a:avLst/>
          </a:prstGeom>
          <a:noFill/>
          <a:ln>
            <a:noFill/>
          </a:ln>
        </p:spPr>
      </p:pic>
      <p:sp>
        <p:nvSpPr>
          <p:cNvPr id="329735" name="AutoShape 7"/>
          <p:cNvSpPr>
            <a:spLocks noChangeArrowheads="1"/>
          </p:cNvSpPr>
          <p:nvPr/>
        </p:nvSpPr>
        <p:spPr bwMode="auto">
          <a:xfrm rot="-1585644">
            <a:off x="1792183" y="3138250"/>
            <a:ext cx="4884859" cy="367904"/>
          </a:xfrm>
          <a:prstGeom prst="rightArrow">
            <a:avLst>
              <a:gd name="adj1" fmla="val 50000"/>
              <a:gd name="adj2" fmla="val 228721"/>
            </a:avLst>
          </a:prstGeom>
          <a:solidFill>
            <a:srgbClr val="00B8FF"/>
          </a:solidFill>
          <a:ln w="38100" algn="ctr">
            <a:solidFill>
              <a:srgbClr val="FF0000"/>
            </a:solidFill>
            <a:miter lim="800000"/>
            <a:headEnd/>
            <a:tailEnd/>
          </a:ln>
          <a:effectLst/>
        </p:spPr>
        <p:txBody>
          <a:bodyPr anchor="ctr"/>
          <a:lstStyle/>
          <a:p>
            <a:endParaRPr lang="en-CA"/>
          </a:p>
        </p:txBody>
      </p:sp>
      <p:sp>
        <p:nvSpPr>
          <p:cNvPr id="329734" name="AutoShape 6"/>
          <p:cNvSpPr>
            <a:spLocks noChangeArrowheads="1"/>
          </p:cNvSpPr>
          <p:nvPr/>
        </p:nvSpPr>
        <p:spPr bwMode="auto">
          <a:xfrm>
            <a:off x="185739" y="4065985"/>
            <a:ext cx="5322365" cy="889397"/>
          </a:xfrm>
          <a:prstGeom prst="roundRect">
            <a:avLst>
              <a:gd name="adj" fmla="val 16667"/>
            </a:avLst>
          </a:prstGeom>
          <a:solidFill>
            <a:srgbClr val="00B8FF"/>
          </a:solidFill>
          <a:ln w="76200">
            <a:solidFill>
              <a:srgbClr val="FF0000"/>
            </a:solidFill>
            <a:round/>
            <a:headEnd/>
            <a:tailEnd/>
          </a:ln>
          <a:effectLst/>
        </p:spPr>
        <p:txBody>
          <a:bodyPr anchor="ctr"/>
          <a:lstStyle/>
          <a:p>
            <a:pPr algn="ctr"/>
            <a:r>
              <a:rPr lang="en-GB" sz="2400" b="0" dirty="0">
                <a:solidFill>
                  <a:schemeClr val="bg1"/>
                </a:solidFill>
              </a:rPr>
              <a:t>The vertex </a:t>
            </a:r>
            <a:r>
              <a:rPr lang="en-GB" sz="2400" b="0" dirty="0" err="1">
                <a:solidFill>
                  <a:schemeClr val="bg1"/>
                </a:solidFill>
              </a:rPr>
              <a:t>normals</a:t>
            </a:r>
            <a:r>
              <a:rPr lang="en-GB" sz="2400" b="0" dirty="0">
                <a:solidFill>
                  <a:schemeClr val="bg1"/>
                </a:solidFill>
              </a:rPr>
              <a:t> are the </a:t>
            </a:r>
            <a:r>
              <a:rPr lang="en-GB" sz="2400" i="1" dirty="0">
                <a:solidFill>
                  <a:schemeClr val="bg1"/>
                </a:solidFill>
              </a:rPr>
              <a:t>average</a:t>
            </a:r>
            <a:r>
              <a:rPr lang="en-GB" sz="2400" b="0" dirty="0">
                <a:solidFill>
                  <a:schemeClr val="bg1"/>
                </a:solidFill>
              </a:rPr>
              <a:t> of </a:t>
            </a:r>
            <a:br>
              <a:rPr lang="en-GB" sz="2400" b="0" dirty="0">
                <a:solidFill>
                  <a:schemeClr val="bg1"/>
                </a:solidFill>
              </a:rPr>
            </a:br>
            <a:r>
              <a:rPr lang="en-GB" sz="2400" b="0" dirty="0">
                <a:solidFill>
                  <a:schemeClr val="bg1"/>
                </a:solidFill>
              </a:rPr>
              <a:t>all the </a:t>
            </a:r>
            <a:r>
              <a:rPr lang="en-GB" sz="2400" b="0" i="1" u="sng" dirty="0">
                <a:solidFill>
                  <a:schemeClr val="bg1"/>
                </a:solidFill>
              </a:rPr>
              <a:t>face </a:t>
            </a:r>
            <a:r>
              <a:rPr lang="en-GB" sz="2400" b="0" i="1" u="sng" dirty="0" err="1">
                <a:solidFill>
                  <a:schemeClr val="bg1"/>
                </a:solidFill>
              </a:rPr>
              <a:t>normals</a:t>
            </a:r>
            <a:r>
              <a:rPr lang="en-GB" sz="2400" b="0" i="1" u="sng" dirty="0">
                <a:solidFill>
                  <a:schemeClr val="bg1"/>
                </a:solidFill>
              </a:rPr>
              <a:t> around them</a:t>
            </a:r>
            <a:endParaRPr lang="en-GB" sz="2400" i="1" u="sng"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9742"/>
                                        </p:tgtEl>
                                        <p:attrNameLst>
                                          <p:attrName>style.visibility</p:attrName>
                                        </p:attrNameLst>
                                      </p:cBhvr>
                                      <p:to>
                                        <p:strVal val="visible"/>
                                      </p:to>
                                    </p:set>
                                    <p:anim calcmode="lin" valueType="num">
                                      <p:cBhvr>
                                        <p:cTn id="7" dur="500" fill="hold"/>
                                        <p:tgtEl>
                                          <p:spTgt spid="329742"/>
                                        </p:tgtEl>
                                        <p:attrNameLst>
                                          <p:attrName>ppt_w</p:attrName>
                                        </p:attrNameLst>
                                      </p:cBhvr>
                                      <p:tavLst>
                                        <p:tav tm="0">
                                          <p:val>
                                            <p:fltVal val="0"/>
                                          </p:val>
                                        </p:tav>
                                        <p:tav tm="100000">
                                          <p:val>
                                            <p:strVal val="#ppt_w"/>
                                          </p:val>
                                        </p:tav>
                                      </p:tavLst>
                                    </p:anim>
                                    <p:anim calcmode="lin" valueType="num">
                                      <p:cBhvr>
                                        <p:cTn id="8" dur="500" fill="hold"/>
                                        <p:tgtEl>
                                          <p:spTgt spid="32974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329734"/>
                                        </p:tgtEl>
                                        <p:attrNameLst>
                                          <p:attrName>style.visibility</p:attrName>
                                        </p:attrNameLst>
                                      </p:cBhvr>
                                      <p:to>
                                        <p:strVal val="visible"/>
                                      </p:to>
                                    </p:set>
                                    <p:animEffect transition="in" filter="checkerboard(across)">
                                      <p:cBhvr>
                                        <p:cTn id="13" dur="500"/>
                                        <p:tgtEl>
                                          <p:spTgt spid="32973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29735"/>
                                        </p:tgtEl>
                                        <p:attrNameLst>
                                          <p:attrName>style.visibility</p:attrName>
                                        </p:attrNameLst>
                                      </p:cBhvr>
                                      <p:to>
                                        <p:strVal val="visible"/>
                                      </p:to>
                                    </p:set>
                                    <p:animEffect transition="in" filter="checkerboard(across)">
                                      <p:cBhvr>
                                        <p:cTn id="16" dur="500"/>
                                        <p:tgtEl>
                                          <p:spTgt spid="3297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29736"/>
                                        </p:tgtEl>
                                        <p:attrNameLst>
                                          <p:attrName>style.visibility</p:attrName>
                                        </p:attrNameLst>
                                      </p:cBhvr>
                                      <p:to>
                                        <p:strVal val="visible"/>
                                      </p:to>
                                    </p:set>
                                    <p:animEffect transition="in" filter="fade">
                                      <p:cBhvr>
                                        <p:cTn id="21" dur="500"/>
                                        <p:tgtEl>
                                          <p:spTgt spid="329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6" grpId="0" animBg="1"/>
      <p:bldP spid="329735" grpId="0" animBg="1"/>
      <p:bldP spid="32973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683568" y="195486"/>
            <a:ext cx="7772400" cy="685800"/>
          </a:xfrm>
        </p:spPr>
        <p:txBody>
          <a:bodyPr/>
          <a:lstStyle/>
          <a:p>
            <a:r>
              <a:rPr lang="en-GB" sz="3200" dirty="0"/>
              <a:t>Normal calculation </a:t>
            </a:r>
            <a:br>
              <a:rPr lang="en-GB" sz="3200" dirty="0"/>
            </a:br>
            <a:r>
              <a:rPr lang="en-GB" sz="2800" dirty="0"/>
              <a:t>(good enough for rock-n-roll)</a:t>
            </a:r>
          </a:p>
        </p:txBody>
      </p:sp>
      <p:sp>
        <p:nvSpPr>
          <p:cNvPr id="330755" name="Rectangle 3"/>
          <p:cNvSpPr>
            <a:spLocks noGrp="1" noChangeArrowheads="1"/>
          </p:cNvSpPr>
          <p:nvPr>
            <p:ph type="body" idx="1"/>
          </p:nvPr>
        </p:nvSpPr>
        <p:spPr>
          <a:xfrm>
            <a:off x="611560" y="1419622"/>
            <a:ext cx="8088313" cy="2511772"/>
          </a:xfrm>
        </p:spPr>
        <p:txBody>
          <a:bodyPr>
            <a:noAutofit/>
          </a:bodyPr>
          <a:lstStyle/>
          <a:p>
            <a:r>
              <a:rPr lang="en-GB" sz="2000" dirty="0"/>
              <a:t>The ply model has only triangles and vertices, but we need </a:t>
            </a:r>
            <a:r>
              <a:rPr lang="en-GB" sz="2000" dirty="0" err="1"/>
              <a:t>normals</a:t>
            </a:r>
            <a:r>
              <a:rPr lang="en-GB" sz="2000" dirty="0"/>
              <a:t>. </a:t>
            </a:r>
          </a:p>
          <a:p>
            <a:r>
              <a:rPr lang="en-GB" sz="2000" dirty="0"/>
              <a:t>One simple/easy way is to go through all the faces, calculate the normal to </a:t>
            </a:r>
            <a:r>
              <a:rPr lang="en-GB" sz="2000" i="1" u="sng" dirty="0"/>
              <a:t>that face</a:t>
            </a:r>
            <a:r>
              <a:rPr lang="en-GB" sz="2000" dirty="0"/>
              <a:t>, </a:t>
            </a:r>
          </a:p>
          <a:p>
            <a:r>
              <a:rPr lang="en-GB" sz="2000" dirty="0"/>
              <a:t>and store the normal with the vertices of that face.</a:t>
            </a:r>
          </a:p>
        </p:txBody>
      </p:sp>
      <p:sp>
        <p:nvSpPr>
          <p:cNvPr id="33075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23"/>
          <p:cNvGrpSpPr>
            <a:grpSpLocks/>
          </p:cNvGrpSpPr>
          <p:nvPr/>
        </p:nvGrpSpPr>
        <p:grpSpPr bwMode="auto">
          <a:xfrm>
            <a:off x="3613150" y="3940969"/>
            <a:ext cx="2216150" cy="875110"/>
            <a:chOff x="2540" y="3145"/>
            <a:chExt cx="1396" cy="735"/>
          </a:xfrm>
        </p:grpSpPr>
        <p:sp>
          <p:nvSpPr>
            <p:cNvPr id="330757" name="AutoShape 5"/>
            <p:cNvSpPr>
              <a:spLocks noChangeArrowheads="1"/>
            </p:cNvSpPr>
            <p:nvPr/>
          </p:nvSpPr>
          <p:spPr bwMode="auto">
            <a:xfrm rot="466127">
              <a:off x="2670" y="3225"/>
              <a:ext cx="1234" cy="503"/>
            </a:xfrm>
            <a:prstGeom prst="triangle">
              <a:avLst>
                <a:gd name="adj" fmla="val 72319"/>
              </a:avLst>
            </a:prstGeom>
            <a:solidFill>
              <a:srgbClr val="00B8FF">
                <a:alpha val="55000"/>
              </a:srgbClr>
            </a:solidFill>
            <a:ln w="38100">
              <a:solidFill>
                <a:schemeClr val="tx1"/>
              </a:solidFill>
              <a:miter lim="800000"/>
              <a:headEnd/>
              <a:tailEnd/>
            </a:ln>
            <a:effectLst/>
          </p:spPr>
          <p:txBody>
            <a:bodyPr wrap="none" anchor="ctr"/>
            <a:lstStyle/>
            <a:p>
              <a:endParaRPr lang="en-CA"/>
            </a:p>
          </p:txBody>
        </p:sp>
        <p:sp>
          <p:nvSpPr>
            <p:cNvPr id="330762" name="Oval 10"/>
            <p:cNvSpPr>
              <a:spLocks noChangeArrowheads="1"/>
            </p:cNvSpPr>
            <p:nvPr/>
          </p:nvSpPr>
          <p:spPr bwMode="auto">
            <a:xfrm>
              <a:off x="2540" y="3566"/>
              <a:ext cx="152" cy="152"/>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V1</a:t>
              </a:r>
            </a:p>
          </p:txBody>
        </p:sp>
        <p:sp>
          <p:nvSpPr>
            <p:cNvPr id="330763" name="Oval 11"/>
            <p:cNvSpPr>
              <a:spLocks noChangeArrowheads="1"/>
            </p:cNvSpPr>
            <p:nvPr/>
          </p:nvSpPr>
          <p:spPr bwMode="auto">
            <a:xfrm>
              <a:off x="3511" y="3145"/>
              <a:ext cx="163" cy="162"/>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V2</a:t>
              </a:r>
            </a:p>
          </p:txBody>
        </p:sp>
        <p:sp>
          <p:nvSpPr>
            <p:cNvPr id="330764" name="Oval 12"/>
            <p:cNvSpPr>
              <a:spLocks noChangeArrowheads="1"/>
            </p:cNvSpPr>
            <p:nvPr/>
          </p:nvSpPr>
          <p:spPr bwMode="auto">
            <a:xfrm>
              <a:off x="3772" y="3716"/>
              <a:ext cx="164" cy="164"/>
            </a:xfrm>
            <a:prstGeom prst="ellipse">
              <a:avLst/>
            </a:prstGeom>
            <a:solidFill>
              <a:srgbClr val="00B8FF"/>
            </a:solidFill>
            <a:ln w="9525">
              <a:solidFill>
                <a:schemeClr val="tx1"/>
              </a:solidFill>
              <a:round/>
              <a:headEnd/>
              <a:tailEnd/>
            </a:ln>
            <a:effectLst/>
          </p:spPr>
          <p:txBody>
            <a:bodyPr wrap="none" anchor="ctr"/>
            <a:lstStyle/>
            <a:p>
              <a:pPr algn="ctr"/>
              <a:r>
                <a:rPr lang="en-GB" sz="1400" b="0">
                  <a:solidFill>
                    <a:schemeClr val="tx1"/>
                  </a:solidFill>
                </a:rPr>
                <a:t>V3</a:t>
              </a:r>
            </a:p>
          </p:txBody>
        </p:sp>
      </p:grpSp>
      <p:grpSp>
        <p:nvGrpSpPr>
          <p:cNvPr id="3" name="Group 27"/>
          <p:cNvGrpSpPr>
            <a:grpSpLocks/>
          </p:cNvGrpSpPr>
          <p:nvPr/>
        </p:nvGrpSpPr>
        <p:grpSpPr bwMode="auto">
          <a:xfrm>
            <a:off x="4254499" y="3396853"/>
            <a:ext cx="646113" cy="1033463"/>
            <a:chOff x="2944" y="2688"/>
            <a:chExt cx="407" cy="868"/>
          </a:xfrm>
        </p:grpSpPr>
        <p:sp>
          <p:nvSpPr>
            <p:cNvPr id="330773" name="Text Box 21"/>
            <p:cNvSpPr txBox="1">
              <a:spLocks noChangeArrowheads="1"/>
            </p:cNvSpPr>
            <p:nvPr/>
          </p:nvSpPr>
          <p:spPr bwMode="auto">
            <a:xfrm rot="16200000">
              <a:off x="2694" y="2938"/>
              <a:ext cx="868" cy="368"/>
            </a:xfrm>
            <a:prstGeom prst="rect">
              <a:avLst/>
            </a:prstGeom>
            <a:noFill/>
            <a:ln w="9525">
              <a:noFill/>
              <a:miter lim="800000"/>
              <a:headEnd/>
              <a:tailEnd/>
            </a:ln>
            <a:effectLst/>
          </p:spPr>
          <p:txBody>
            <a:bodyPr>
              <a:spAutoFit/>
            </a:bodyPr>
            <a:lstStyle/>
            <a:p>
              <a:pPr algn="ctr">
                <a:spcBef>
                  <a:spcPct val="50000"/>
                </a:spcBef>
              </a:pPr>
              <a:r>
                <a:rPr lang="en-GB" sz="1600" b="0" dirty="0">
                  <a:solidFill>
                    <a:schemeClr val="tx1"/>
                  </a:solidFill>
                </a:rPr>
                <a:t>Face Normal</a:t>
              </a:r>
            </a:p>
          </p:txBody>
        </p:sp>
        <p:sp>
          <p:nvSpPr>
            <p:cNvPr id="330774" name="Line 22"/>
            <p:cNvSpPr>
              <a:spLocks noChangeShapeType="1"/>
            </p:cNvSpPr>
            <p:nvPr/>
          </p:nvSpPr>
          <p:spPr bwMode="auto">
            <a:xfrm flipV="1">
              <a:off x="3351" y="2819"/>
              <a:ext cx="0" cy="737"/>
            </a:xfrm>
            <a:prstGeom prst="line">
              <a:avLst/>
            </a:prstGeom>
            <a:noFill/>
            <a:ln w="101600">
              <a:solidFill>
                <a:srgbClr val="CCFFFF"/>
              </a:solidFill>
              <a:round/>
              <a:headEnd/>
              <a:tailEnd type="stealth" w="lg" len="lg"/>
            </a:ln>
            <a:effectLst/>
          </p:spPr>
          <p:txBody>
            <a:bodyPr/>
            <a:lstStyle/>
            <a:p>
              <a:endParaRPr lang="en-CA"/>
            </a:p>
          </p:txBody>
        </p:sp>
      </p:grpSp>
      <p:sp>
        <p:nvSpPr>
          <p:cNvPr id="330776" name="Line 24"/>
          <p:cNvSpPr>
            <a:spLocks noChangeShapeType="1"/>
          </p:cNvSpPr>
          <p:nvPr/>
        </p:nvSpPr>
        <p:spPr bwMode="auto">
          <a:xfrm flipV="1">
            <a:off x="5284788" y="3180160"/>
            <a:ext cx="0" cy="877490"/>
          </a:xfrm>
          <a:prstGeom prst="line">
            <a:avLst/>
          </a:prstGeom>
          <a:noFill/>
          <a:ln w="101600">
            <a:solidFill>
              <a:srgbClr val="00FF00"/>
            </a:solidFill>
            <a:round/>
            <a:headEnd/>
            <a:tailEnd type="stealth" w="lg" len="lg"/>
          </a:ln>
          <a:effectLst/>
        </p:spPr>
        <p:txBody>
          <a:bodyPr/>
          <a:lstStyle/>
          <a:p>
            <a:endParaRPr lang="en-CA"/>
          </a:p>
        </p:txBody>
      </p:sp>
      <p:sp>
        <p:nvSpPr>
          <p:cNvPr id="330777" name="Line 25"/>
          <p:cNvSpPr>
            <a:spLocks noChangeShapeType="1"/>
          </p:cNvSpPr>
          <p:nvPr/>
        </p:nvSpPr>
        <p:spPr bwMode="auto">
          <a:xfrm flipV="1">
            <a:off x="3744913" y="3654029"/>
            <a:ext cx="0" cy="877490"/>
          </a:xfrm>
          <a:prstGeom prst="line">
            <a:avLst/>
          </a:prstGeom>
          <a:noFill/>
          <a:ln w="101600">
            <a:solidFill>
              <a:srgbClr val="00FF00"/>
            </a:solidFill>
            <a:round/>
            <a:headEnd/>
            <a:tailEnd type="stealth" w="lg" len="lg"/>
          </a:ln>
          <a:effectLst/>
        </p:spPr>
        <p:txBody>
          <a:bodyPr/>
          <a:lstStyle/>
          <a:p>
            <a:endParaRPr lang="en-CA"/>
          </a:p>
        </p:txBody>
      </p:sp>
      <p:sp>
        <p:nvSpPr>
          <p:cNvPr id="330778" name="Line 26"/>
          <p:cNvSpPr>
            <a:spLocks noChangeShapeType="1"/>
          </p:cNvSpPr>
          <p:nvPr/>
        </p:nvSpPr>
        <p:spPr bwMode="auto">
          <a:xfrm flipV="1">
            <a:off x="5716588" y="3817144"/>
            <a:ext cx="0" cy="877491"/>
          </a:xfrm>
          <a:prstGeom prst="line">
            <a:avLst/>
          </a:prstGeom>
          <a:noFill/>
          <a:ln w="101600">
            <a:solidFill>
              <a:srgbClr val="00FF00"/>
            </a:solidFill>
            <a:round/>
            <a:headEnd/>
            <a:tailEnd type="stealth" w="lg" len="lg"/>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0755">
                                            <p:txEl>
                                              <p:pRg st="0" end="0"/>
                                            </p:txEl>
                                          </p:spTgt>
                                        </p:tgtEl>
                                        <p:attrNameLst>
                                          <p:attrName>style.visibility</p:attrName>
                                        </p:attrNameLst>
                                      </p:cBhvr>
                                      <p:to>
                                        <p:strVal val="visible"/>
                                      </p:to>
                                    </p:set>
                                    <p:anim calcmode="discrete" valueType="clr">
                                      <p:cBhvr override="childStyle">
                                        <p:cTn id="7" dur="80"/>
                                        <p:tgtEl>
                                          <p:spTgt spid="33075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075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3075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30755">
                                            <p:txEl>
                                              <p:pRg st="1" end="1"/>
                                            </p:txEl>
                                          </p:spTgt>
                                        </p:tgtEl>
                                        <p:attrNameLst>
                                          <p:attrName>style.visibility</p:attrName>
                                        </p:attrNameLst>
                                      </p:cBhvr>
                                      <p:to>
                                        <p:strVal val="visible"/>
                                      </p:to>
                                    </p:set>
                                    <p:anim calcmode="discrete" valueType="clr">
                                      <p:cBhvr override="childStyle">
                                        <p:cTn id="14" dur="80"/>
                                        <p:tgtEl>
                                          <p:spTgt spid="33075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3075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30755">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30755">
                                            <p:txEl>
                                              <p:pRg st="2" end="2"/>
                                            </p:txEl>
                                          </p:spTgt>
                                        </p:tgtEl>
                                        <p:attrNameLst>
                                          <p:attrName>style.visibility</p:attrName>
                                        </p:attrNameLst>
                                      </p:cBhvr>
                                      <p:to>
                                        <p:strVal val="visible"/>
                                      </p:to>
                                    </p:set>
                                    <p:anim calcmode="discrete" valueType="clr">
                                      <p:cBhvr override="childStyle">
                                        <p:cTn id="21" dur="80"/>
                                        <p:tgtEl>
                                          <p:spTgt spid="33075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30755">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30755">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checkerboard(across)">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37"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anim calcmode="lin" valueType="num">
                                      <p:cBhvr>
                                        <p:cTn id="34" dur="1000" fill="hold"/>
                                        <p:tgtEl>
                                          <p:spTgt spid="3"/>
                                        </p:tgtEl>
                                        <p:attrNameLst>
                                          <p:attrName>ppt_x</p:attrName>
                                        </p:attrNameLst>
                                      </p:cBhvr>
                                      <p:tavLst>
                                        <p:tav tm="0">
                                          <p:val>
                                            <p:strVal val="#ppt_x"/>
                                          </p:val>
                                        </p:tav>
                                        <p:tav tm="100000">
                                          <p:val>
                                            <p:strVal val="#ppt_x"/>
                                          </p:val>
                                        </p:tav>
                                      </p:tavLst>
                                    </p:anim>
                                    <p:anim calcmode="lin" valueType="num">
                                      <p:cBhvr>
                                        <p:cTn id="35" dur="900" decel="100000" fill="hold"/>
                                        <p:tgtEl>
                                          <p:spTgt spid="3"/>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7" presetClass="entr" presetSubtype="0" fill="hold" grpId="0" nodeType="clickEffect">
                                  <p:stCondLst>
                                    <p:cond delay="0"/>
                                  </p:stCondLst>
                                  <p:childTnLst>
                                    <p:set>
                                      <p:cBhvr>
                                        <p:cTn id="40" dur="1" fill="hold">
                                          <p:stCondLst>
                                            <p:cond delay="0"/>
                                          </p:stCondLst>
                                        </p:cTn>
                                        <p:tgtEl>
                                          <p:spTgt spid="330778"/>
                                        </p:tgtEl>
                                        <p:attrNameLst>
                                          <p:attrName>style.visibility</p:attrName>
                                        </p:attrNameLst>
                                      </p:cBhvr>
                                      <p:to>
                                        <p:strVal val="visible"/>
                                      </p:to>
                                    </p:set>
                                    <p:animEffect transition="in" filter="fade">
                                      <p:cBhvr>
                                        <p:cTn id="41" dur="1000"/>
                                        <p:tgtEl>
                                          <p:spTgt spid="330778"/>
                                        </p:tgtEl>
                                      </p:cBhvr>
                                    </p:animEffect>
                                    <p:anim calcmode="lin" valueType="num">
                                      <p:cBhvr>
                                        <p:cTn id="42" dur="1000" fill="hold"/>
                                        <p:tgtEl>
                                          <p:spTgt spid="330778"/>
                                        </p:tgtEl>
                                        <p:attrNameLst>
                                          <p:attrName>ppt_x</p:attrName>
                                        </p:attrNameLst>
                                      </p:cBhvr>
                                      <p:tavLst>
                                        <p:tav tm="0">
                                          <p:val>
                                            <p:strVal val="#ppt_x"/>
                                          </p:val>
                                        </p:tav>
                                        <p:tav tm="100000">
                                          <p:val>
                                            <p:strVal val="#ppt_x"/>
                                          </p:val>
                                        </p:tav>
                                      </p:tavLst>
                                    </p:anim>
                                    <p:anim calcmode="lin" valueType="num">
                                      <p:cBhvr>
                                        <p:cTn id="43" dur="900" decel="100000" fill="hold"/>
                                        <p:tgtEl>
                                          <p:spTgt spid="330778"/>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330778"/>
                                        </p:tgtEl>
                                        <p:attrNameLst>
                                          <p:attrName>ppt_y</p:attrName>
                                        </p:attrNameLst>
                                      </p:cBhvr>
                                      <p:tavLst>
                                        <p:tav tm="0">
                                          <p:val>
                                            <p:strVal val="#ppt_y-.03"/>
                                          </p:val>
                                        </p:tav>
                                        <p:tav tm="100000">
                                          <p:val>
                                            <p:strVal val="#ppt_y"/>
                                          </p:val>
                                        </p:tav>
                                      </p:tavLst>
                                    </p:anim>
                                  </p:childTnLst>
                                </p:cTn>
                              </p:par>
                              <p:par>
                                <p:cTn id="45" presetID="37" presetClass="entr" presetSubtype="0" fill="hold" grpId="0" nodeType="withEffect">
                                  <p:stCondLst>
                                    <p:cond delay="0"/>
                                  </p:stCondLst>
                                  <p:childTnLst>
                                    <p:set>
                                      <p:cBhvr>
                                        <p:cTn id="46" dur="1" fill="hold">
                                          <p:stCondLst>
                                            <p:cond delay="0"/>
                                          </p:stCondLst>
                                        </p:cTn>
                                        <p:tgtEl>
                                          <p:spTgt spid="330776"/>
                                        </p:tgtEl>
                                        <p:attrNameLst>
                                          <p:attrName>style.visibility</p:attrName>
                                        </p:attrNameLst>
                                      </p:cBhvr>
                                      <p:to>
                                        <p:strVal val="visible"/>
                                      </p:to>
                                    </p:set>
                                    <p:animEffect transition="in" filter="fade">
                                      <p:cBhvr>
                                        <p:cTn id="47" dur="1000"/>
                                        <p:tgtEl>
                                          <p:spTgt spid="330776"/>
                                        </p:tgtEl>
                                      </p:cBhvr>
                                    </p:animEffect>
                                    <p:anim calcmode="lin" valueType="num">
                                      <p:cBhvr>
                                        <p:cTn id="48" dur="1000" fill="hold"/>
                                        <p:tgtEl>
                                          <p:spTgt spid="330776"/>
                                        </p:tgtEl>
                                        <p:attrNameLst>
                                          <p:attrName>ppt_x</p:attrName>
                                        </p:attrNameLst>
                                      </p:cBhvr>
                                      <p:tavLst>
                                        <p:tav tm="0">
                                          <p:val>
                                            <p:strVal val="#ppt_x"/>
                                          </p:val>
                                        </p:tav>
                                        <p:tav tm="100000">
                                          <p:val>
                                            <p:strVal val="#ppt_x"/>
                                          </p:val>
                                        </p:tav>
                                      </p:tavLst>
                                    </p:anim>
                                    <p:anim calcmode="lin" valueType="num">
                                      <p:cBhvr>
                                        <p:cTn id="49" dur="900" decel="100000" fill="hold"/>
                                        <p:tgtEl>
                                          <p:spTgt spid="330776"/>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330776"/>
                                        </p:tgtEl>
                                        <p:attrNameLst>
                                          <p:attrName>ppt_y</p:attrName>
                                        </p:attrNameLst>
                                      </p:cBhvr>
                                      <p:tavLst>
                                        <p:tav tm="0">
                                          <p:val>
                                            <p:strVal val="#ppt_y-.03"/>
                                          </p:val>
                                        </p:tav>
                                        <p:tav tm="100000">
                                          <p:val>
                                            <p:strVal val="#ppt_y"/>
                                          </p:val>
                                        </p:tav>
                                      </p:tavLst>
                                    </p:anim>
                                  </p:childTnLst>
                                </p:cTn>
                              </p:par>
                              <p:par>
                                <p:cTn id="51" presetID="37" presetClass="entr" presetSubtype="0" fill="hold" grpId="0" nodeType="withEffect">
                                  <p:stCondLst>
                                    <p:cond delay="0"/>
                                  </p:stCondLst>
                                  <p:childTnLst>
                                    <p:set>
                                      <p:cBhvr>
                                        <p:cTn id="52" dur="1" fill="hold">
                                          <p:stCondLst>
                                            <p:cond delay="0"/>
                                          </p:stCondLst>
                                        </p:cTn>
                                        <p:tgtEl>
                                          <p:spTgt spid="330777"/>
                                        </p:tgtEl>
                                        <p:attrNameLst>
                                          <p:attrName>style.visibility</p:attrName>
                                        </p:attrNameLst>
                                      </p:cBhvr>
                                      <p:to>
                                        <p:strVal val="visible"/>
                                      </p:to>
                                    </p:set>
                                    <p:animEffect transition="in" filter="fade">
                                      <p:cBhvr>
                                        <p:cTn id="53" dur="1000"/>
                                        <p:tgtEl>
                                          <p:spTgt spid="330777"/>
                                        </p:tgtEl>
                                      </p:cBhvr>
                                    </p:animEffect>
                                    <p:anim calcmode="lin" valueType="num">
                                      <p:cBhvr>
                                        <p:cTn id="54" dur="1000" fill="hold"/>
                                        <p:tgtEl>
                                          <p:spTgt spid="330777"/>
                                        </p:tgtEl>
                                        <p:attrNameLst>
                                          <p:attrName>ppt_x</p:attrName>
                                        </p:attrNameLst>
                                      </p:cBhvr>
                                      <p:tavLst>
                                        <p:tav tm="0">
                                          <p:val>
                                            <p:strVal val="#ppt_x"/>
                                          </p:val>
                                        </p:tav>
                                        <p:tav tm="100000">
                                          <p:val>
                                            <p:strVal val="#ppt_x"/>
                                          </p:val>
                                        </p:tav>
                                      </p:tavLst>
                                    </p:anim>
                                    <p:anim calcmode="lin" valueType="num">
                                      <p:cBhvr>
                                        <p:cTn id="55" dur="900" decel="100000" fill="hold"/>
                                        <p:tgtEl>
                                          <p:spTgt spid="330777"/>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330777"/>
                                        </p:tgtEl>
                                        <p:attrNameLst>
                                          <p:attrName>ppt_y</p:attrName>
                                        </p:attrNameLst>
                                      </p:cBhvr>
                                      <p:tavLst>
                                        <p:tav tm="0">
                                          <p:val>
                                            <p:strVal val="#ppt_y-.03"/>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30756"/>
                                        </p:tgtEl>
                                        <p:attrNameLst>
                                          <p:attrName>style.visibility</p:attrName>
                                        </p:attrNameLst>
                                      </p:cBhvr>
                                      <p:to>
                                        <p:strVal val="visible"/>
                                      </p:to>
                                    </p:set>
                                    <p:animEffect transition="in" filter="fade">
                                      <p:cBhvr>
                                        <p:cTn id="61"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build="p"/>
      <p:bldP spid="330756" grpId="0" animBg="1"/>
      <p:bldP spid="330776" grpId="0" animBg="1"/>
      <p:bldP spid="330777" grpId="0" animBg="1"/>
      <p:bldP spid="33077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827584" y="267494"/>
            <a:ext cx="7772400" cy="685800"/>
          </a:xfrm>
        </p:spPr>
        <p:txBody>
          <a:bodyPr/>
          <a:lstStyle/>
          <a:p>
            <a:r>
              <a:rPr lang="en-GB" sz="3600" dirty="0"/>
              <a:t>Normal calculation </a:t>
            </a:r>
            <a:br>
              <a:rPr lang="en-GB" sz="3600" dirty="0"/>
            </a:br>
            <a:r>
              <a:rPr lang="en-GB" sz="3200" dirty="0"/>
              <a:t>(good enough for rock-n-roll)</a:t>
            </a:r>
          </a:p>
        </p:txBody>
      </p:sp>
      <p:sp>
        <p:nvSpPr>
          <p:cNvPr id="333827" name="Rectangle 3"/>
          <p:cNvSpPr>
            <a:spLocks noGrp="1" noChangeArrowheads="1"/>
          </p:cNvSpPr>
          <p:nvPr>
            <p:ph type="body" idx="1"/>
          </p:nvPr>
        </p:nvSpPr>
        <p:spPr>
          <a:xfrm>
            <a:off x="683568" y="1635646"/>
            <a:ext cx="8088313" cy="3225403"/>
          </a:xfrm>
        </p:spPr>
        <p:txBody>
          <a:bodyPr>
            <a:normAutofit/>
          </a:bodyPr>
          <a:lstStyle/>
          <a:p>
            <a:r>
              <a:rPr lang="en-GB" sz="2800" b="1" dirty="0"/>
              <a:t>Pro:</a:t>
            </a:r>
            <a:r>
              <a:rPr lang="en-GB" sz="2800" dirty="0"/>
              <a:t> Simple. </a:t>
            </a:r>
          </a:p>
          <a:p>
            <a:r>
              <a:rPr lang="en-GB" sz="2800" b="1" dirty="0"/>
              <a:t>Con:</a:t>
            </a:r>
            <a:r>
              <a:rPr lang="en-GB" sz="2800" dirty="0"/>
              <a:t> Later normal calculations overwrite previous calculations &amp; </a:t>
            </a:r>
            <a:r>
              <a:rPr lang="en-GB" sz="2800" i="1" dirty="0"/>
              <a:t>all vertices of a face point exactly the same way</a:t>
            </a:r>
          </a:p>
          <a:p>
            <a:r>
              <a:rPr lang="en-GB" sz="2800" dirty="0"/>
              <a:t>But is that </a:t>
            </a:r>
            <a:r>
              <a:rPr lang="en-GB" sz="2800" b="1" i="1" dirty="0"/>
              <a:t>really</a:t>
            </a:r>
            <a:r>
              <a:rPr lang="en-GB" sz="2800" dirty="0"/>
              <a:t> so bad?</a:t>
            </a:r>
          </a:p>
        </p:txBody>
      </p:sp>
      <p:sp>
        <p:nvSpPr>
          <p:cNvPr id="33382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3827">
                                            <p:txEl>
                                              <p:pRg st="0" end="0"/>
                                            </p:txEl>
                                          </p:spTgt>
                                        </p:tgtEl>
                                        <p:attrNameLst>
                                          <p:attrName>style.visibility</p:attrName>
                                        </p:attrNameLst>
                                      </p:cBhvr>
                                      <p:to>
                                        <p:strVal val="visible"/>
                                      </p:to>
                                    </p:set>
                                    <p:anim calcmode="discrete" valueType="clr">
                                      <p:cBhvr override="childStyle">
                                        <p:cTn id="7" dur="80"/>
                                        <p:tgtEl>
                                          <p:spTgt spid="33382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382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3382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33827">
                                            <p:txEl>
                                              <p:pRg st="1" end="1"/>
                                            </p:txEl>
                                          </p:spTgt>
                                        </p:tgtEl>
                                        <p:attrNameLst>
                                          <p:attrName>style.visibility</p:attrName>
                                        </p:attrNameLst>
                                      </p:cBhvr>
                                      <p:to>
                                        <p:strVal val="visible"/>
                                      </p:to>
                                    </p:set>
                                    <p:anim calcmode="discrete" valueType="clr">
                                      <p:cBhvr override="childStyle">
                                        <p:cTn id="14" dur="80"/>
                                        <p:tgtEl>
                                          <p:spTgt spid="33382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3382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3382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33827">
                                            <p:txEl>
                                              <p:pRg st="2" end="2"/>
                                            </p:txEl>
                                          </p:spTgt>
                                        </p:tgtEl>
                                        <p:attrNameLst>
                                          <p:attrName>style.visibility</p:attrName>
                                        </p:attrNameLst>
                                      </p:cBhvr>
                                      <p:to>
                                        <p:strVal val="visible"/>
                                      </p:to>
                                    </p:set>
                                    <p:anim calcmode="discrete" valueType="clr">
                                      <p:cBhvr override="childStyle">
                                        <p:cTn id="21" dur="80"/>
                                        <p:tgtEl>
                                          <p:spTgt spid="33382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3382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3382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33828"/>
                                        </p:tgtEl>
                                        <p:attrNameLst>
                                          <p:attrName>style.visibility</p:attrName>
                                        </p:attrNameLst>
                                      </p:cBhvr>
                                      <p:to>
                                        <p:strVal val="visible"/>
                                      </p:to>
                                    </p:set>
                                    <p:animEffect transition="in" filter="fade">
                                      <p:cBhvr>
                                        <p:cTn id="28" dur="500"/>
                                        <p:tgtEl>
                                          <p:spTgt spid="333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build="p"/>
      <p:bldP spid="33382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4612" name="Picture 4"/>
          <p:cNvPicPr>
            <a:picLocks noChangeAspect="1" noChangeArrowheads="1"/>
          </p:cNvPicPr>
          <p:nvPr/>
        </p:nvPicPr>
        <p:blipFill>
          <a:blip r:embed="rId2" cstate="print"/>
          <a:stretch>
            <a:fillRect/>
          </a:stretch>
        </p:blipFill>
        <p:spPr bwMode="auto">
          <a:xfrm>
            <a:off x="1907704" y="195486"/>
            <a:ext cx="6264696" cy="4698522"/>
          </a:xfrm>
          <a:prstGeom prst="rect">
            <a:avLst/>
          </a:prstGeom>
          <a:noFill/>
          <a:ln>
            <a:noFill/>
          </a:ln>
        </p:spPr>
      </p:pic>
      <p:sp>
        <p:nvSpPr>
          <p:cNvPr id="324613" name="AutoShape 5"/>
          <p:cNvSpPr>
            <a:spLocks noChangeArrowheads="1"/>
          </p:cNvSpPr>
          <p:nvPr/>
        </p:nvSpPr>
        <p:spPr bwMode="auto">
          <a:xfrm>
            <a:off x="195263" y="213123"/>
            <a:ext cx="5365750" cy="611981"/>
          </a:xfrm>
          <a:prstGeom prst="roundRect">
            <a:avLst>
              <a:gd name="adj" fmla="val 16667"/>
            </a:avLst>
          </a:prstGeom>
          <a:solidFill>
            <a:srgbClr val="00B8FF"/>
          </a:solidFill>
          <a:ln w="76200">
            <a:solidFill>
              <a:srgbClr val="FF0000"/>
            </a:solidFill>
            <a:round/>
            <a:headEnd/>
            <a:tailEnd/>
          </a:ln>
          <a:effectLst/>
        </p:spPr>
        <p:txBody>
          <a:bodyPr anchor="ctr"/>
          <a:lstStyle/>
          <a:p>
            <a:pPr algn="ctr"/>
            <a:r>
              <a:rPr lang="en-GB" sz="2800" b="0">
                <a:solidFill>
                  <a:schemeClr val="bg1"/>
                </a:solidFill>
              </a:rPr>
              <a:t>That doesn’t look </a:t>
            </a:r>
            <a:r>
              <a:rPr lang="en-GB" sz="2800" i="1" u="sng">
                <a:solidFill>
                  <a:schemeClr val="bg1"/>
                </a:solidFill>
              </a:rPr>
              <a:t>too</a:t>
            </a:r>
            <a:r>
              <a:rPr lang="en-GB" sz="2800" b="0">
                <a:solidFill>
                  <a:schemeClr val="bg1"/>
                </a:solidFill>
              </a:rPr>
              <a:t> bad, does it?</a:t>
            </a:r>
            <a:endParaRPr lang="en-GB" sz="2800" i="1" u="sng">
              <a:solidFill>
                <a:schemeClr val="bg1"/>
              </a:solidFill>
            </a:endParaRPr>
          </a:p>
        </p:txBody>
      </p:sp>
      <p:sp>
        <p:nvSpPr>
          <p:cNvPr id="324614" name="AutoShape 6"/>
          <p:cNvSpPr>
            <a:spLocks noChangeArrowheads="1"/>
          </p:cNvSpPr>
          <p:nvPr/>
        </p:nvSpPr>
        <p:spPr bwMode="auto">
          <a:xfrm>
            <a:off x="1327150" y="4018360"/>
            <a:ext cx="6726238" cy="611981"/>
          </a:xfrm>
          <a:prstGeom prst="roundRect">
            <a:avLst>
              <a:gd name="adj" fmla="val 16667"/>
            </a:avLst>
          </a:prstGeom>
          <a:solidFill>
            <a:srgbClr val="00B8FF"/>
          </a:solidFill>
          <a:ln w="76200">
            <a:solidFill>
              <a:srgbClr val="FF0000"/>
            </a:solidFill>
            <a:round/>
            <a:headEnd/>
            <a:tailEnd/>
          </a:ln>
          <a:effectLst/>
        </p:spPr>
        <p:txBody>
          <a:bodyPr anchor="ctr"/>
          <a:lstStyle/>
          <a:p>
            <a:pPr algn="ctr"/>
            <a:r>
              <a:rPr lang="en-GB" b="0">
                <a:solidFill>
                  <a:schemeClr val="bg1"/>
                </a:solidFill>
              </a:rPr>
              <a:t>Notice that this model has </a:t>
            </a:r>
            <a:r>
              <a:rPr lang="en-GB">
                <a:solidFill>
                  <a:schemeClr val="bg1"/>
                </a:solidFill>
              </a:rPr>
              <a:t>specular highlighting enabled</a:t>
            </a:r>
            <a:r>
              <a:rPr lang="en-GB" b="0">
                <a:solidFill>
                  <a:schemeClr val="bg1"/>
                </a:solidFill>
              </a:rPr>
              <a:t> to accentuate the surface normals.</a:t>
            </a:r>
            <a:endParaRPr lang="en-GB" i="1" u="sng">
              <a:solidFill>
                <a:schemeClr val="bg1"/>
              </a:solidFill>
            </a:endParaRPr>
          </a:p>
        </p:txBody>
      </p:sp>
      <p:sp>
        <p:nvSpPr>
          <p:cNvPr id="324615" name="AutoShape 7"/>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4613"/>
                                        </p:tgtEl>
                                        <p:attrNameLst>
                                          <p:attrName>style.visibility</p:attrName>
                                        </p:attrNameLst>
                                      </p:cBhvr>
                                      <p:to>
                                        <p:strVal val="visible"/>
                                      </p:to>
                                    </p:set>
                                    <p:animEffect transition="in" filter="checkerboard(across)">
                                      <p:cBhvr>
                                        <p:cTn id="7" dur="500"/>
                                        <p:tgtEl>
                                          <p:spTgt spid="32461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4614"/>
                                        </p:tgtEl>
                                        <p:attrNameLst>
                                          <p:attrName>style.visibility</p:attrName>
                                        </p:attrNameLst>
                                      </p:cBhvr>
                                      <p:to>
                                        <p:strVal val="visible"/>
                                      </p:to>
                                    </p:set>
                                    <p:animEffect transition="in" filter="checkerboard(across)">
                                      <p:cBhvr>
                                        <p:cTn id="12" dur="500"/>
                                        <p:tgtEl>
                                          <p:spTgt spid="3246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4615"/>
                                        </p:tgtEl>
                                        <p:attrNameLst>
                                          <p:attrName>style.visibility</p:attrName>
                                        </p:attrNameLst>
                                      </p:cBhvr>
                                      <p:to>
                                        <p:strVal val="visible"/>
                                      </p:to>
                                    </p:set>
                                    <p:animEffect transition="in" filter="fade">
                                      <p:cBhvr>
                                        <p:cTn id="17" dur="500"/>
                                        <p:tgtEl>
                                          <p:spTgt spid="324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3" grpId="0" animBg="1"/>
      <p:bldP spid="324614" grpId="0" animBg="1"/>
      <p:bldP spid="32461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en-GB"/>
              <a:t>Vector math</a:t>
            </a:r>
            <a:endParaRPr lang="en-GB" sz="4000"/>
          </a:p>
        </p:txBody>
      </p:sp>
      <p:sp>
        <p:nvSpPr>
          <p:cNvPr id="339971" name="Rectangle 3"/>
          <p:cNvSpPr>
            <a:spLocks noGrp="1" noChangeArrowheads="1"/>
          </p:cNvSpPr>
          <p:nvPr>
            <p:ph type="body" idx="1"/>
          </p:nvPr>
        </p:nvSpPr>
        <p:spPr>
          <a:xfrm>
            <a:off x="542925" y="1356123"/>
            <a:ext cx="5238750" cy="3225403"/>
          </a:xfrm>
        </p:spPr>
        <p:txBody>
          <a:bodyPr/>
          <a:lstStyle/>
          <a:p>
            <a:r>
              <a:rPr lang="en-GB"/>
              <a:t>If you add a bunch of vectors, you get a </a:t>
            </a:r>
            <a:r>
              <a:rPr lang="en-GB" b="1"/>
              <a:t>resultant</a:t>
            </a:r>
            <a:r>
              <a:rPr lang="en-GB"/>
              <a:t> vector. </a:t>
            </a:r>
          </a:p>
        </p:txBody>
      </p:sp>
      <p:sp>
        <p:nvSpPr>
          <p:cNvPr id="33997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39973" name="Oval 5"/>
          <p:cNvSpPr>
            <a:spLocks noChangeArrowheads="1"/>
          </p:cNvSpPr>
          <p:nvPr/>
        </p:nvSpPr>
        <p:spPr bwMode="auto">
          <a:xfrm>
            <a:off x="7508876" y="4313635"/>
            <a:ext cx="168275" cy="126206"/>
          </a:xfrm>
          <a:prstGeom prst="ellipse">
            <a:avLst/>
          </a:prstGeom>
          <a:solidFill>
            <a:srgbClr val="00B8FF"/>
          </a:solidFill>
          <a:ln w="9525">
            <a:solidFill>
              <a:schemeClr val="tx1"/>
            </a:solidFill>
            <a:round/>
            <a:headEnd/>
            <a:tailEnd/>
          </a:ln>
          <a:effectLst/>
        </p:spPr>
        <p:txBody>
          <a:bodyPr wrap="none" anchor="ctr"/>
          <a:lstStyle/>
          <a:p>
            <a:endParaRPr lang="en-CA"/>
          </a:p>
        </p:txBody>
      </p:sp>
      <p:sp>
        <p:nvSpPr>
          <p:cNvPr id="339975" name="Line 7"/>
          <p:cNvSpPr>
            <a:spLocks noChangeShapeType="1"/>
          </p:cNvSpPr>
          <p:nvPr/>
        </p:nvSpPr>
        <p:spPr bwMode="auto">
          <a:xfrm flipV="1">
            <a:off x="7588251" y="3445669"/>
            <a:ext cx="785813" cy="923925"/>
          </a:xfrm>
          <a:prstGeom prst="line">
            <a:avLst/>
          </a:prstGeom>
          <a:noFill/>
          <a:ln w="76200">
            <a:solidFill>
              <a:srgbClr val="FF0000"/>
            </a:solidFill>
            <a:round/>
            <a:headEnd/>
            <a:tailEnd type="stealth" w="lg" len="lg"/>
          </a:ln>
          <a:effectLst/>
        </p:spPr>
        <p:txBody>
          <a:bodyPr/>
          <a:lstStyle/>
          <a:p>
            <a:endParaRPr lang="en-CA"/>
          </a:p>
        </p:txBody>
      </p:sp>
      <p:sp>
        <p:nvSpPr>
          <p:cNvPr id="339979" name="Line 11"/>
          <p:cNvSpPr>
            <a:spLocks noChangeShapeType="1"/>
          </p:cNvSpPr>
          <p:nvPr/>
        </p:nvSpPr>
        <p:spPr bwMode="auto">
          <a:xfrm flipH="1" flipV="1">
            <a:off x="6911975" y="3362325"/>
            <a:ext cx="674688" cy="1014413"/>
          </a:xfrm>
          <a:prstGeom prst="line">
            <a:avLst/>
          </a:prstGeom>
          <a:noFill/>
          <a:ln w="76200">
            <a:solidFill>
              <a:srgbClr val="FF0000"/>
            </a:solidFill>
            <a:round/>
            <a:headEnd/>
            <a:tailEnd type="stealth" w="lg" len="lg"/>
          </a:ln>
          <a:effectLst/>
        </p:spPr>
        <p:txBody>
          <a:bodyPr/>
          <a:lstStyle/>
          <a:p>
            <a:endParaRPr lang="en-CA"/>
          </a:p>
        </p:txBody>
      </p:sp>
      <p:sp>
        <p:nvSpPr>
          <p:cNvPr id="339980" name="Line 12"/>
          <p:cNvSpPr>
            <a:spLocks noChangeShapeType="1"/>
          </p:cNvSpPr>
          <p:nvPr/>
        </p:nvSpPr>
        <p:spPr bwMode="auto">
          <a:xfrm flipV="1">
            <a:off x="7594601" y="3313510"/>
            <a:ext cx="239713" cy="1039415"/>
          </a:xfrm>
          <a:prstGeom prst="line">
            <a:avLst/>
          </a:prstGeom>
          <a:noFill/>
          <a:ln w="76200">
            <a:solidFill>
              <a:srgbClr val="FF0000"/>
            </a:solidFill>
            <a:round/>
            <a:headEnd/>
            <a:tailEnd type="stealth" w="lg" len="lg"/>
          </a:ln>
          <a:effectLst/>
        </p:spPr>
        <p:txBody>
          <a:bodyPr/>
          <a:lstStyle/>
          <a:p>
            <a:endParaRPr lang="en-CA"/>
          </a:p>
        </p:txBody>
      </p:sp>
      <p:sp>
        <p:nvSpPr>
          <p:cNvPr id="339981" name="Line 13"/>
          <p:cNvSpPr>
            <a:spLocks noChangeShapeType="1"/>
          </p:cNvSpPr>
          <p:nvPr/>
        </p:nvSpPr>
        <p:spPr bwMode="auto">
          <a:xfrm flipH="1" flipV="1">
            <a:off x="6446838" y="4289823"/>
            <a:ext cx="1141412" cy="63103"/>
          </a:xfrm>
          <a:prstGeom prst="line">
            <a:avLst/>
          </a:prstGeom>
          <a:noFill/>
          <a:ln w="76200">
            <a:solidFill>
              <a:srgbClr val="FF0000"/>
            </a:solidFill>
            <a:round/>
            <a:headEnd/>
            <a:tailEnd type="stealth" w="lg" len="lg"/>
          </a:ln>
          <a:effectLst/>
        </p:spPr>
        <p:txBody>
          <a:bodyPr/>
          <a:lstStyle/>
          <a:p>
            <a:endParaRPr lang="en-CA"/>
          </a:p>
        </p:txBody>
      </p:sp>
      <p:sp>
        <p:nvSpPr>
          <p:cNvPr id="339982" name="Line 14"/>
          <p:cNvSpPr>
            <a:spLocks noChangeShapeType="1"/>
          </p:cNvSpPr>
          <p:nvPr/>
        </p:nvSpPr>
        <p:spPr bwMode="auto">
          <a:xfrm flipV="1">
            <a:off x="7602539" y="3577828"/>
            <a:ext cx="954087" cy="775097"/>
          </a:xfrm>
          <a:prstGeom prst="line">
            <a:avLst/>
          </a:prstGeom>
          <a:noFill/>
          <a:ln w="76200">
            <a:solidFill>
              <a:srgbClr val="FF0000"/>
            </a:solidFill>
            <a:round/>
            <a:headEnd/>
            <a:tailEnd type="stealth" w="lg" len="lg"/>
          </a:ln>
          <a:effectLst/>
        </p:spPr>
        <p:txBody>
          <a:bodyPr/>
          <a:lstStyle/>
          <a:p>
            <a:endParaRPr lang="en-CA"/>
          </a:p>
        </p:txBody>
      </p:sp>
      <p:sp>
        <p:nvSpPr>
          <p:cNvPr id="339983" name="Line 15"/>
          <p:cNvSpPr>
            <a:spLocks noChangeShapeType="1"/>
          </p:cNvSpPr>
          <p:nvPr/>
        </p:nvSpPr>
        <p:spPr bwMode="auto">
          <a:xfrm flipV="1">
            <a:off x="7594601" y="583407"/>
            <a:ext cx="168275" cy="3764756"/>
          </a:xfrm>
          <a:prstGeom prst="line">
            <a:avLst/>
          </a:prstGeom>
          <a:noFill/>
          <a:ln w="76200">
            <a:solidFill>
              <a:srgbClr val="FFFF00"/>
            </a:solidFill>
            <a:round/>
            <a:headEnd/>
            <a:tailEnd type="stealth" w="lg" len="lg"/>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9971">
                                            <p:txEl>
                                              <p:pRg st="0" end="0"/>
                                            </p:txEl>
                                          </p:spTgt>
                                        </p:tgtEl>
                                        <p:attrNameLst>
                                          <p:attrName>style.visibility</p:attrName>
                                        </p:attrNameLst>
                                      </p:cBhvr>
                                      <p:to>
                                        <p:strVal val="visible"/>
                                      </p:to>
                                    </p:set>
                                    <p:anim calcmode="discrete" valueType="clr">
                                      <p:cBhvr override="childStyle">
                                        <p:cTn id="7" dur="80"/>
                                        <p:tgtEl>
                                          <p:spTgt spid="33997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997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3997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grpId="0" nodeType="clickEffect">
                                  <p:stCondLst>
                                    <p:cond delay="0"/>
                                  </p:stCondLst>
                                  <p:childTnLst>
                                    <p:set>
                                      <p:cBhvr>
                                        <p:cTn id="13" dur="1" fill="hold">
                                          <p:stCondLst>
                                            <p:cond delay="0"/>
                                          </p:stCondLst>
                                        </p:cTn>
                                        <p:tgtEl>
                                          <p:spTgt spid="339979"/>
                                        </p:tgtEl>
                                        <p:attrNameLst>
                                          <p:attrName>style.visibility</p:attrName>
                                        </p:attrNameLst>
                                      </p:cBhvr>
                                      <p:to>
                                        <p:strVal val="visible"/>
                                      </p:to>
                                    </p:set>
                                    <p:animEffect transition="in" filter="checkerboard(across)">
                                      <p:cBhvr>
                                        <p:cTn id="14" dur="500"/>
                                        <p:tgtEl>
                                          <p:spTgt spid="339979"/>
                                        </p:tgtEl>
                                      </p:cBhvr>
                                    </p:animEffect>
                                  </p:childTnLst>
                                </p:cTn>
                              </p:par>
                            </p:childTnLst>
                          </p:cTn>
                        </p:par>
                        <p:par>
                          <p:cTn id="15" fill="hold">
                            <p:stCondLst>
                              <p:cond delay="500"/>
                            </p:stCondLst>
                            <p:childTnLst>
                              <p:par>
                                <p:cTn id="16" presetID="5" presetClass="entr" presetSubtype="10" fill="hold" grpId="0" nodeType="afterEffect">
                                  <p:stCondLst>
                                    <p:cond delay="0"/>
                                  </p:stCondLst>
                                  <p:childTnLst>
                                    <p:set>
                                      <p:cBhvr>
                                        <p:cTn id="17" dur="1" fill="hold">
                                          <p:stCondLst>
                                            <p:cond delay="0"/>
                                          </p:stCondLst>
                                        </p:cTn>
                                        <p:tgtEl>
                                          <p:spTgt spid="339981"/>
                                        </p:tgtEl>
                                        <p:attrNameLst>
                                          <p:attrName>style.visibility</p:attrName>
                                        </p:attrNameLst>
                                      </p:cBhvr>
                                      <p:to>
                                        <p:strVal val="visible"/>
                                      </p:to>
                                    </p:set>
                                    <p:animEffect transition="in" filter="checkerboard(across)">
                                      <p:cBhvr>
                                        <p:cTn id="18" dur="500"/>
                                        <p:tgtEl>
                                          <p:spTgt spid="339981"/>
                                        </p:tgtEl>
                                      </p:cBhvr>
                                    </p:animEffect>
                                  </p:childTnLst>
                                </p:cTn>
                              </p:par>
                            </p:childTnLst>
                          </p:cTn>
                        </p:par>
                        <p:par>
                          <p:cTn id="19" fill="hold">
                            <p:stCondLst>
                              <p:cond delay="1000"/>
                            </p:stCondLst>
                            <p:childTnLst>
                              <p:par>
                                <p:cTn id="20" presetID="5" presetClass="entr" presetSubtype="10" fill="hold" grpId="0" nodeType="afterEffect">
                                  <p:stCondLst>
                                    <p:cond delay="0"/>
                                  </p:stCondLst>
                                  <p:childTnLst>
                                    <p:set>
                                      <p:cBhvr>
                                        <p:cTn id="21" dur="1" fill="hold">
                                          <p:stCondLst>
                                            <p:cond delay="0"/>
                                          </p:stCondLst>
                                        </p:cTn>
                                        <p:tgtEl>
                                          <p:spTgt spid="339980"/>
                                        </p:tgtEl>
                                        <p:attrNameLst>
                                          <p:attrName>style.visibility</p:attrName>
                                        </p:attrNameLst>
                                      </p:cBhvr>
                                      <p:to>
                                        <p:strVal val="visible"/>
                                      </p:to>
                                    </p:set>
                                    <p:animEffect transition="in" filter="checkerboard(across)">
                                      <p:cBhvr>
                                        <p:cTn id="22" dur="500"/>
                                        <p:tgtEl>
                                          <p:spTgt spid="339980"/>
                                        </p:tgtEl>
                                      </p:cBhvr>
                                    </p:animEffect>
                                  </p:childTnLst>
                                </p:cTn>
                              </p:par>
                            </p:childTnLst>
                          </p:cTn>
                        </p:par>
                        <p:par>
                          <p:cTn id="23" fill="hold">
                            <p:stCondLst>
                              <p:cond delay="1500"/>
                            </p:stCondLst>
                            <p:childTnLst>
                              <p:par>
                                <p:cTn id="24" presetID="5" presetClass="entr" presetSubtype="10" fill="hold" grpId="0" nodeType="afterEffect">
                                  <p:stCondLst>
                                    <p:cond delay="0"/>
                                  </p:stCondLst>
                                  <p:childTnLst>
                                    <p:set>
                                      <p:cBhvr>
                                        <p:cTn id="25" dur="1" fill="hold">
                                          <p:stCondLst>
                                            <p:cond delay="0"/>
                                          </p:stCondLst>
                                        </p:cTn>
                                        <p:tgtEl>
                                          <p:spTgt spid="339975"/>
                                        </p:tgtEl>
                                        <p:attrNameLst>
                                          <p:attrName>style.visibility</p:attrName>
                                        </p:attrNameLst>
                                      </p:cBhvr>
                                      <p:to>
                                        <p:strVal val="visible"/>
                                      </p:to>
                                    </p:set>
                                    <p:animEffect transition="in" filter="checkerboard(across)">
                                      <p:cBhvr>
                                        <p:cTn id="26" dur="500"/>
                                        <p:tgtEl>
                                          <p:spTgt spid="339975"/>
                                        </p:tgtEl>
                                      </p:cBhvr>
                                    </p:animEffect>
                                  </p:childTnLst>
                                </p:cTn>
                              </p:par>
                            </p:childTnLst>
                          </p:cTn>
                        </p:par>
                        <p:par>
                          <p:cTn id="27" fill="hold">
                            <p:stCondLst>
                              <p:cond delay="2000"/>
                            </p:stCondLst>
                            <p:childTnLst>
                              <p:par>
                                <p:cTn id="28" presetID="5" presetClass="entr" presetSubtype="10" fill="hold" grpId="0" nodeType="afterEffect">
                                  <p:stCondLst>
                                    <p:cond delay="0"/>
                                  </p:stCondLst>
                                  <p:childTnLst>
                                    <p:set>
                                      <p:cBhvr>
                                        <p:cTn id="29" dur="1" fill="hold">
                                          <p:stCondLst>
                                            <p:cond delay="0"/>
                                          </p:stCondLst>
                                        </p:cTn>
                                        <p:tgtEl>
                                          <p:spTgt spid="339982"/>
                                        </p:tgtEl>
                                        <p:attrNameLst>
                                          <p:attrName>style.visibility</p:attrName>
                                        </p:attrNameLst>
                                      </p:cBhvr>
                                      <p:to>
                                        <p:strVal val="visible"/>
                                      </p:to>
                                    </p:set>
                                    <p:animEffect transition="in" filter="checkerboard(across)">
                                      <p:cBhvr>
                                        <p:cTn id="30" dur="500"/>
                                        <p:tgtEl>
                                          <p:spTgt spid="339982"/>
                                        </p:tgtEl>
                                      </p:cBhvr>
                                    </p:animEffect>
                                  </p:childTnLst>
                                </p:cTn>
                              </p:par>
                            </p:childTnLst>
                          </p:cTn>
                        </p:par>
                        <p:par>
                          <p:cTn id="31" fill="hold">
                            <p:stCondLst>
                              <p:cond delay="2500"/>
                            </p:stCondLst>
                            <p:childTnLst>
                              <p:par>
                                <p:cTn id="32" presetID="5" presetClass="entr" presetSubtype="10" fill="hold" grpId="0" nodeType="afterEffect">
                                  <p:stCondLst>
                                    <p:cond delay="0"/>
                                  </p:stCondLst>
                                  <p:childTnLst>
                                    <p:set>
                                      <p:cBhvr>
                                        <p:cTn id="33" dur="1" fill="hold">
                                          <p:stCondLst>
                                            <p:cond delay="0"/>
                                          </p:stCondLst>
                                        </p:cTn>
                                        <p:tgtEl>
                                          <p:spTgt spid="339983"/>
                                        </p:tgtEl>
                                        <p:attrNameLst>
                                          <p:attrName>style.visibility</p:attrName>
                                        </p:attrNameLst>
                                      </p:cBhvr>
                                      <p:to>
                                        <p:strVal val="visible"/>
                                      </p:to>
                                    </p:set>
                                    <p:animEffect transition="in" filter="checkerboard(across)">
                                      <p:cBhvr>
                                        <p:cTn id="34" dur="500"/>
                                        <p:tgtEl>
                                          <p:spTgt spid="33998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39972"/>
                                        </p:tgtEl>
                                        <p:attrNameLst>
                                          <p:attrName>style.visibility</p:attrName>
                                        </p:attrNameLst>
                                      </p:cBhvr>
                                      <p:to>
                                        <p:strVal val="visible"/>
                                      </p:to>
                                    </p:set>
                                    <p:animEffect transition="in" filter="fade">
                                      <p:cBhvr>
                                        <p:cTn id="39" dur="500"/>
                                        <p:tgtEl>
                                          <p:spTgt spid="339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build="p"/>
      <p:bldP spid="339972" grpId="0" animBg="1"/>
      <p:bldP spid="339975" grpId="0" animBg="1"/>
      <p:bldP spid="339979" grpId="0" animBg="1"/>
      <p:bldP spid="339980" grpId="0" animBg="1"/>
      <p:bldP spid="339981" grpId="0" animBg="1"/>
      <p:bldP spid="339982" grpId="0" animBg="1"/>
      <p:bldP spid="33998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a:off x="611560" y="987574"/>
            <a:ext cx="3456384" cy="316835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p:cNvSpPr txBox="1"/>
          <p:nvPr/>
        </p:nvSpPr>
        <p:spPr>
          <a:xfrm>
            <a:off x="3491880" y="1203598"/>
            <a:ext cx="285656" cy="369332"/>
          </a:xfrm>
          <a:prstGeom prst="rect">
            <a:avLst/>
          </a:prstGeom>
          <a:noFill/>
        </p:spPr>
        <p:txBody>
          <a:bodyPr wrap="none" rtlCol="0">
            <a:spAutoFit/>
          </a:bodyPr>
          <a:lstStyle/>
          <a:p>
            <a:r>
              <a:rPr lang="en-CA" dirty="0"/>
              <a:t>c</a:t>
            </a:r>
          </a:p>
        </p:txBody>
      </p:sp>
      <p:sp>
        <p:nvSpPr>
          <p:cNvPr id="7" name="TextBox 6"/>
          <p:cNvSpPr txBox="1"/>
          <p:nvPr/>
        </p:nvSpPr>
        <p:spPr>
          <a:xfrm flipH="1">
            <a:off x="4067944" y="4083918"/>
            <a:ext cx="936104" cy="369332"/>
          </a:xfrm>
          <a:prstGeom prst="rect">
            <a:avLst/>
          </a:prstGeom>
          <a:noFill/>
        </p:spPr>
        <p:txBody>
          <a:bodyPr wrap="square" rtlCol="0">
            <a:spAutoFit/>
          </a:bodyPr>
          <a:lstStyle/>
          <a:p>
            <a:r>
              <a:rPr lang="en-CA" dirty="0"/>
              <a:t>X</a:t>
            </a:r>
          </a:p>
        </p:txBody>
      </p:sp>
      <p:sp>
        <p:nvSpPr>
          <p:cNvPr id="8" name="TextBox 7"/>
          <p:cNvSpPr txBox="1"/>
          <p:nvPr/>
        </p:nvSpPr>
        <p:spPr>
          <a:xfrm flipH="1">
            <a:off x="251520" y="843558"/>
            <a:ext cx="1440160" cy="369332"/>
          </a:xfrm>
          <a:prstGeom prst="rect">
            <a:avLst/>
          </a:prstGeom>
          <a:noFill/>
        </p:spPr>
        <p:txBody>
          <a:bodyPr wrap="square" rtlCol="0">
            <a:spAutoFit/>
          </a:bodyPr>
          <a:lstStyle/>
          <a:p>
            <a:r>
              <a:rPr lang="en-CA" dirty="0"/>
              <a:t>y</a:t>
            </a:r>
          </a:p>
        </p:txBody>
      </p:sp>
      <p:sp>
        <p:nvSpPr>
          <p:cNvPr id="9" name="TextBox 8"/>
          <p:cNvSpPr txBox="1"/>
          <p:nvPr/>
        </p:nvSpPr>
        <p:spPr>
          <a:xfrm>
            <a:off x="3923928" y="1851670"/>
            <a:ext cx="5040560" cy="1754326"/>
          </a:xfrm>
          <a:prstGeom prst="rect">
            <a:avLst/>
          </a:prstGeom>
          <a:noFill/>
        </p:spPr>
        <p:txBody>
          <a:bodyPr wrap="square" rtlCol="0">
            <a:spAutoFit/>
          </a:bodyPr>
          <a:lstStyle/>
          <a:p>
            <a:endParaRPr lang="en-CA" sz="3600" dirty="0"/>
          </a:p>
          <a:p>
            <a:r>
              <a:rPr lang="en-CA" sz="3600" dirty="0"/>
              <a:t>C  = </a:t>
            </a:r>
            <a:r>
              <a:rPr lang="en-CA" sz="3600" dirty="0" err="1"/>
              <a:t>sqrt</a:t>
            </a:r>
            <a:r>
              <a:rPr lang="en-CA" sz="3600" dirty="0"/>
              <a:t>(x^2 + y^2 + z^2)</a:t>
            </a:r>
          </a:p>
          <a:p>
            <a:endParaRPr lang="en-CA" sz="3600" dirty="0"/>
          </a:p>
        </p:txBody>
      </p:sp>
      <p:sp>
        <p:nvSpPr>
          <p:cNvPr id="10" name="Oval 9"/>
          <p:cNvSpPr/>
          <p:nvPr/>
        </p:nvSpPr>
        <p:spPr>
          <a:xfrm>
            <a:off x="251520" y="4155926"/>
            <a:ext cx="504056"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t>000</a:t>
            </a:r>
          </a:p>
        </p:txBody>
      </p:sp>
      <p:cxnSp>
        <p:nvCxnSpPr>
          <p:cNvPr id="12" name="Straight Arrow Connector 11"/>
          <p:cNvCxnSpPr/>
          <p:nvPr/>
        </p:nvCxnSpPr>
        <p:spPr>
          <a:xfrm flipH="1" flipV="1">
            <a:off x="827584" y="843558"/>
            <a:ext cx="3456384" cy="3096344"/>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lang="en-GB"/>
              <a:t>Vector math</a:t>
            </a:r>
            <a:endParaRPr lang="en-GB" sz="4000"/>
          </a:p>
        </p:txBody>
      </p:sp>
      <p:sp>
        <p:nvSpPr>
          <p:cNvPr id="340995" name="Rectangle 3"/>
          <p:cNvSpPr>
            <a:spLocks noGrp="1" noChangeArrowheads="1"/>
          </p:cNvSpPr>
          <p:nvPr>
            <p:ph type="body" idx="1"/>
          </p:nvPr>
        </p:nvSpPr>
        <p:spPr>
          <a:xfrm>
            <a:off x="542925" y="1356123"/>
            <a:ext cx="5238750" cy="3225403"/>
          </a:xfrm>
        </p:spPr>
        <p:txBody>
          <a:bodyPr>
            <a:normAutofit/>
          </a:bodyPr>
          <a:lstStyle/>
          <a:p>
            <a:r>
              <a:rPr lang="en-GB" sz="2800"/>
              <a:t>You can think of this as tacking the vectors end to end, then seeing where you end up.</a:t>
            </a:r>
          </a:p>
          <a:p>
            <a:r>
              <a:rPr lang="en-GB" sz="2800"/>
              <a:t>Going from the start to the end is the </a:t>
            </a:r>
            <a:r>
              <a:rPr lang="en-GB" sz="2800" b="1"/>
              <a:t>resultant</a:t>
            </a:r>
            <a:r>
              <a:rPr lang="en-GB" sz="2800"/>
              <a:t>.</a:t>
            </a:r>
          </a:p>
        </p:txBody>
      </p:sp>
      <p:sp>
        <p:nvSpPr>
          <p:cNvPr id="34099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40997" name="Oval 5"/>
          <p:cNvSpPr>
            <a:spLocks noChangeArrowheads="1"/>
          </p:cNvSpPr>
          <p:nvPr/>
        </p:nvSpPr>
        <p:spPr bwMode="auto">
          <a:xfrm>
            <a:off x="8383589" y="4313635"/>
            <a:ext cx="168275" cy="126206"/>
          </a:xfrm>
          <a:prstGeom prst="ellipse">
            <a:avLst/>
          </a:prstGeom>
          <a:solidFill>
            <a:srgbClr val="00B8FF"/>
          </a:solidFill>
          <a:ln w="9525">
            <a:solidFill>
              <a:schemeClr val="tx1"/>
            </a:solidFill>
            <a:round/>
            <a:headEnd/>
            <a:tailEnd/>
          </a:ln>
          <a:effectLst/>
        </p:spPr>
        <p:txBody>
          <a:bodyPr wrap="none" anchor="ctr"/>
          <a:lstStyle/>
          <a:p>
            <a:endParaRPr lang="en-CA"/>
          </a:p>
        </p:txBody>
      </p:sp>
      <p:sp>
        <p:nvSpPr>
          <p:cNvPr id="340998" name="Line 6"/>
          <p:cNvSpPr>
            <a:spLocks noChangeShapeType="1"/>
          </p:cNvSpPr>
          <p:nvPr/>
        </p:nvSpPr>
        <p:spPr bwMode="auto">
          <a:xfrm flipV="1">
            <a:off x="8004176" y="1406129"/>
            <a:ext cx="785813" cy="923925"/>
          </a:xfrm>
          <a:prstGeom prst="line">
            <a:avLst/>
          </a:prstGeom>
          <a:noFill/>
          <a:ln w="76200">
            <a:solidFill>
              <a:srgbClr val="FF0000"/>
            </a:solidFill>
            <a:round/>
            <a:headEnd/>
            <a:tailEnd type="stealth" w="lg" len="lg"/>
          </a:ln>
          <a:effectLst/>
        </p:spPr>
        <p:txBody>
          <a:bodyPr/>
          <a:lstStyle/>
          <a:p>
            <a:endParaRPr lang="en-CA"/>
          </a:p>
        </p:txBody>
      </p:sp>
      <p:sp>
        <p:nvSpPr>
          <p:cNvPr id="340999" name="Line 7"/>
          <p:cNvSpPr>
            <a:spLocks noChangeShapeType="1"/>
          </p:cNvSpPr>
          <p:nvPr/>
        </p:nvSpPr>
        <p:spPr bwMode="auto">
          <a:xfrm flipH="1" flipV="1">
            <a:off x="8012114" y="2303860"/>
            <a:ext cx="674687" cy="1014413"/>
          </a:xfrm>
          <a:prstGeom prst="line">
            <a:avLst/>
          </a:prstGeom>
          <a:noFill/>
          <a:ln w="76200">
            <a:solidFill>
              <a:srgbClr val="FF0000"/>
            </a:solidFill>
            <a:round/>
            <a:headEnd/>
            <a:tailEnd type="stealth" w="lg" len="lg"/>
          </a:ln>
          <a:effectLst/>
        </p:spPr>
        <p:txBody>
          <a:bodyPr/>
          <a:lstStyle/>
          <a:p>
            <a:endParaRPr lang="en-CA"/>
          </a:p>
        </p:txBody>
      </p:sp>
      <p:sp>
        <p:nvSpPr>
          <p:cNvPr id="341000" name="Line 8"/>
          <p:cNvSpPr>
            <a:spLocks noChangeShapeType="1"/>
          </p:cNvSpPr>
          <p:nvPr/>
        </p:nvSpPr>
        <p:spPr bwMode="auto">
          <a:xfrm flipV="1">
            <a:off x="8469313" y="3313510"/>
            <a:ext cx="239712" cy="1039415"/>
          </a:xfrm>
          <a:prstGeom prst="line">
            <a:avLst/>
          </a:prstGeom>
          <a:noFill/>
          <a:ln w="76200">
            <a:solidFill>
              <a:srgbClr val="FF0000"/>
            </a:solidFill>
            <a:round/>
            <a:headEnd/>
            <a:tailEnd type="stealth" w="lg" len="lg"/>
          </a:ln>
          <a:effectLst/>
        </p:spPr>
        <p:txBody>
          <a:bodyPr/>
          <a:lstStyle/>
          <a:p>
            <a:endParaRPr lang="en-CA"/>
          </a:p>
        </p:txBody>
      </p:sp>
      <p:sp>
        <p:nvSpPr>
          <p:cNvPr id="341001" name="Line 9"/>
          <p:cNvSpPr>
            <a:spLocks noChangeShapeType="1"/>
          </p:cNvSpPr>
          <p:nvPr/>
        </p:nvSpPr>
        <p:spPr bwMode="auto">
          <a:xfrm flipH="1" flipV="1">
            <a:off x="7650163" y="1347787"/>
            <a:ext cx="1141412" cy="63104"/>
          </a:xfrm>
          <a:prstGeom prst="line">
            <a:avLst/>
          </a:prstGeom>
          <a:noFill/>
          <a:ln w="76200">
            <a:solidFill>
              <a:srgbClr val="FF0000"/>
            </a:solidFill>
            <a:round/>
            <a:headEnd/>
            <a:tailEnd type="stealth" w="lg" len="lg"/>
          </a:ln>
          <a:effectLst/>
        </p:spPr>
        <p:txBody>
          <a:bodyPr/>
          <a:lstStyle/>
          <a:p>
            <a:endParaRPr lang="en-CA"/>
          </a:p>
        </p:txBody>
      </p:sp>
      <p:sp>
        <p:nvSpPr>
          <p:cNvPr id="341002" name="Line 10"/>
          <p:cNvSpPr>
            <a:spLocks noChangeShapeType="1"/>
          </p:cNvSpPr>
          <p:nvPr/>
        </p:nvSpPr>
        <p:spPr bwMode="auto">
          <a:xfrm flipV="1">
            <a:off x="7658100" y="569119"/>
            <a:ext cx="954088" cy="775097"/>
          </a:xfrm>
          <a:prstGeom prst="line">
            <a:avLst/>
          </a:prstGeom>
          <a:noFill/>
          <a:ln w="76200">
            <a:solidFill>
              <a:srgbClr val="FF0000"/>
            </a:solidFill>
            <a:round/>
            <a:headEnd/>
            <a:tailEnd type="stealth" w="lg" len="lg"/>
          </a:ln>
          <a:effectLst/>
        </p:spPr>
        <p:txBody>
          <a:bodyPr/>
          <a:lstStyle/>
          <a:p>
            <a:endParaRPr lang="en-CA"/>
          </a:p>
        </p:txBody>
      </p:sp>
      <p:sp>
        <p:nvSpPr>
          <p:cNvPr id="341003" name="Line 11"/>
          <p:cNvSpPr>
            <a:spLocks noChangeShapeType="1"/>
          </p:cNvSpPr>
          <p:nvPr/>
        </p:nvSpPr>
        <p:spPr bwMode="auto">
          <a:xfrm flipV="1">
            <a:off x="8469314" y="583407"/>
            <a:ext cx="168275" cy="3764756"/>
          </a:xfrm>
          <a:prstGeom prst="line">
            <a:avLst/>
          </a:prstGeom>
          <a:noFill/>
          <a:ln w="76200">
            <a:solidFill>
              <a:srgbClr val="FFFF00"/>
            </a:solidFill>
            <a:round/>
            <a:headEnd/>
            <a:tailEnd type="stealth" w="lg" len="lg"/>
          </a:ln>
          <a:effectLst/>
        </p:spPr>
        <p:txBody>
          <a:bodyPr/>
          <a:lstStyle/>
          <a:p>
            <a:endParaRPr lang="en-CA"/>
          </a:p>
        </p:txBody>
      </p:sp>
      <p:sp>
        <p:nvSpPr>
          <p:cNvPr id="341004" name="Oval 12"/>
          <p:cNvSpPr>
            <a:spLocks noChangeArrowheads="1"/>
          </p:cNvSpPr>
          <p:nvPr/>
        </p:nvSpPr>
        <p:spPr bwMode="auto">
          <a:xfrm>
            <a:off x="6451601" y="4304110"/>
            <a:ext cx="168275" cy="126206"/>
          </a:xfrm>
          <a:prstGeom prst="ellipse">
            <a:avLst/>
          </a:prstGeom>
          <a:solidFill>
            <a:srgbClr val="00B8FF"/>
          </a:solidFill>
          <a:ln w="9525">
            <a:solidFill>
              <a:schemeClr val="tx1"/>
            </a:solidFill>
            <a:round/>
            <a:headEnd/>
            <a:tailEnd/>
          </a:ln>
          <a:effectLst/>
        </p:spPr>
        <p:txBody>
          <a:bodyPr wrap="none" anchor="ctr"/>
          <a:lstStyle/>
          <a:p>
            <a:endParaRPr lang="en-CA"/>
          </a:p>
        </p:txBody>
      </p:sp>
      <p:sp>
        <p:nvSpPr>
          <p:cNvPr id="341005" name="Line 13"/>
          <p:cNvSpPr>
            <a:spLocks noChangeShapeType="1"/>
          </p:cNvSpPr>
          <p:nvPr/>
        </p:nvSpPr>
        <p:spPr bwMode="auto">
          <a:xfrm flipV="1">
            <a:off x="6530976" y="3436144"/>
            <a:ext cx="785813" cy="923925"/>
          </a:xfrm>
          <a:prstGeom prst="line">
            <a:avLst/>
          </a:prstGeom>
          <a:noFill/>
          <a:ln w="76200">
            <a:solidFill>
              <a:srgbClr val="FF0000"/>
            </a:solidFill>
            <a:round/>
            <a:headEnd/>
            <a:tailEnd type="stealth" w="lg" len="lg"/>
          </a:ln>
          <a:effectLst/>
        </p:spPr>
        <p:txBody>
          <a:bodyPr/>
          <a:lstStyle/>
          <a:p>
            <a:endParaRPr lang="en-CA"/>
          </a:p>
        </p:txBody>
      </p:sp>
      <p:sp>
        <p:nvSpPr>
          <p:cNvPr id="341006" name="Line 14"/>
          <p:cNvSpPr>
            <a:spLocks noChangeShapeType="1"/>
          </p:cNvSpPr>
          <p:nvPr/>
        </p:nvSpPr>
        <p:spPr bwMode="auto">
          <a:xfrm flipH="1" flipV="1">
            <a:off x="5854700" y="3352800"/>
            <a:ext cx="674688" cy="1014413"/>
          </a:xfrm>
          <a:prstGeom prst="line">
            <a:avLst/>
          </a:prstGeom>
          <a:noFill/>
          <a:ln w="76200">
            <a:solidFill>
              <a:srgbClr val="FF0000"/>
            </a:solidFill>
            <a:round/>
            <a:headEnd/>
            <a:tailEnd type="stealth" w="lg" len="lg"/>
          </a:ln>
          <a:effectLst/>
        </p:spPr>
        <p:txBody>
          <a:bodyPr/>
          <a:lstStyle/>
          <a:p>
            <a:endParaRPr lang="en-CA"/>
          </a:p>
        </p:txBody>
      </p:sp>
      <p:sp>
        <p:nvSpPr>
          <p:cNvPr id="341007" name="Line 15"/>
          <p:cNvSpPr>
            <a:spLocks noChangeShapeType="1"/>
          </p:cNvSpPr>
          <p:nvPr/>
        </p:nvSpPr>
        <p:spPr bwMode="auto">
          <a:xfrm flipV="1">
            <a:off x="6537326" y="3303985"/>
            <a:ext cx="239713" cy="1039415"/>
          </a:xfrm>
          <a:prstGeom prst="line">
            <a:avLst/>
          </a:prstGeom>
          <a:noFill/>
          <a:ln w="76200">
            <a:solidFill>
              <a:srgbClr val="FF0000"/>
            </a:solidFill>
            <a:round/>
            <a:headEnd/>
            <a:tailEnd type="stealth" w="lg" len="lg"/>
          </a:ln>
          <a:effectLst/>
        </p:spPr>
        <p:txBody>
          <a:bodyPr/>
          <a:lstStyle/>
          <a:p>
            <a:endParaRPr lang="en-CA"/>
          </a:p>
        </p:txBody>
      </p:sp>
      <p:sp>
        <p:nvSpPr>
          <p:cNvPr id="341008" name="Line 16"/>
          <p:cNvSpPr>
            <a:spLocks noChangeShapeType="1"/>
          </p:cNvSpPr>
          <p:nvPr/>
        </p:nvSpPr>
        <p:spPr bwMode="auto">
          <a:xfrm flipH="1" flipV="1">
            <a:off x="5389563" y="4280298"/>
            <a:ext cx="1141412" cy="63103"/>
          </a:xfrm>
          <a:prstGeom prst="line">
            <a:avLst/>
          </a:prstGeom>
          <a:noFill/>
          <a:ln w="76200">
            <a:solidFill>
              <a:srgbClr val="FF0000"/>
            </a:solidFill>
            <a:round/>
            <a:headEnd/>
            <a:tailEnd type="stealth" w="lg" len="lg"/>
          </a:ln>
          <a:effectLst/>
        </p:spPr>
        <p:txBody>
          <a:bodyPr/>
          <a:lstStyle/>
          <a:p>
            <a:endParaRPr lang="en-CA"/>
          </a:p>
        </p:txBody>
      </p:sp>
      <p:sp>
        <p:nvSpPr>
          <p:cNvPr id="341009" name="Line 17"/>
          <p:cNvSpPr>
            <a:spLocks noChangeShapeType="1"/>
          </p:cNvSpPr>
          <p:nvPr/>
        </p:nvSpPr>
        <p:spPr bwMode="auto">
          <a:xfrm flipV="1">
            <a:off x="6545264" y="3568303"/>
            <a:ext cx="954087" cy="775097"/>
          </a:xfrm>
          <a:prstGeom prst="line">
            <a:avLst/>
          </a:prstGeom>
          <a:noFill/>
          <a:ln w="76200">
            <a:solidFill>
              <a:srgbClr val="FF0000"/>
            </a:solidFill>
            <a:round/>
            <a:headEnd/>
            <a:tailEnd type="stealth" w="lg" len="lg"/>
          </a:ln>
          <a:effectLst/>
        </p:spPr>
        <p:txBody>
          <a:bodyPr/>
          <a:lstStyle/>
          <a:p>
            <a:endParaRPr lang="en-CA"/>
          </a:p>
        </p:txBody>
      </p:sp>
      <p:sp>
        <p:nvSpPr>
          <p:cNvPr id="341010" name="Line 18"/>
          <p:cNvSpPr>
            <a:spLocks noChangeShapeType="1"/>
          </p:cNvSpPr>
          <p:nvPr/>
        </p:nvSpPr>
        <p:spPr bwMode="auto">
          <a:xfrm flipV="1">
            <a:off x="6527801" y="583407"/>
            <a:ext cx="168275" cy="3764756"/>
          </a:xfrm>
          <a:prstGeom prst="line">
            <a:avLst/>
          </a:prstGeom>
          <a:noFill/>
          <a:ln w="76200">
            <a:solidFill>
              <a:srgbClr val="FFFF00"/>
            </a:solidFill>
            <a:round/>
            <a:headEnd/>
            <a:tailEnd type="stealth" w="lg" len="lg"/>
          </a:ln>
          <a:effectLst/>
        </p:spPr>
        <p:txBody>
          <a:bodyP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0995">
                                            <p:txEl>
                                              <p:pRg st="0" end="0"/>
                                            </p:txEl>
                                          </p:spTgt>
                                        </p:tgtEl>
                                        <p:attrNameLst>
                                          <p:attrName>style.visibility</p:attrName>
                                        </p:attrNameLst>
                                      </p:cBhvr>
                                      <p:to>
                                        <p:strVal val="visible"/>
                                      </p:to>
                                    </p:set>
                                    <p:anim calcmode="discrete" valueType="clr">
                                      <p:cBhvr override="childStyle">
                                        <p:cTn id="7" dur="80"/>
                                        <p:tgtEl>
                                          <p:spTgt spid="34099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099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099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0995">
                                            <p:txEl>
                                              <p:pRg st="1" end="1"/>
                                            </p:txEl>
                                          </p:spTgt>
                                        </p:tgtEl>
                                        <p:attrNameLst>
                                          <p:attrName>style.visibility</p:attrName>
                                        </p:attrNameLst>
                                      </p:cBhvr>
                                      <p:to>
                                        <p:strVal val="visible"/>
                                      </p:to>
                                    </p:set>
                                    <p:anim calcmode="discrete" valueType="clr">
                                      <p:cBhvr override="childStyle">
                                        <p:cTn id="14" dur="80"/>
                                        <p:tgtEl>
                                          <p:spTgt spid="34099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099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0995">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41007"/>
                                        </p:tgtEl>
                                        <p:attrNameLst>
                                          <p:attrName>style.visibility</p:attrName>
                                        </p:attrNameLst>
                                      </p:cBhvr>
                                      <p:to>
                                        <p:strVal val="visible"/>
                                      </p:to>
                                    </p:set>
                                    <p:animEffect transition="in" filter="checkerboard(across)">
                                      <p:cBhvr>
                                        <p:cTn id="21" dur="500"/>
                                        <p:tgtEl>
                                          <p:spTgt spid="341007"/>
                                        </p:tgtEl>
                                      </p:cBhvr>
                                    </p:animEffect>
                                  </p:childTnLst>
                                </p:cTn>
                              </p:par>
                            </p:childTnLst>
                          </p:cTn>
                        </p:par>
                        <p:par>
                          <p:cTn id="22" fill="hold">
                            <p:stCondLst>
                              <p:cond delay="500"/>
                            </p:stCondLst>
                            <p:childTnLst>
                              <p:par>
                                <p:cTn id="23" presetID="5" presetClass="entr" presetSubtype="10" fill="hold" grpId="0" nodeType="afterEffect">
                                  <p:stCondLst>
                                    <p:cond delay="0"/>
                                  </p:stCondLst>
                                  <p:childTnLst>
                                    <p:set>
                                      <p:cBhvr>
                                        <p:cTn id="24" dur="1" fill="hold">
                                          <p:stCondLst>
                                            <p:cond delay="0"/>
                                          </p:stCondLst>
                                        </p:cTn>
                                        <p:tgtEl>
                                          <p:spTgt spid="341000"/>
                                        </p:tgtEl>
                                        <p:attrNameLst>
                                          <p:attrName>style.visibility</p:attrName>
                                        </p:attrNameLst>
                                      </p:cBhvr>
                                      <p:to>
                                        <p:strVal val="visible"/>
                                      </p:to>
                                    </p:set>
                                    <p:animEffect transition="in" filter="checkerboard(across)">
                                      <p:cBhvr>
                                        <p:cTn id="25" dur="500"/>
                                        <p:tgtEl>
                                          <p:spTgt spid="341000"/>
                                        </p:tgtEl>
                                      </p:cBhvr>
                                    </p:animEffect>
                                  </p:childTnLst>
                                </p:cTn>
                              </p:par>
                            </p:childTnLst>
                          </p:cTn>
                        </p:par>
                        <p:par>
                          <p:cTn id="26" fill="hold">
                            <p:stCondLst>
                              <p:cond delay="1000"/>
                            </p:stCondLst>
                            <p:childTnLst>
                              <p:par>
                                <p:cTn id="27" presetID="5" presetClass="entr" presetSubtype="10" fill="hold" grpId="0" nodeType="afterEffect">
                                  <p:stCondLst>
                                    <p:cond delay="0"/>
                                  </p:stCondLst>
                                  <p:childTnLst>
                                    <p:set>
                                      <p:cBhvr>
                                        <p:cTn id="28" dur="1" fill="hold">
                                          <p:stCondLst>
                                            <p:cond delay="0"/>
                                          </p:stCondLst>
                                        </p:cTn>
                                        <p:tgtEl>
                                          <p:spTgt spid="341006"/>
                                        </p:tgtEl>
                                        <p:attrNameLst>
                                          <p:attrName>style.visibility</p:attrName>
                                        </p:attrNameLst>
                                      </p:cBhvr>
                                      <p:to>
                                        <p:strVal val="visible"/>
                                      </p:to>
                                    </p:set>
                                    <p:animEffect transition="in" filter="checkerboard(across)">
                                      <p:cBhvr>
                                        <p:cTn id="29" dur="500"/>
                                        <p:tgtEl>
                                          <p:spTgt spid="341006"/>
                                        </p:tgtEl>
                                      </p:cBhvr>
                                    </p:animEffect>
                                  </p:childTnLst>
                                </p:cTn>
                              </p:par>
                            </p:childTnLst>
                          </p:cTn>
                        </p:par>
                        <p:par>
                          <p:cTn id="30" fill="hold">
                            <p:stCondLst>
                              <p:cond delay="1500"/>
                            </p:stCondLst>
                            <p:childTnLst>
                              <p:par>
                                <p:cTn id="31" presetID="5" presetClass="entr" presetSubtype="10" fill="hold" grpId="0" nodeType="afterEffect">
                                  <p:stCondLst>
                                    <p:cond delay="0"/>
                                  </p:stCondLst>
                                  <p:childTnLst>
                                    <p:set>
                                      <p:cBhvr>
                                        <p:cTn id="32" dur="1" fill="hold">
                                          <p:stCondLst>
                                            <p:cond delay="0"/>
                                          </p:stCondLst>
                                        </p:cTn>
                                        <p:tgtEl>
                                          <p:spTgt spid="340999"/>
                                        </p:tgtEl>
                                        <p:attrNameLst>
                                          <p:attrName>style.visibility</p:attrName>
                                        </p:attrNameLst>
                                      </p:cBhvr>
                                      <p:to>
                                        <p:strVal val="visible"/>
                                      </p:to>
                                    </p:set>
                                    <p:animEffect transition="in" filter="checkerboard(across)">
                                      <p:cBhvr>
                                        <p:cTn id="33" dur="500"/>
                                        <p:tgtEl>
                                          <p:spTgt spid="340999"/>
                                        </p:tgtEl>
                                      </p:cBhvr>
                                    </p:animEffect>
                                  </p:childTnLst>
                                </p:cTn>
                              </p:par>
                            </p:childTnLst>
                          </p:cTn>
                        </p:par>
                        <p:par>
                          <p:cTn id="34" fill="hold">
                            <p:stCondLst>
                              <p:cond delay="2000"/>
                            </p:stCondLst>
                            <p:childTnLst>
                              <p:par>
                                <p:cTn id="35" presetID="5" presetClass="entr" presetSubtype="10" fill="hold" grpId="0" nodeType="afterEffect">
                                  <p:stCondLst>
                                    <p:cond delay="0"/>
                                  </p:stCondLst>
                                  <p:childTnLst>
                                    <p:set>
                                      <p:cBhvr>
                                        <p:cTn id="36" dur="1" fill="hold">
                                          <p:stCondLst>
                                            <p:cond delay="0"/>
                                          </p:stCondLst>
                                        </p:cTn>
                                        <p:tgtEl>
                                          <p:spTgt spid="341005"/>
                                        </p:tgtEl>
                                        <p:attrNameLst>
                                          <p:attrName>style.visibility</p:attrName>
                                        </p:attrNameLst>
                                      </p:cBhvr>
                                      <p:to>
                                        <p:strVal val="visible"/>
                                      </p:to>
                                    </p:set>
                                    <p:animEffect transition="in" filter="checkerboard(across)">
                                      <p:cBhvr>
                                        <p:cTn id="37" dur="500"/>
                                        <p:tgtEl>
                                          <p:spTgt spid="341005"/>
                                        </p:tgtEl>
                                      </p:cBhvr>
                                    </p:animEffect>
                                  </p:childTnLst>
                                </p:cTn>
                              </p:par>
                            </p:childTnLst>
                          </p:cTn>
                        </p:par>
                        <p:par>
                          <p:cTn id="38" fill="hold">
                            <p:stCondLst>
                              <p:cond delay="2500"/>
                            </p:stCondLst>
                            <p:childTnLst>
                              <p:par>
                                <p:cTn id="39" presetID="5" presetClass="entr" presetSubtype="10" fill="hold" grpId="0" nodeType="afterEffect">
                                  <p:stCondLst>
                                    <p:cond delay="0"/>
                                  </p:stCondLst>
                                  <p:childTnLst>
                                    <p:set>
                                      <p:cBhvr>
                                        <p:cTn id="40" dur="1" fill="hold">
                                          <p:stCondLst>
                                            <p:cond delay="0"/>
                                          </p:stCondLst>
                                        </p:cTn>
                                        <p:tgtEl>
                                          <p:spTgt spid="340998"/>
                                        </p:tgtEl>
                                        <p:attrNameLst>
                                          <p:attrName>style.visibility</p:attrName>
                                        </p:attrNameLst>
                                      </p:cBhvr>
                                      <p:to>
                                        <p:strVal val="visible"/>
                                      </p:to>
                                    </p:set>
                                    <p:animEffect transition="in" filter="checkerboard(across)">
                                      <p:cBhvr>
                                        <p:cTn id="41" dur="500"/>
                                        <p:tgtEl>
                                          <p:spTgt spid="340998"/>
                                        </p:tgtEl>
                                      </p:cBhvr>
                                    </p:animEffect>
                                  </p:childTnLst>
                                </p:cTn>
                              </p:par>
                            </p:childTnLst>
                          </p:cTn>
                        </p:par>
                        <p:par>
                          <p:cTn id="42" fill="hold">
                            <p:stCondLst>
                              <p:cond delay="3000"/>
                            </p:stCondLst>
                            <p:childTnLst>
                              <p:par>
                                <p:cTn id="43" presetID="5" presetClass="entr" presetSubtype="10" fill="hold" grpId="0" nodeType="afterEffect">
                                  <p:stCondLst>
                                    <p:cond delay="0"/>
                                  </p:stCondLst>
                                  <p:childTnLst>
                                    <p:set>
                                      <p:cBhvr>
                                        <p:cTn id="44" dur="1" fill="hold">
                                          <p:stCondLst>
                                            <p:cond delay="0"/>
                                          </p:stCondLst>
                                        </p:cTn>
                                        <p:tgtEl>
                                          <p:spTgt spid="341008"/>
                                        </p:tgtEl>
                                        <p:attrNameLst>
                                          <p:attrName>style.visibility</p:attrName>
                                        </p:attrNameLst>
                                      </p:cBhvr>
                                      <p:to>
                                        <p:strVal val="visible"/>
                                      </p:to>
                                    </p:set>
                                    <p:animEffect transition="in" filter="checkerboard(across)">
                                      <p:cBhvr>
                                        <p:cTn id="45" dur="500"/>
                                        <p:tgtEl>
                                          <p:spTgt spid="341008"/>
                                        </p:tgtEl>
                                      </p:cBhvr>
                                    </p:animEffect>
                                  </p:childTnLst>
                                </p:cTn>
                              </p:par>
                            </p:childTnLst>
                          </p:cTn>
                        </p:par>
                        <p:par>
                          <p:cTn id="46" fill="hold">
                            <p:stCondLst>
                              <p:cond delay="3500"/>
                            </p:stCondLst>
                            <p:childTnLst>
                              <p:par>
                                <p:cTn id="47" presetID="5" presetClass="entr" presetSubtype="10" fill="hold" grpId="0" nodeType="afterEffect">
                                  <p:stCondLst>
                                    <p:cond delay="0"/>
                                  </p:stCondLst>
                                  <p:childTnLst>
                                    <p:set>
                                      <p:cBhvr>
                                        <p:cTn id="48" dur="1" fill="hold">
                                          <p:stCondLst>
                                            <p:cond delay="0"/>
                                          </p:stCondLst>
                                        </p:cTn>
                                        <p:tgtEl>
                                          <p:spTgt spid="341001"/>
                                        </p:tgtEl>
                                        <p:attrNameLst>
                                          <p:attrName>style.visibility</p:attrName>
                                        </p:attrNameLst>
                                      </p:cBhvr>
                                      <p:to>
                                        <p:strVal val="visible"/>
                                      </p:to>
                                    </p:set>
                                    <p:animEffect transition="in" filter="checkerboard(across)">
                                      <p:cBhvr>
                                        <p:cTn id="49" dur="500"/>
                                        <p:tgtEl>
                                          <p:spTgt spid="341001"/>
                                        </p:tgtEl>
                                      </p:cBhvr>
                                    </p:animEffect>
                                  </p:childTnLst>
                                </p:cTn>
                              </p:par>
                            </p:childTnLst>
                          </p:cTn>
                        </p:par>
                        <p:par>
                          <p:cTn id="50" fill="hold">
                            <p:stCondLst>
                              <p:cond delay="4000"/>
                            </p:stCondLst>
                            <p:childTnLst>
                              <p:par>
                                <p:cTn id="51" presetID="5" presetClass="entr" presetSubtype="10" fill="hold" grpId="0" nodeType="afterEffect">
                                  <p:stCondLst>
                                    <p:cond delay="0"/>
                                  </p:stCondLst>
                                  <p:childTnLst>
                                    <p:set>
                                      <p:cBhvr>
                                        <p:cTn id="52" dur="1" fill="hold">
                                          <p:stCondLst>
                                            <p:cond delay="0"/>
                                          </p:stCondLst>
                                        </p:cTn>
                                        <p:tgtEl>
                                          <p:spTgt spid="341009"/>
                                        </p:tgtEl>
                                        <p:attrNameLst>
                                          <p:attrName>style.visibility</p:attrName>
                                        </p:attrNameLst>
                                      </p:cBhvr>
                                      <p:to>
                                        <p:strVal val="visible"/>
                                      </p:to>
                                    </p:set>
                                    <p:animEffect transition="in" filter="checkerboard(across)">
                                      <p:cBhvr>
                                        <p:cTn id="53" dur="500"/>
                                        <p:tgtEl>
                                          <p:spTgt spid="341009"/>
                                        </p:tgtEl>
                                      </p:cBhvr>
                                    </p:animEffect>
                                  </p:childTnLst>
                                </p:cTn>
                              </p:par>
                            </p:childTnLst>
                          </p:cTn>
                        </p:par>
                        <p:par>
                          <p:cTn id="54" fill="hold">
                            <p:stCondLst>
                              <p:cond delay="4500"/>
                            </p:stCondLst>
                            <p:childTnLst>
                              <p:par>
                                <p:cTn id="55" presetID="5" presetClass="entr" presetSubtype="10" fill="hold" grpId="0" nodeType="afterEffect">
                                  <p:stCondLst>
                                    <p:cond delay="0"/>
                                  </p:stCondLst>
                                  <p:childTnLst>
                                    <p:set>
                                      <p:cBhvr>
                                        <p:cTn id="56" dur="1" fill="hold">
                                          <p:stCondLst>
                                            <p:cond delay="0"/>
                                          </p:stCondLst>
                                        </p:cTn>
                                        <p:tgtEl>
                                          <p:spTgt spid="341002"/>
                                        </p:tgtEl>
                                        <p:attrNameLst>
                                          <p:attrName>style.visibility</p:attrName>
                                        </p:attrNameLst>
                                      </p:cBhvr>
                                      <p:to>
                                        <p:strVal val="visible"/>
                                      </p:to>
                                    </p:set>
                                    <p:animEffect transition="in" filter="checkerboard(across)">
                                      <p:cBhvr>
                                        <p:cTn id="57" dur="500"/>
                                        <p:tgtEl>
                                          <p:spTgt spid="341002"/>
                                        </p:tgtEl>
                                      </p:cBhvr>
                                    </p:animEffect>
                                  </p:childTnLst>
                                </p:cTn>
                              </p:par>
                            </p:childTnLst>
                          </p:cTn>
                        </p:par>
                        <p:par>
                          <p:cTn id="58" fill="hold">
                            <p:stCondLst>
                              <p:cond delay="5000"/>
                            </p:stCondLst>
                            <p:childTnLst>
                              <p:par>
                                <p:cTn id="59" presetID="5" presetClass="entr" presetSubtype="10" fill="hold" grpId="0" nodeType="afterEffect">
                                  <p:stCondLst>
                                    <p:cond delay="0"/>
                                  </p:stCondLst>
                                  <p:childTnLst>
                                    <p:set>
                                      <p:cBhvr>
                                        <p:cTn id="60" dur="1" fill="hold">
                                          <p:stCondLst>
                                            <p:cond delay="0"/>
                                          </p:stCondLst>
                                        </p:cTn>
                                        <p:tgtEl>
                                          <p:spTgt spid="341010"/>
                                        </p:tgtEl>
                                        <p:attrNameLst>
                                          <p:attrName>style.visibility</p:attrName>
                                        </p:attrNameLst>
                                      </p:cBhvr>
                                      <p:to>
                                        <p:strVal val="visible"/>
                                      </p:to>
                                    </p:set>
                                    <p:animEffect transition="in" filter="checkerboard(across)">
                                      <p:cBhvr>
                                        <p:cTn id="61" dur="500"/>
                                        <p:tgtEl>
                                          <p:spTgt spid="341010"/>
                                        </p:tgtEl>
                                      </p:cBhvr>
                                    </p:animEffect>
                                  </p:childTnLst>
                                </p:cTn>
                              </p:par>
                            </p:childTnLst>
                          </p:cTn>
                        </p:par>
                        <p:par>
                          <p:cTn id="62" fill="hold">
                            <p:stCondLst>
                              <p:cond delay="5500"/>
                            </p:stCondLst>
                            <p:childTnLst>
                              <p:par>
                                <p:cTn id="63" presetID="5" presetClass="entr" presetSubtype="10" fill="hold" grpId="0" nodeType="afterEffect">
                                  <p:stCondLst>
                                    <p:cond delay="0"/>
                                  </p:stCondLst>
                                  <p:childTnLst>
                                    <p:set>
                                      <p:cBhvr>
                                        <p:cTn id="64" dur="1" fill="hold">
                                          <p:stCondLst>
                                            <p:cond delay="0"/>
                                          </p:stCondLst>
                                        </p:cTn>
                                        <p:tgtEl>
                                          <p:spTgt spid="341003"/>
                                        </p:tgtEl>
                                        <p:attrNameLst>
                                          <p:attrName>style.visibility</p:attrName>
                                        </p:attrNameLst>
                                      </p:cBhvr>
                                      <p:to>
                                        <p:strVal val="visible"/>
                                      </p:to>
                                    </p:set>
                                    <p:animEffect transition="in" filter="checkerboard(across)">
                                      <p:cBhvr>
                                        <p:cTn id="65" dur="500"/>
                                        <p:tgtEl>
                                          <p:spTgt spid="34100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40996"/>
                                        </p:tgtEl>
                                        <p:attrNameLst>
                                          <p:attrName>style.visibility</p:attrName>
                                        </p:attrNameLst>
                                      </p:cBhvr>
                                      <p:to>
                                        <p:strVal val="visible"/>
                                      </p:to>
                                    </p:set>
                                    <p:animEffect transition="in" filter="fade">
                                      <p:cBhvr>
                                        <p:cTn id="70" dur="500"/>
                                        <p:tgtEl>
                                          <p:spTgt spid="340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P spid="340996" grpId="0" animBg="1"/>
      <p:bldP spid="340998" grpId="0" animBg="1"/>
      <p:bldP spid="340999" grpId="0" animBg="1"/>
      <p:bldP spid="341000" grpId="0" animBg="1"/>
      <p:bldP spid="341001" grpId="0" animBg="1"/>
      <p:bldP spid="341002" grpId="0" animBg="1"/>
      <p:bldP spid="341003" grpId="0" animBg="1"/>
      <p:bldP spid="341005" grpId="0" animBg="1"/>
      <p:bldP spid="341006" grpId="0" animBg="1"/>
      <p:bldP spid="341007" grpId="0" animBg="1"/>
      <p:bldP spid="341008" grpId="0" animBg="1"/>
      <p:bldP spid="341009" grpId="0" animBg="1"/>
      <p:bldP spid="34101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1066800" y="228600"/>
            <a:ext cx="3709988" cy="1073944"/>
          </a:xfrm>
        </p:spPr>
        <p:txBody>
          <a:bodyPr/>
          <a:lstStyle/>
          <a:p>
            <a:r>
              <a:rPr lang="en-GB"/>
              <a:t>Vector math</a:t>
            </a:r>
            <a:endParaRPr lang="en-GB" sz="4000"/>
          </a:p>
        </p:txBody>
      </p:sp>
      <p:sp>
        <p:nvSpPr>
          <p:cNvPr id="343043" name="Rectangle 3"/>
          <p:cNvSpPr>
            <a:spLocks noGrp="1" noChangeArrowheads="1"/>
          </p:cNvSpPr>
          <p:nvPr>
            <p:ph type="body" idx="1"/>
          </p:nvPr>
        </p:nvSpPr>
        <p:spPr>
          <a:xfrm>
            <a:off x="542925" y="1356123"/>
            <a:ext cx="5238750" cy="3225403"/>
          </a:xfrm>
        </p:spPr>
        <p:txBody>
          <a:bodyPr>
            <a:normAutofit/>
          </a:bodyPr>
          <a:lstStyle/>
          <a:p>
            <a:r>
              <a:rPr lang="en-GB" sz="2800" dirty="0"/>
              <a:t>Now, if you ‘normalize’ the </a:t>
            </a:r>
            <a:r>
              <a:rPr lang="en-GB" sz="2800" b="1" i="1" dirty="0"/>
              <a:t>resultant</a:t>
            </a:r>
            <a:r>
              <a:rPr lang="en-GB" sz="2800" dirty="0"/>
              <a:t>, you get the </a:t>
            </a:r>
            <a:r>
              <a:rPr lang="en-GB" sz="2800" b="1" i="1" dirty="0"/>
              <a:t>average</a:t>
            </a:r>
            <a:r>
              <a:rPr lang="en-GB" sz="2800" dirty="0"/>
              <a:t> of all the vectors.</a:t>
            </a:r>
          </a:p>
          <a:p>
            <a:r>
              <a:rPr lang="en-GB" sz="2800" dirty="0"/>
              <a:t>Pretty neat, huh?</a:t>
            </a:r>
          </a:p>
        </p:txBody>
      </p:sp>
      <p:sp>
        <p:nvSpPr>
          <p:cNvPr id="34304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grpSp>
        <p:nvGrpSpPr>
          <p:cNvPr id="2" name="Group 26"/>
          <p:cNvGrpSpPr>
            <a:grpSpLocks/>
          </p:cNvGrpSpPr>
          <p:nvPr/>
        </p:nvGrpSpPr>
        <p:grpSpPr bwMode="auto">
          <a:xfrm>
            <a:off x="5389564" y="583407"/>
            <a:ext cx="2109787" cy="3846910"/>
            <a:chOff x="3395" y="490"/>
            <a:chExt cx="1329" cy="3231"/>
          </a:xfrm>
        </p:grpSpPr>
        <p:sp>
          <p:nvSpPr>
            <p:cNvPr id="343052" name="Oval 12"/>
            <p:cNvSpPr>
              <a:spLocks noChangeArrowheads="1"/>
            </p:cNvSpPr>
            <p:nvPr/>
          </p:nvSpPr>
          <p:spPr bwMode="auto">
            <a:xfrm>
              <a:off x="4064" y="3615"/>
              <a:ext cx="106" cy="106"/>
            </a:xfrm>
            <a:prstGeom prst="ellipse">
              <a:avLst/>
            </a:prstGeom>
            <a:solidFill>
              <a:srgbClr val="00B8FF"/>
            </a:solidFill>
            <a:ln w="9525">
              <a:solidFill>
                <a:schemeClr val="tx1"/>
              </a:solidFill>
              <a:round/>
              <a:headEnd/>
              <a:tailEnd/>
            </a:ln>
            <a:effectLst/>
          </p:spPr>
          <p:txBody>
            <a:bodyPr wrap="none" anchor="ctr"/>
            <a:lstStyle/>
            <a:p>
              <a:endParaRPr lang="en-CA"/>
            </a:p>
          </p:txBody>
        </p:sp>
        <p:sp>
          <p:nvSpPr>
            <p:cNvPr id="343053" name="Line 13"/>
            <p:cNvSpPr>
              <a:spLocks noChangeShapeType="1"/>
            </p:cNvSpPr>
            <p:nvPr/>
          </p:nvSpPr>
          <p:spPr bwMode="auto">
            <a:xfrm flipV="1">
              <a:off x="4114" y="2886"/>
              <a:ext cx="495" cy="776"/>
            </a:xfrm>
            <a:prstGeom prst="line">
              <a:avLst/>
            </a:prstGeom>
            <a:noFill/>
            <a:ln w="76200">
              <a:solidFill>
                <a:srgbClr val="FF0000"/>
              </a:solidFill>
              <a:round/>
              <a:headEnd/>
              <a:tailEnd type="stealth" w="lg" len="lg"/>
            </a:ln>
            <a:effectLst/>
          </p:spPr>
          <p:txBody>
            <a:bodyPr/>
            <a:lstStyle/>
            <a:p>
              <a:endParaRPr lang="en-CA"/>
            </a:p>
          </p:txBody>
        </p:sp>
        <p:sp>
          <p:nvSpPr>
            <p:cNvPr id="343054" name="Line 14"/>
            <p:cNvSpPr>
              <a:spLocks noChangeShapeType="1"/>
            </p:cNvSpPr>
            <p:nvPr/>
          </p:nvSpPr>
          <p:spPr bwMode="auto">
            <a:xfrm flipH="1" flipV="1">
              <a:off x="3688" y="2816"/>
              <a:ext cx="425" cy="852"/>
            </a:xfrm>
            <a:prstGeom prst="line">
              <a:avLst/>
            </a:prstGeom>
            <a:noFill/>
            <a:ln w="76200">
              <a:solidFill>
                <a:srgbClr val="FF0000"/>
              </a:solidFill>
              <a:round/>
              <a:headEnd/>
              <a:tailEnd type="stealth" w="lg" len="lg"/>
            </a:ln>
            <a:effectLst/>
          </p:spPr>
          <p:txBody>
            <a:bodyPr/>
            <a:lstStyle/>
            <a:p>
              <a:endParaRPr lang="en-CA"/>
            </a:p>
          </p:txBody>
        </p:sp>
        <p:sp>
          <p:nvSpPr>
            <p:cNvPr id="343055" name="Line 15"/>
            <p:cNvSpPr>
              <a:spLocks noChangeShapeType="1"/>
            </p:cNvSpPr>
            <p:nvPr/>
          </p:nvSpPr>
          <p:spPr bwMode="auto">
            <a:xfrm flipV="1">
              <a:off x="4118" y="2775"/>
              <a:ext cx="151" cy="873"/>
            </a:xfrm>
            <a:prstGeom prst="line">
              <a:avLst/>
            </a:prstGeom>
            <a:noFill/>
            <a:ln w="76200">
              <a:solidFill>
                <a:srgbClr val="FF0000"/>
              </a:solidFill>
              <a:round/>
              <a:headEnd/>
              <a:tailEnd type="stealth" w="lg" len="lg"/>
            </a:ln>
            <a:effectLst/>
          </p:spPr>
          <p:txBody>
            <a:bodyPr/>
            <a:lstStyle/>
            <a:p>
              <a:endParaRPr lang="en-CA"/>
            </a:p>
          </p:txBody>
        </p:sp>
        <p:sp>
          <p:nvSpPr>
            <p:cNvPr id="343056" name="Line 16"/>
            <p:cNvSpPr>
              <a:spLocks noChangeShapeType="1"/>
            </p:cNvSpPr>
            <p:nvPr/>
          </p:nvSpPr>
          <p:spPr bwMode="auto">
            <a:xfrm flipH="1" flipV="1">
              <a:off x="3395" y="3595"/>
              <a:ext cx="719" cy="53"/>
            </a:xfrm>
            <a:prstGeom prst="line">
              <a:avLst/>
            </a:prstGeom>
            <a:noFill/>
            <a:ln w="76200">
              <a:solidFill>
                <a:srgbClr val="FF0000"/>
              </a:solidFill>
              <a:round/>
              <a:headEnd/>
              <a:tailEnd type="stealth" w="lg" len="lg"/>
            </a:ln>
            <a:effectLst/>
          </p:spPr>
          <p:txBody>
            <a:bodyPr/>
            <a:lstStyle/>
            <a:p>
              <a:endParaRPr lang="en-CA"/>
            </a:p>
          </p:txBody>
        </p:sp>
        <p:sp>
          <p:nvSpPr>
            <p:cNvPr id="343057" name="Line 17"/>
            <p:cNvSpPr>
              <a:spLocks noChangeShapeType="1"/>
            </p:cNvSpPr>
            <p:nvPr/>
          </p:nvSpPr>
          <p:spPr bwMode="auto">
            <a:xfrm flipV="1">
              <a:off x="4123" y="2997"/>
              <a:ext cx="601" cy="651"/>
            </a:xfrm>
            <a:prstGeom prst="line">
              <a:avLst/>
            </a:prstGeom>
            <a:noFill/>
            <a:ln w="76200">
              <a:solidFill>
                <a:srgbClr val="FF0000"/>
              </a:solidFill>
              <a:round/>
              <a:headEnd/>
              <a:tailEnd type="stealth" w="lg" len="lg"/>
            </a:ln>
            <a:effectLst/>
          </p:spPr>
          <p:txBody>
            <a:bodyPr/>
            <a:lstStyle/>
            <a:p>
              <a:endParaRPr lang="en-CA"/>
            </a:p>
          </p:txBody>
        </p:sp>
        <p:sp>
          <p:nvSpPr>
            <p:cNvPr id="343058" name="Line 18"/>
            <p:cNvSpPr>
              <a:spLocks noChangeShapeType="1"/>
            </p:cNvSpPr>
            <p:nvPr/>
          </p:nvSpPr>
          <p:spPr bwMode="auto">
            <a:xfrm flipV="1">
              <a:off x="4112" y="490"/>
              <a:ext cx="106" cy="3162"/>
            </a:xfrm>
            <a:prstGeom prst="line">
              <a:avLst/>
            </a:prstGeom>
            <a:noFill/>
            <a:ln w="76200">
              <a:solidFill>
                <a:srgbClr val="FFFF00"/>
              </a:solidFill>
              <a:round/>
              <a:headEnd/>
              <a:tailEnd type="stealth" w="lg" len="lg"/>
            </a:ln>
            <a:effectLst/>
          </p:spPr>
          <p:txBody>
            <a:bodyPr/>
            <a:lstStyle/>
            <a:p>
              <a:endParaRPr lang="en-CA"/>
            </a:p>
          </p:txBody>
        </p:sp>
      </p:grpSp>
      <p:grpSp>
        <p:nvGrpSpPr>
          <p:cNvPr id="3" name="Group 28"/>
          <p:cNvGrpSpPr>
            <a:grpSpLocks/>
          </p:cNvGrpSpPr>
          <p:nvPr/>
        </p:nvGrpSpPr>
        <p:grpSpPr bwMode="auto">
          <a:xfrm>
            <a:off x="7034214" y="3303985"/>
            <a:ext cx="2109787" cy="1126331"/>
            <a:chOff x="4431" y="2775"/>
            <a:chExt cx="1329" cy="946"/>
          </a:xfrm>
        </p:grpSpPr>
        <p:sp>
          <p:nvSpPr>
            <p:cNvPr id="343059" name="Oval 19"/>
            <p:cNvSpPr>
              <a:spLocks noChangeArrowheads="1"/>
            </p:cNvSpPr>
            <p:nvPr/>
          </p:nvSpPr>
          <p:spPr bwMode="auto">
            <a:xfrm>
              <a:off x="5100" y="3615"/>
              <a:ext cx="106" cy="106"/>
            </a:xfrm>
            <a:prstGeom prst="ellipse">
              <a:avLst/>
            </a:prstGeom>
            <a:solidFill>
              <a:srgbClr val="00B8FF"/>
            </a:solidFill>
            <a:ln w="9525">
              <a:solidFill>
                <a:schemeClr val="tx1"/>
              </a:solidFill>
              <a:round/>
              <a:headEnd/>
              <a:tailEnd/>
            </a:ln>
            <a:effectLst/>
          </p:spPr>
          <p:txBody>
            <a:bodyPr wrap="none" anchor="ctr"/>
            <a:lstStyle/>
            <a:p>
              <a:endParaRPr lang="en-CA"/>
            </a:p>
          </p:txBody>
        </p:sp>
        <p:sp>
          <p:nvSpPr>
            <p:cNvPr id="343060" name="Line 20"/>
            <p:cNvSpPr>
              <a:spLocks noChangeShapeType="1"/>
            </p:cNvSpPr>
            <p:nvPr/>
          </p:nvSpPr>
          <p:spPr bwMode="auto">
            <a:xfrm flipV="1">
              <a:off x="5150" y="2886"/>
              <a:ext cx="495" cy="776"/>
            </a:xfrm>
            <a:prstGeom prst="line">
              <a:avLst/>
            </a:prstGeom>
            <a:noFill/>
            <a:ln w="76200">
              <a:solidFill>
                <a:srgbClr val="FF0000"/>
              </a:solidFill>
              <a:round/>
              <a:headEnd/>
              <a:tailEnd type="stealth" w="lg" len="lg"/>
            </a:ln>
            <a:effectLst/>
          </p:spPr>
          <p:txBody>
            <a:bodyPr/>
            <a:lstStyle/>
            <a:p>
              <a:endParaRPr lang="en-CA"/>
            </a:p>
          </p:txBody>
        </p:sp>
        <p:sp>
          <p:nvSpPr>
            <p:cNvPr id="343061" name="Line 21"/>
            <p:cNvSpPr>
              <a:spLocks noChangeShapeType="1"/>
            </p:cNvSpPr>
            <p:nvPr/>
          </p:nvSpPr>
          <p:spPr bwMode="auto">
            <a:xfrm flipH="1" flipV="1">
              <a:off x="4724" y="2816"/>
              <a:ext cx="425" cy="852"/>
            </a:xfrm>
            <a:prstGeom prst="line">
              <a:avLst/>
            </a:prstGeom>
            <a:noFill/>
            <a:ln w="76200">
              <a:solidFill>
                <a:srgbClr val="FF0000"/>
              </a:solidFill>
              <a:round/>
              <a:headEnd/>
              <a:tailEnd type="stealth" w="lg" len="lg"/>
            </a:ln>
            <a:effectLst/>
          </p:spPr>
          <p:txBody>
            <a:bodyPr/>
            <a:lstStyle/>
            <a:p>
              <a:endParaRPr lang="en-CA"/>
            </a:p>
          </p:txBody>
        </p:sp>
        <p:sp>
          <p:nvSpPr>
            <p:cNvPr id="343062" name="Line 22"/>
            <p:cNvSpPr>
              <a:spLocks noChangeShapeType="1"/>
            </p:cNvSpPr>
            <p:nvPr/>
          </p:nvSpPr>
          <p:spPr bwMode="auto">
            <a:xfrm flipV="1">
              <a:off x="5154" y="2775"/>
              <a:ext cx="151" cy="873"/>
            </a:xfrm>
            <a:prstGeom prst="line">
              <a:avLst/>
            </a:prstGeom>
            <a:noFill/>
            <a:ln w="76200">
              <a:solidFill>
                <a:srgbClr val="FF0000"/>
              </a:solidFill>
              <a:round/>
              <a:headEnd/>
              <a:tailEnd type="stealth" w="lg" len="lg"/>
            </a:ln>
            <a:effectLst/>
          </p:spPr>
          <p:txBody>
            <a:bodyPr/>
            <a:lstStyle/>
            <a:p>
              <a:endParaRPr lang="en-CA"/>
            </a:p>
          </p:txBody>
        </p:sp>
        <p:sp>
          <p:nvSpPr>
            <p:cNvPr id="343063" name="Line 23"/>
            <p:cNvSpPr>
              <a:spLocks noChangeShapeType="1"/>
            </p:cNvSpPr>
            <p:nvPr/>
          </p:nvSpPr>
          <p:spPr bwMode="auto">
            <a:xfrm flipH="1" flipV="1">
              <a:off x="4431" y="3595"/>
              <a:ext cx="719" cy="53"/>
            </a:xfrm>
            <a:prstGeom prst="line">
              <a:avLst/>
            </a:prstGeom>
            <a:noFill/>
            <a:ln w="76200">
              <a:solidFill>
                <a:srgbClr val="FF0000"/>
              </a:solidFill>
              <a:round/>
              <a:headEnd/>
              <a:tailEnd type="stealth" w="lg" len="lg"/>
            </a:ln>
            <a:effectLst/>
          </p:spPr>
          <p:txBody>
            <a:bodyPr/>
            <a:lstStyle/>
            <a:p>
              <a:endParaRPr lang="en-CA"/>
            </a:p>
          </p:txBody>
        </p:sp>
        <p:sp>
          <p:nvSpPr>
            <p:cNvPr id="343064" name="Line 24"/>
            <p:cNvSpPr>
              <a:spLocks noChangeShapeType="1"/>
            </p:cNvSpPr>
            <p:nvPr/>
          </p:nvSpPr>
          <p:spPr bwMode="auto">
            <a:xfrm flipV="1">
              <a:off x="5159" y="2997"/>
              <a:ext cx="601" cy="651"/>
            </a:xfrm>
            <a:prstGeom prst="line">
              <a:avLst/>
            </a:prstGeom>
            <a:noFill/>
            <a:ln w="76200">
              <a:solidFill>
                <a:srgbClr val="FF0000"/>
              </a:solidFill>
              <a:round/>
              <a:headEnd/>
              <a:tailEnd type="stealth" w="lg" len="lg"/>
            </a:ln>
            <a:effectLst/>
          </p:spPr>
          <p:txBody>
            <a:bodyPr/>
            <a:lstStyle/>
            <a:p>
              <a:endParaRPr lang="en-CA"/>
            </a:p>
          </p:txBody>
        </p:sp>
      </p:grpSp>
      <p:sp>
        <p:nvSpPr>
          <p:cNvPr id="343065" name="Line 25"/>
          <p:cNvSpPr>
            <a:spLocks noChangeShapeType="1"/>
          </p:cNvSpPr>
          <p:nvPr/>
        </p:nvSpPr>
        <p:spPr bwMode="auto">
          <a:xfrm flipV="1">
            <a:off x="8172451" y="3267075"/>
            <a:ext cx="47625" cy="1081088"/>
          </a:xfrm>
          <a:prstGeom prst="line">
            <a:avLst/>
          </a:prstGeom>
          <a:noFill/>
          <a:ln w="101600">
            <a:solidFill>
              <a:srgbClr val="FFFF00"/>
            </a:solidFill>
            <a:round/>
            <a:headEnd/>
            <a:tailEnd type="stealth" w="lg" len="lg"/>
          </a:ln>
          <a:effectLst/>
        </p:spPr>
        <p:txBody>
          <a:bodyPr/>
          <a:lstStyle/>
          <a:p>
            <a:endParaRPr lang="en-CA"/>
          </a:p>
        </p:txBody>
      </p:sp>
      <p:sp>
        <p:nvSpPr>
          <p:cNvPr id="343067" name="AutoShape 27"/>
          <p:cNvSpPr>
            <a:spLocks/>
          </p:cNvSpPr>
          <p:nvPr/>
        </p:nvSpPr>
        <p:spPr bwMode="auto">
          <a:xfrm>
            <a:off x="7059614" y="2066925"/>
            <a:ext cx="1876425" cy="626269"/>
          </a:xfrm>
          <a:prstGeom prst="borderCallout3">
            <a:avLst>
              <a:gd name="adj1" fmla="val 13690"/>
              <a:gd name="adj2" fmla="val 104060"/>
              <a:gd name="adj3" fmla="val 13690"/>
              <a:gd name="adj4" fmla="val 104907"/>
              <a:gd name="adj5" fmla="val 137833"/>
              <a:gd name="adj6" fmla="val 104907"/>
              <a:gd name="adj7" fmla="val 204944"/>
              <a:gd name="adj8" fmla="val 63366"/>
            </a:avLst>
          </a:prstGeom>
          <a:solidFill>
            <a:srgbClr val="00B8FF"/>
          </a:solidFill>
          <a:ln w="9525">
            <a:solidFill>
              <a:schemeClr val="tx1"/>
            </a:solidFill>
            <a:miter lim="800000"/>
            <a:headEnd/>
            <a:tailEnd type="stealth" w="lg" len="lg"/>
          </a:ln>
          <a:effectLst/>
        </p:spPr>
        <p:txBody>
          <a:bodyPr/>
          <a:lstStyle/>
          <a:p>
            <a:pPr algn="ctr"/>
            <a:r>
              <a:rPr lang="en-GB"/>
              <a:t>Normalized resultant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3043">
                                            <p:txEl>
                                              <p:pRg st="0" end="0"/>
                                            </p:txEl>
                                          </p:spTgt>
                                        </p:tgtEl>
                                        <p:attrNameLst>
                                          <p:attrName>style.visibility</p:attrName>
                                        </p:attrNameLst>
                                      </p:cBhvr>
                                      <p:to>
                                        <p:strVal val="visible"/>
                                      </p:to>
                                    </p:set>
                                    <p:anim calcmode="discrete" valueType="clr">
                                      <p:cBhvr override="childStyle">
                                        <p:cTn id="7" dur="80"/>
                                        <p:tgtEl>
                                          <p:spTgt spid="34304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304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304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heckerboard(across)">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heckerboard(across)">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343065"/>
                                        </p:tgtEl>
                                        <p:attrNameLst>
                                          <p:attrName>style.visibility</p:attrName>
                                        </p:attrNameLst>
                                      </p:cBhvr>
                                      <p:to>
                                        <p:strVal val="visible"/>
                                      </p:to>
                                    </p:set>
                                    <p:animEffect transition="in" filter="checkerboard(across)">
                                      <p:cBhvr>
                                        <p:cTn id="24" dur="500"/>
                                        <p:tgtEl>
                                          <p:spTgt spid="343065"/>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343067"/>
                                        </p:tgtEl>
                                        <p:attrNameLst>
                                          <p:attrName>style.visibility</p:attrName>
                                        </p:attrNameLst>
                                      </p:cBhvr>
                                      <p:to>
                                        <p:strVal val="visible"/>
                                      </p:to>
                                    </p:set>
                                    <p:animEffect transition="in" filter="checkerboard(across)">
                                      <p:cBhvr>
                                        <p:cTn id="29" dur="500"/>
                                        <p:tgtEl>
                                          <p:spTgt spid="343067"/>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grpId="0" nodeType="clickEffect">
                                  <p:stCondLst>
                                    <p:cond delay="0"/>
                                  </p:stCondLst>
                                  <p:iterate type="lt">
                                    <p:tmPct val="50000"/>
                                  </p:iterate>
                                  <p:childTnLst>
                                    <p:set>
                                      <p:cBhvr>
                                        <p:cTn id="33" dur="1" fill="hold">
                                          <p:stCondLst>
                                            <p:cond delay="0"/>
                                          </p:stCondLst>
                                        </p:cTn>
                                        <p:tgtEl>
                                          <p:spTgt spid="343043">
                                            <p:txEl>
                                              <p:pRg st="1" end="1"/>
                                            </p:txEl>
                                          </p:spTgt>
                                        </p:tgtEl>
                                        <p:attrNameLst>
                                          <p:attrName>style.visibility</p:attrName>
                                        </p:attrNameLst>
                                      </p:cBhvr>
                                      <p:to>
                                        <p:strVal val="visible"/>
                                      </p:to>
                                    </p:set>
                                    <p:anim calcmode="discrete" valueType="clr">
                                      <p:cBhvr override="childStyle">
                                        <p:cTn id="34" dur="80"/>
                                        <p:tgtEl>
                                          <p:spTgt spid="34304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343043">
                                            <p:txEl>
                                              <p:pRg st="1" end="1"/>
                                            </p:txEl>
                                          </p:spTgt>
                                        </p:tgtEl>
                                        <p:attrNameLst>
                                          <p:attrName>fillcolor</p:attrName>
                                        </p:attrNameLst>
                                      </p:cBhvr>
                                      <p:tavLst>
                                        <p:tav tm="0">
                                          <p:val>
                                            <p:clrVal>
                                              <a:schemeClr val="accent2"/>
                                            </p:clrVal>
                                          </p:val>
                                        </p:tav>
                                        <p:tav tm="50000">
                                          <p:val>
                                            <p:clrVal>
                                              <a:schemeClr val="hlink"/>
                                            </p:clrVal>
                                          </p:val>
                                        </p:tav>
                                      </p:tavLst>
                                    </p:anim>
                                    <p:set>
                                      <p:cBhvr>
                                        <p:cTn id="36" dur="80"/>
                                        <p:tgtEl>
                                          <p:spTgt spid="343043">
                                            <p:txEl>
                                              <p:pRg st="1" end="1"/>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43044"/>
                                        </p:tgtEl>
                                        <p:attrNameLst>
                                          <p:attrName>style.visibility</p:attrName>
                                        </p:attrNameLst>
                                      </p:cBhvr>
                                      <p:to>
                                        <p:strVal val="visible"/>
                                      </p:to>
                                    </p:set>
                                    <p:animEffect transition="in" filter="fade">
                                      <p:cBhvr>
                                        <p:cTn id="41" dur="500"/>
                                        <p:tgtEl>
                                          <p:spTgt spid="343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build="p"/>
      <p:bldP spid="343044" grpId="0" animBg="1"/>
      <p:bldP spid="343065" grpId="0" animBg="1"/>
      <p:bldP spid="34306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r>
              <a:rPr lang="en-GB" dirty="0"/>
              <a:t>Normal calculation </a:t>
            </a:r>
            <a:r>
              <a:rPr lang="en-GB" sz="3200" dirty="0"/>
              <a:t>(A better way)</a:t>
            </a:r>
          </a:p>
        </p:txBody>
      </p:sp>
      <p:sp>
        <p:nvSpPr>
          <p:cNvPr id="334851" name="Rectangle 3"/>
          <p:cNvSpPr>
            <a:spLocks noGrp="1" noChangeArrowheads="1"/>
          </p:cNvSpPr>
          <p:nvPr>
            <p:ph type="body" idx="1"/>
          </p:nvPr>
        </p:nvSpPr>
        <p:spPr>
          <a:xfrm>
            <a:off x="542926" y="1356122"/>
            <a:ext cx="8088313" cy="2223740"/>
          </a:xfrm>
        </p:spPr>
        <p:txBody>
          <a:bodyPr>
            <a:normAutofit/>
          </a:bodyPr>
          <a:lstStyle/>
          <a:p>
            <a:pPr>
              <a:lnSpc>
                <a:spcPct val="90000"/>
              </a:lnSpc>
            </a:pPr>
            <a:r>
              <a:rPr lang="en-GB" sz="3200" dirty="0"/>
              <a:t>The vertex normal is an average of all the face </a:t>
            </a:r>
            <a:r>
              <a:rPr lang="en-GB" sz="3200" dirty="0" err="1"/>
              <a:t>normals</a:t>
            </a:r>
            <a:r>
              <a:rPr lang="en-GB" sz="3200" dirty="0"/>
              <a:t> around it</a:t>
            </a:r>
          </a:p>
          <a:p>
            <a:pPr lvl="1">
              <a:lnSpc>
                <a:spcPct val="90000"/>
              </a:lnSpc>
            </a:pPr>
            <a:r>
              <a:rPr lang="en-GB" sz="2800" dirty="0"/>
              <a:t>You can </a:t>
            </a:r>
            <a:r>
              <a:rPr lang="en-GB" sz="2800" b="1" i="1" u="sng" dirty="0"/>
              <a:t>add</a:t>
            </a:r>
            <a:r>
              <a:rPr lang="en-GB" sz="2800" dirty="0"/>
              <a:t> all the </a:t>
            </a:r>
            <a:r>
              <a:rPr lang="en-GB" sz="2800" dirty="0" err="1"/>
              <a:t>normals</a:t>
            </a:r>
            <a:r>
              <a:rPr lang="en-GB" sz="2800" dirty="0"/>
              <a:t> up, then, at the end, take the average (“normalize”) them</a:t>
            </a:r>
          </a:p>
        </p:txBody>
      </p:sp>
      <p:sp>
        <p:nvSpPr>
          <p:cNvPr id="33485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4851">
                                            <p:txEl>
                                              <p:pRg st="0" end="0"/>
                                            </p:txEl>
                                          </p:spTgt>
                                        </p:tgtEl>
                                        <p:attrNameLst>
                                          <p:attrName>style.visibility</p:attrName>
                                        </p:attrNameLst>
                                      </p:cBhvr>
                                      <p:to>
                                        <p:strVal val="visible"/>
                                      </p:to>
                                    </p:set>
                                    <p:anim calcmode="discrete" valueType="clr">
                                      <p:cBhvr override="childStyle">
                                        <p:cTn id="7" dur="80"/>
                                        <p:tgtEl>
                                          <p:spTgt spid="33485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485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34851">
                                            <p:txEl>
                                              <p:pRg st="0" end="0"/>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334851">
                                            <p:txEl>
                                              <p:pRg st="1" end="1"/>
                                            </p:txEl>
                                          </p:spTgt>
                                        </p:tgtEl>
                                        <p:attrNameLst>
                                          <p:attrName>style.visibility</p:attrName>
                                        </p:attrNameLst>
                                      </p:cBhvr>
                                      <p:to>
                                        <p:strVal val="visible"/>
                                      </p:to>
                                    </p:set>
                                    <p:anim calcmode="discrete" valueType="clr">
                                      <p:cBhvr override="childStyle">
                                        <p:cTn id="12" dur="80"/>
                                        <p:tgtEl>
                                          <p:spTgt spid="33485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34851">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334851">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4852"/>
                                        </p:tgtEl>
                                        <p:attrNameLst>
                                          <p:attrName>style.visibility</p:attrName>
                                        </p:attrNameLst>
                                      </p:cBhvr>
                                      <p:to>
                                        <p:strVal val="visible"/>
                                      </p:to>
                                    </p:set>
                                    <p:animEffect transition="in" filter="fade">
                                      <p:cBhvr>
                                        <p:cTn id="19" dur="500"/>
                                        <p:tgtEl>
                                          <p:spTgt spid="334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uild="p"/>
      <p:bldP spid="33485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948" name="Picture 4"/>
          <p:cNvPicPr>
            <a:picLocks noChangeAspect="1" noChangeArrowheads="1"/>
          </p:cNvPicPr>
          <p:nvPr/>
        </p:nvPicPr>
        <p:blipFill>
          <a:blip r:embed="rId2" cstate="print"/>
          <a:stretch>
            <a:fillRect/>
          </a:stretch>
        </p:blipFill>
        <p:spPr bwMode="auto">
          <a:xfrm>
            <a:off x="2699792" y="267494"/>
            <a:ext cx="5976664" cy="4482498"/>
          </a:xfrm>
          <a:prstGeom prst="rect">
            <a:avLst/>
          </a:prstGeom>
          <a:noFill/>
          <a:ln>
            <a:noFill/>
          </a:ln>
        </p:spPr>
      </p:pic>
      <p:sp>
        <p:nvSpPr>
          <p:cNvPr id="338949" name="AutoShape 5"/>
          <p:cNvSpPr>
            <a:spLocks noChangeArrowheads="1"/>
          </p:cNvSpPr>
          <p:nvPr/>
        </p:nvSpPr>
        <p:spPr bwMode="auto">
          <a:xfrm>
            <a:off x="195263" y="213123"/>
            <a:ext cx="5365750" cy="611981"/>
          </a:xfrm>
          <a:prstGeom prst="roundRect">
            <a:avLst>
              <a:gd name="adj" fmla="val 16667"/>
            </a:avLst>
          </a:prstGeom>
          <a:solidFill>
            <a:srgbClr val="00B8FF"/>
          </a:solidFill>
          <a:ln w="76200">
            <a:solidFill>
              <a:srgbClr val="FF0000"/>
            </a:solidFill>
            <a:round/>
            <a:headEnd/>
            <a:tailEnd/>
          </a:ln>
          <a:effectLst/>
        </p:spPr>
        <p:txBody>
          <a:bodyPr anchor="ctr"/>
          <a:lstStyle/>
          <a:p>
            <a:pPr algn="ctr"/>
            <a:r>
              <a:rPr lang="en-GB" sz="2800" i="1">
                <a:latin typeface="Tahoma" pitchFamily="34" charset="0"/>
              </a:rPr>
              <a:t>It’s…it’s…so beautiful…</a:t>
            </a:r>
            <a:endParaRPr lang="en-GB" sz="2800" i="1" u="sng">
              <a:latin typeface="Tahoma" pitchFamily="34" charset="0"/>
            </a:endParaRPr>
          </a:p>
        </p:txBody>
      </p:sp>
      <p:pic>
        <p:nvPicPr>
          <p:cNvPr id="338951" name="Picture 7" descr="will_ferrell_zoolander_004"/>
          <p:cNvPicPr>
            <a:picLocks noChangeAspect="1" noChangeArrowheads="1"/>
          </p:cNvPicPr>
          <p:nvPr/>
        </p:nvPicPr>
        <p:blipFill>
          <a:blip r:embed="rId3" cstate="print"/>
          <a:srcRect l="2806" r="33499"/>
          <a:stretch>
            <a:fillRect/>
          </a:stretch>
        </p:blipFill>
        <p:spPr bwMode="auto">
          <a:xfrm>
            <a:off x="755576" y="915566"/>
            <a:ext cx="2160240" cy="2388145"/>
          </a:xfrm>
          <a:prstGeom prst="rect">
            <a:avLst/>
          </a:prstGeom>
          <a:noFill/>
          <a:ln>
            <a:noFill/>
          </a:ln>
        </p:spPr>
      </p:pic>
      <p:sp>
        <p:nvSpPr>
          <p:cNvPr id="338952" name="AutoShape 8"/>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38949"/>
                                        </p:tgtEl>
                                        <p:attrNameLst>
                                          <p:attrName>style.visibility</p:attrName>
                                        </p:attrNameLst>
                                      </p:cBhvr>
                                      <p:to>
                                        <p:strVal val="visible"/>
                                      </p:to>
                                    </p:set>
                                    <p:anim calcmode="discrete" valueType="clr">
                                      <p:cBhvr override="childStyle">
                                        <p:cTn id="7" dur="80"/>
                                        <p:tgtEl>
                                          <p:spTgt spid="338949"/>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38949"/>
                                        </p:tgtEl>
                                        <p:attrNameLst>
                                          <p:attrName>fillcolor</p:attrName>
                                        </p:attrNameLst>
                                      </p:cBhvr>
                                      <p:tavLst>
                                        <p:tav tm="0">
                                          <p:val>
                                            <p:clrVal>
                                              <a:schemeClr val="accent2"/>
                                            </p:clrVal>
                                          </p:val>
                                        </p:tav>
                                        <p:tav tm="50000">
                                          <p:val>
                                            <p:clrVal>
                                              <a:schemeClr val="hlink"/>
                                            </p:clrVal>
                                          </p:val>
                                        </p:tav>
                                      </p:tavLst>
                                    </p:anim>
                                    <p:set>
                                      <p:cBhvr>
                                        <p:cTn id="9" dur="80"/>
                                        <p:tgtEl>
                                          <p:spTgt spid="338949"/>
                                        </p:tgtEl>
                                        <p:attrNameLst>
                                          <p:attrName>fill.type</p:attrName>
                                        </p:attrNameLst>
                                      </p:cBhvr>
                                      <p:to>
                                        <p:strVal val="solid"/>
                                      </p:to>
                                    </p:set>
                                  </p:childTnLst>
                                </p:cTn>
                              </p:par>
                            </p:childTnLst>
                          </p:cTn>
                        </p:par>
                        <p:par>
                          <p:cTn id="10" fill="hold">
                            <p:stCondLst>
                              <p:cond delay="920"/>
                            </p:stCondLst>
                            <p:childTnLst>
                              <p:par>
                                <p:cTn id="11" presetID="39" presetClass="entr" presetSubtype="0" accel="100000" fill="hold" nodeType="afterEffect">
                                  <p:stCondLst>
                                    <p:cond delay="0"/>
                                  </p:stCondLst>
                                  <p:childTnLst>
                                    <p:set>
                                      <p:cBhvr>
                                        <p:cTn id="12" dur="1" fill="hold">
                                          <p:stCondLst>
                                            <p:cond delay="0"/>
                                          </p:stCondLst>
                                        </p:cTn>
                                        <p:tgtEl>
                                          <p:spTgt spid="338951"/>
                                        </p:tgtEl>
                                        <p:attrNameLst>
                                          <p:attrName>style.visibility</p:attrName>
                                        </p:attrNameLst>
                                      </p:cBhvr>
                                      <p:to>
                                        <p:strVal val="visible"/>
                                      </p:to>
                                    </p:set>
                                    <p:anim calcmode="lin" valueType="num">
                                      <p:cBhvr>
                                        <p:cTn id="13" dur="500" fill="hold"/>
                                        <p:tgtEl>
                                          <p:spTgt spid="338951"/>
                                        </p:tgtEl>
                                        <p:attrNameLst>
                                          <p:attrName>ppt_h</p:attrName>
                                        </p:attrNameLst>
                                      </p:cBhvr>
                                      <p:tavLst>
                                        <p:tav tm="0">
                                          <p:val>
                                            <p:strVal val="#ppt_h/20"/>
                                          </p:val>
                                        </p:tav>
                                        <p:tav tm="50000">
                                          <p:val>
                                            <p:strVal val="#ppt_h/20"/>
                                          </p:val>
                                        </p:tav>
                                        <p:tav tm="100000">
                                          <p:val>
                                            <p:strVal val="#ppt_h"/>
                                          </p:val>
                                        </p:tav>
                                      </p:tavLst>
                                    </p:anim>
                                    <p:anim calcmode="lin" valueType="num">
                                      <p:cBhvr>
                                        <p:cTn id="14" dur="500" fill="hold"/>
                                        <p:tgtEl>
                                          <p:spTgt spid="338951"/>
                                        </p:tgtEl>
                                        <p:attrNameLst>
                                          <p:attrName>ppt_w</p:attrName>
                                        </p:attrNameLst>
                                      </p:cBhvr>
                                      <p:tavLst>
                                        <p:tav tm="0">
                                          <p:val>
                                            <p:strVal val="#ppt_w+.3"/>
                                          </p:val>
                                        </p:tav>
                                        <p:tav tm="50000">
                                          <p:val>
                                            <p:strVal val="#ppt_w+.3"/>
                                          </p:val>
                                        </p:tav>
                                        <p:tav tm="100000">
                                          <p:val>
                                            <p:strVal val="#ppt_w"/>
                                          </p:val>
                                        </p:tav>
                                      </p:tavLst>
                                    </p:anim>
                                    <p:anim calcmode="lin" valueType="num">
                                      <p:cBhvr>
                                        <p:cTn id="15" dur="500" fill="hold"/>
                                        <p:tgtEl>
                                          <p:spTgt spid="338951"/>
                                        </p:tgtEl>
                                        <p:attrNameLst>
                                          <p:attrName>ppt_x</p:attrName>
                                        </p:attrNameLst>
                                      </p:cBhvr>
                                      <p:tavLst>
                                        <p:tav tm="0">
                                          <p:val>
                                            <p:strVal val="#ppt_x-.3"/>
                                          </p:val>
                                        </p:tav>
                                        <p:tav tm="50000">
                                          <p:val>
                                            <p:strVal val="#ppt_x"/>
                                          </p:val>
                                        </p:tav>
                                        <p:tav tm="100000">
                                          <p:val>
                                            <p:strVal val="#ppt_x"/>
                                          </p:val>
                                        </p:tav>
                                      </p:tavLst>
                                    </p:anim>
                                    <p:anim calcmode="lin" valueType="num">
                                      <p:cBhvr>
                                        <p:cTn id="16" dur="500" fill="hold"/>
                                        <p:tgtEl>
                                          <p:spTgt spid="338951"/>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4" presetClass="exit" presetSubtype="0" fill="hold" nodeType="clickEffect">
                                  <p:stCondLst>
                                    <p:cond delay="0"/>
                                  </p:stCondLst>
                                  <p:childTnLst>
                                    <p:anim from="(ppt_x)" to="(ppt_x+1)" calcmode="lin" valueType="num">
                                      <p:cBhvr>
                                        <p:cTn id="20" dur="1000">
                                          <p:stCondLst>
                                            <p:cond delay="0"/>
                                          </p:stCondLst>
                                        </p:cTn>
                                        <p:tgtEl>
                                          <p:spTgt spid="338951"/>
                                        </p:tgtEl>
                                        <p:attrNameLst>
                                          <p:attrName>ppt_x</p:attrName>
                                        </p:attrNameLst>
                                      </p:cBhvr>
                                    </p:anim>
                                    <p:anim from="0" to="-1.0" calcmode="lin" valueType="num">
                                      <p:cBhvr>
                                        <p:cTn id="21" dur="200" accel="50000">
                                          <p:stCondLst>
                                            <p:cond delay="0"/>
                                          </p:stCondLst>
                                        </p:cTn>
                                        <p:tgtEl>
                                          <p:spTgt spid="338951"/>
                                        </p:tgtEl>
                                        <p:attrNameLst>
                                          <p:attrName>xshear</p:attrName>
                                        </p:attrNameLst>
                                      </p:cBhvr>
                                    </p:anim>
                                    <p:set>
                                      <p:cBhvr>
                                        <p:cTn id="22" dur="800">
                                          <p:stCondLst>
                                            <p:cond delay="200"/>
                                          </p:stCondLst>
                                        </p:cTn>
                                        <p:tgtEl>
                                          <p:spTgt spid="338951"/>
                                        </p:tgtEl>
                                        <p:attrNameLst>
                                          <p:attrName>xshear</p:attrName>
                                        </p:attrNameLst>
                                      </p:cBhvr>
                                      <p:to>
                                        <p:strVal val="-1.0"/>
                                      </p:to>
                                    </p:set>
                                    <p:set>
                                      <p:cBhvr>
                                        <p:cTn id="23" dur="1" fill="hold">
                                          <p:stCondLst>
                                            <p:cond delay="999"/>
                                          </p:stCondLst>
                                        </p:cTn>
                                        <p:tgtEl>
                                          <p:spTgt spid="33895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38952"/>
                                        </p:tgtEl>
                                        <p:attrNameLst>
                                          <p:attrName>style.visibility</p:attrName>
                                        </p:attrNameLst>
                                      </p:cBhvr>
                                      <p:to>
                                        <p:strVal val="visible"/>
                                      </p:to>
                                    </p:set>
                                    <p:animEffect transition="in" filter="fade">
                                      <p:cBhvr>
                                        <p:cTn id="28" dur="500"/>
                                        <p:tgtEl>
                                          <p:spTgt spid="338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9" grpId="0" animBg="1"/>
      <p:bldP spid="33895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r>
              <a:rPr lang="en-GB"/>
              <a:t>Shading</a:t>
            </a:r>
            <a:endParaRPr lang="en-GB" sz="4000"/>
          </a:p>
        </p:txBody>
      </p:sp>
      <p:sp>
        <p:nvSpPr>
          <p:cNvPr id="344067" name="Rectangle 3"/>
          <p:cNvSpPr>
            <a:spLocks noGrp="1" noChangeArrowheads="1"/>
          </p:cNvSpPr>
          <p:nvPr>
            <p:ph type="body" idx="1"/>
          </p:nvPr>
        </p:nvSpPr>
        <p:spPr>
          <a:xfrm>
            <a:off x="539552" y="1203598"/>
            <a:ext cx="8088313" cy="3225403"/>
          </a:xfrm>
        </p:spPr>
        <p:txBody>
          <a:bodyPr>
            <a:normAutofit/>
          </a:bodyPr>
          <a:lstStyle/>
          <a:p>
            <a:r>
              <a:rPr lang="en-GB" sz="2400" dirty="0"/>
              <a:t>The ‘shading model’ is how the insides of the triangles are drawn. </a:t>
            </a:r>
          </a:p>
          <a:p>
            <a:r>
              <a:rPr lang="en-GB" sz="2400" dirty="0"/>
              <a:t>More specifically, what type of mathematical trickery is being done to give the illusion that there is a surface</a:t>
            </a:r>
          </a:p>
          <a:p>
            <a:r>
              <a:rPr lang="en-GB" sz="2400" dirty="0"/>
              <a:t>Three common “classic” ones are:</a:t>
            </a:r>
          </a:p>
          <a:p>
            <a:pPr lvl="1"/>
            <a:r>
              <a:rPr lang="en-GB" sz="2800" i="1" dirty="0"/>
              <a:t>Flat</a:t>
            </a:r>
            <a:r>
              <a:rPr lang="en-GB" sz="2800" dirty="0"/>
              <a:t>, </a:t>
            </a:r>
            <a:r>
              <a:rPr lang="en-US" sz="2800" i="1" dirty="0" err="1"/>
              <a:t>Gouraud</a:t>
            </a:r>
            <a:r>
              <a:rPr lang="en-US" sz="2800" dirty="0"/>
              <a:t>, and </a:t>
            </a:r>
            <a:r>
              <a:rPr lang="en-US" sz="2800" i="1" dirty="0" err="1"/>
              <a:t>Phong</a:t>
            </a:r>
            <a:r>
              <a:rPr lang="en-GB" sz="2800" dirty="0"/>
              <a:t>, or</a:t>
            </a:r>
          </a:p>
          <a:p>
            <a:pPr lvl="1"/>
            <a:r>
              <a:rPr lang="en-GB" sz="2800" dirty="0"/>
              <a:t>Flat, Per Vertex, and Per Pixel</a:t>
            </a:r>
            <a:endParaRPr lang="en-US" sz="2800" dirty="0"/>
          </a:p>
        </p:txBody>
      </p:sp>
      <p:sp>
        <p:nvSpPr>
          <p:cNvPr id="344068"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4067">
                                            <p:txEl>
                                              <p:pRg st="0" end="0"/>
                                            </p:txEl>
                                          </p:spTgt>
                                        </p:tgtEl>
                                        <p:attrNameLst>
                                          <p:attrName>style.visibility</p:attrName>
                                        </p:attrNameLst>
                                      </p:cBhvr>
                                      <p:to>
                                        <p:strVal val="visible"/>
                                      </p:to>
                                    </p:set>
                                    <p:anim calcmode="discrete" valueType="clr">
                                      <p:cBhvr override="childStyle">
                                        <p:cTn id="7" dur="80"/>
                                        <p:tgtEl>
                                          <p:spTgt spid="34406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406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406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4067">
                                            <p:txEl>
                                              <p:pRg st="1" end="1"/>
                                            </p:txEl>
                                          </p:spTgt>
                                        </p:tgtEl>
                                        <p:attrNameLst>
                                          <p:attrName>style.visibility</p:attrName>
                                        </p:attrNameLst>
                                      </p:cBhvr>
                                      <p:to>
                                        <p:strVal val="visible"/>
                                      </p:to>
                                    </p:set>
                                    <p:anim calcmode="discrete" valueType="clr">
                                      <p:cBhvr override="childStyle">
                                        <p:cTn id="14" dur="80"/>
                                        <p:tgtEl>
                                          <p:spTgt spid="34406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406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406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44067">
                                            <p:txEl>
                                              <p:pRg st="2" end="2"/>
                                            </p:txEl>
                                          </p:spTgt>
                                        </p:tgtEl>
                                        <p:attrNameLst>
                                          <p:attrName>style.visibility</p:attrName>
                                        </p:attrNameLst>
                                      </p:cBhvr>
                                      <p:to>
                                        <p:strVal val="visible"/>
                                      </p:to>
                                    </p:set>
                                    <p:anim calcmode="discrete" valueType="clr">
                                      <p:cBhvr override="childStyle">
                                        <p:cTn id="21" dur="80"/>
                                        <p:tgtEl>
                                          <p:spTgt spid="34406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4406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4406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344067">
                                            <p:txEl>
                                              <p:pRg st="3" end="3"/>
                                            </p:txEl>
                                          </p:spTgt>
                                        </p:tgtEl>
                                        <p:attrNameLst>
                                          <p:attrName>style.visibility</p:attrName>
                                        </p:attrNameLst>
                                      </p:cBhvr>
                                      <p:to>
                                        <p:strVal val="visible"/>
                                      </p:to>
                                    </p:set>
                                    <p:anim calcmode="discrete" valueType="clr">
                                      <p:cBhvr override="childStyle">
                                        <p:cTn id="28" dur="80"/>
                                        <p:tgtEl>
                                          <p:spTgt spid="34406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44067">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344067">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344067">
                                            <p:txEl>
                                              <p:pRg st="4" end="4"/>
                                            </p:txEl>
                                          </p:spTgt>
                                        </p:tgtEl>
                                        <p:attrNameLst>
                                          <p:attrName>style.visibility</p:attrName>
                                        </p:attrNameLst>
                                      </p:cBhvr>
                                      <p:to>
                                        <p:strVal val="visible"/>
                                      </p:to>
                                    </p:set>
                                    <p:anim calcmode="discrete" valueType="clr">
                                      <p:cBhvr override="childStyle">
                                        <p:cTn id="35" dur="80"/>
                                        <p:tgtEl>
                                          <p:spTgt spid="34406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344067">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344067">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4068"/>
                                        </p:tgtEl>
                                        <p:attrNameLst>
                                          <p:attrName>style.visibility</p:attrName>
                                        </p:attrNameLst>
                                      </p:cBhvr>
                                      <p:to>
                                        <p:strVal val="visible"/>
                                      </p:to>
                                    </p:set>
                                    <p:animEffect transition="in" filter="fade">
                                      <p:cBhvr>
                                        <p:cTn id="42" dur="500"/>
                                        <p:tgtEl>
                                          <p:spTgt spid="344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uiExpand="1" build="p"/>
      <p:bldP spid="34406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lstStyle/>
          <a:p>
            <a:r>
              <a:rPr lang="en-GB"/>
              <a:t>Flat</a:t>
            </a:r>
            <a:endParaRPr lang="en-GB" sz="4000"/>
          </a:p>
        </p:txBody>
      </p:sp>
      <p:sp>
        <p:nvSpPr>
          <p:cNvPr id="345091" name="Rectangle 3"/>
          <p:cNvSpPr>
            <a:spLocks noGrp="1" noChangeArrowheads="1"/>
          </p:cNvSpPr>
          <p:nvPr>
            <p:ph type="body" idx="1"/>
          </p:nvPr>
        </p:nvSpPr>
        <p:spPr>
          <a:xfrm>
            <a:off x="539552" y="1131590"/>
            <a:ext cx="8088313" cy="3600400"/>
          </a:xfrm>
        </p:spPr>
        <p:txBody>
          <a:bodyPr>
            <a:normAutofit/>
          </a:bodyPr>
          <a:lstStyle/>
          <a:p>
            <a:pPr>
              <a:lnSpc>
                <a:spcPct val="80000"/>
              </a:lnSpc>
            </a:pPr>
            <a:r>
              <a:rPr lang="en-GB" sz="2400" dirty="0"/>
              <a:t>Before a line of pixels is being drawn inside of a triangle, the normal for the face (used for lighting) is calculated based on the average of its </a:t>
            </a:r>
            <a:r>
              <a:rPr lang="en-GB" sz="2400" dirty="0" err="1"/>
              <a:t>normals</a:t>
            </a:r>
            <a:endParaRPr lang="en-GB" sz="2400" dirty="0"/>
          </a:p>
          <a:p>
            <a:pPr>
              <a:lnSpc>
                <a:spcPct val="80000"/>
              </a:lnSpc>
            </a:pPr>
            <a:r>
              <a:rPr lang="en-GB" sz="2400" dirty="0"/>
              <a:t>i.e. we get back to a ‘face’ normal</a:t>
            </a:r>
          </a:p>
          <a:p>
            <a:pPr>
              <a:lnSpc>
                <a:spcPct val="80000"/>
              </a:lnSpc>
            </a:pPr>
            <a:r>
              <a:rPr lang="en-GB" sz="2400" dirty="0"/>
              <a:t>The lighting is calculated and a colour is chosen. </a:t>
            </a:r>
          </a:p>
          <a:p>
            <a:pPr>
              <a:lnSpc>
                <a:spcPct val="80000"/>
              </a:lnSpc>
            </a:pPr>
            <a:r>
              <a:rPr lang="en-GB" sz="2400" dirty="0"/>
              <a:t>Then the entire face is drawn in that colour.</a:t>
            </a:r>
          </a:p>
          <a:p>
            <a:pPr>
              <a:lnSpc>
                <a:spcPct val="80000"/>
              </a:lnSpc>
            </a:pPr>
            <a:r>
              <a:rPr lang="en-GB" sz="2400" dirty="0"/>
              <a:t>Pro: Very, very fast</a:t>
            </a:r>
          </a:p>
          <a:p>
            <a:pPr>
              <a:lnSpc>
                <a:spcPct val="80000"/>
              </a:lnSpc>
            </a:pPr>
            <a:r>
              <a:rPr lang="en-GB" sz="2400" dirty="0"/>
              <a:t>Con: Looks, well, flat.</a:t>
            </a:r>
          </a:p>
          <a:p>
            <a:pPr>
              <a:lnSpc>
                <a:spcPct val="80000"/>
              </a:lnSpc>
            </a:pPr>
            <a:r>
              <a:rPr lang="en-GB" sz="2400" dirty="0"/>
              <a:t>NOTE: With a programmable </a:t>
            </a:r>
            <a:r>
              <a:rPr lang="en-GB" sz="2400" dirty="0" err="1"/>
              <a:t>shader</a:t>
            </a:r>
            <a:r>
              <a:rPr lang="en-GB" sz="2400" dirty="0"/>
              <a:t>, you would have to </a:t>
            </a:r>
            <a:r>
              <a:rPr lang="en-GB" sz="2400" u="sng" dirty="0"/>
              <a:t>add vertices</a:t>
            </a:r>
            <a:r>
              <a:rPr lang="en-GB" sz="2400" dirty="0"/>
              <a:t> to get this same effect.</a:t>
            </a:r>
          </a:p>
        </p:txBody>
      </p:sp>
      <p:sp>
        <p:nvSpPr>
          <p:cNvPr id="345092"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5091">
                                            <p:txEl>
                                              <p:pRg st="0" end="0"/>
                                            </p:txEl>
                                          </p:spTgt>
                                        </p:tgtEl>
                                        <p:attrNameLst>
                                          <p:attrName>style.visibility</p:attrName>
                                        </p:attrNameLst>
                                      </p:cBhvr>
                                      <p:to>
                                        <p:strVal val="visible"/>
                                      </p:to>
                                    </p:set>
                                    <p:anim calcmode="discrete" valueType="clr">
                                      <p:cBhvr override="childStyle">
                                        <p:cTn id="7" dur="80"/>
                                        <p:tgtEl>
                                          <p:spTgt spid="34509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509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509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5091">
                                            <p:txEl>
                                              <p:pRg st="1" end="1"/>
                                            </p:txEl>
                                          </p:spTgt>
                                        </p:tgtEl>
                                        <p:attrNameLst>
                                          <p:attrName>style.visibility</p:attrName>
                                        </p:attrNameLst>
                                      </p:cBhvr>
                                      <p:to>
                                        <p:strVal val="visible"/>
                                      </p:to>
                                    </p:set>
                                    <p:anim calcmode="discrete" valueType="clr">
                                      <p:cBhvr override="childStyle">
                                        <p:cTn id="14" dur="80"/>
                                        <p:tgtEl>
                                          <p:spTgt spid="34509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5091">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5091">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45091">
                                            <p:txEl>
                                              <p:pRg st="2" end="2"/>
                                            </p:txEl>
                                          </p:spTgt>
                                        </p:tgtEl>
                                        <p:attrNameLst>
                                          <p:attrName>style.visibility</p:attrName>
                                        </p:attrNameLst>
                                      </p:cBhvr>
                                      <p:to>
                                        <p:strVal val="visible"/>
                                      </p:to>
                                    </p:set>
                                    <p:anim calcmode="discrete" valueType="clr">
                                      <p:cBhvr override="childStyle">
                                        <p:cTn id="21" dur="80"/>
                                        <p:tgtEl>
                                          <p:spTgt spid="34509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45091">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45091">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345091">
                                            <p:txEl>
                                              <p:pRg st="3" end="3"/>
                                            </p:txEl>
                                          </p:spTgt>
                                        </p:tgtEl>
                                        <p:attrNameLst>
                                          <p:attrName>style.visibility</p:attrName>
                                        </p:attrNameLst>
                                      </p:cBhvr>
                                      <p:to>
                                        <p:strVal val="visible"/>
                                      </p:to>
                                    </p:set>
                                    <p:anim calcmode="discrete" valueType="clr">
                                      <p:cBhvr override="childStyle">
                                        <p:cTn id="28" dur="80"/>
                                        <p:tgtEl>
                                          <p:spTgt spid="34509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45091">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345091">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345091">
                                            <p:txEl>
                                              <p:pRg st="4" end="4"/>
                                            </p:txEl>
                                          </p:spTgt>
                                        </p:tgtEl>
                                        <p:attrNameLst>
                                          <p:attrName>style.visibility</p:attrName>
                                        </p:attrNameLst>
                                      </p:cBhvr>
                                      <p:to>
                                        <p:strVal val="visible"/>
                                      </p:to>
                                    </p:set>
                                    <p:anim calcmode="discrete" valueType="clr">
                                      <p:cBhvr override="childStyle">
                                        <p:cTn id="35" dur="80"/>
                                        <p:tgtEl>
                                          <p:spTgt spid="34509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345091">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345091">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345091">
                                            <p:txEl>
                                              <p:pRg st="5" end="5"/>
                                            </p:txEl>
                                          </p:spTgt>
                                        </p:tgtEl>
                                        <p:attrNameLst>
                                          <p:attrName>style.visibility</p:attrName>
                                        </p:attrNameLst>
                                      </p:cBhvr>
                                      <p:to>
                                        <p:strVal val="visible"/>
                                      </p:to>
                                    </p:set>
                                    <p:anim calcmode="discrete" valueType="clr">
                                      <p:cBhvr override="childStyle">
                                        <p:cTn id="42" dur="80"/>
                                        <p:tgtEl>
                                          <p:spTgt spid="34509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345091">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345091">
                                            <p:txEl>
                                              <p:pRg st="5" end="5"/>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345091">
                                            <p:txEl>
                                              <p:pRg st="6" end="6"/>
                                            </p:txEl>
                                          </p:spTgt>
                                        </p:tgtEl>
                                        <p:attrNameLst>
                                          <p:attrName>style.visibility</p:attrName>
                                        </p:attrNameLst>
                                      </p:cBhvr>
                                      <p:to>
                                        <p:strVal val="visible"/>
                                      </p:to>
                                    </p:set>
                                    <p:anim calcmode="discrete" valueType="clr">
                                      <p:cBhvr override="childStyle">
                                        <p:cTn id="49" dur="80"/>
                                        <p:tgtEl>
                                          <p:spTgt spid="345091">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345091">
                                            <p:txEl>
                                              <p:pRg st="6" end="6"/>
                                            </p:txEl>
                                          </p:spTgt>
                                        </p:tgtEl>
                                        <p:attrNameLst>
                                          <p:attrName>fillcolor</p:attrName>
                                        </p:attrNameLst>
                                      </p:cBhvr>
                                      <p:tavLst>
                                        <p:tav tm="0">
                                          <p:val>
                                            <p:clrVal>
                                              <a:schemeClr val="accent2"/>
                                            </p:clrVal>
                                          </p:val>
                                        </p:tav>
                                        <p:tav tm="50000">
                                          <p:val>
                                            <p:clrVal>
                                              <a:schemeClr val="hlink"/>
                                            </p:clrVal>
                                          </p:val>
                                        </p:tav>
                                      </p:tavLst>
                                    </p:anim>
                                    <p:set>
                                      <p:cBhvr>
                                        <p:cTn id="51" dur="80"/>
                                        <p:tgtEl>
                                          <p:spTgt spid="345091">
                                            <p:txEl>
                                              <p:pRg st="6" end="6"/>
                                            </p:txEl>
                                          </p:spTgt>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45092"/>
                                        </p:tgtEl>
                                        <p:attrNameLst>
                                          <p:attrName>style.visibility</p:attrName>
                                        </p:attrNameLst>
                                      </p:cBhvr>
                                      <p:to>
                                        <p:strVal val="visible"/>
                                      </p:to>
                                    </p:set>
                                    <p:animEffect transition="in" filter="fade">
                                      <p:cBhvr>
                                        <p:cTn id="56" dur="500"/>
                                        <p:tgtEl>
                                          <p:spTgt spid="34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p:bldP spid="34509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en-GB" dirty="0" err="1"/>
              <a:t>Gouraud</a:t>
            </a:r>
            <a:endParaRPr lang="en-GB" dirty="0"/>
          </a:p>
        </p:txBody>
      </p:sp>
      <p:sp>
        <p:nvSpPr>
          <p:cNvPr id="346115" name="Rectangle 3"/>
          <p:cNvSpPr>
            <a:spLocks noGrp="1" noChangeArrowheads="1"/>
          </p:cNvSpPr>
          <p:nvPr>
            <p:ph type="body" idx="1"/>
          </p:nvPr>
        </p:nvSpPr>
        <p:spPr>
          <a:xfrm>
            <a:off x="542925" y="1059583"/>
            <a:ext cx="8401050" cy="3521944"/>
          </a:xfrm>
        </p:spPr>
        <p:txBody>
          <a:bodyPr>
            <a:normAutofit fontScale="85000" lnSpcReduction="20000"/>
          </a:bodyPr>
          <a:lstStyle/>
          <a:p>
            <a:r>
              <a:rPr lang="en-GB" dirty="0"/>
              <a:t>Discovered by Mr. … </a:t>
            </a:r>
            <a:r>
              <a:rPr lang="en-GB" i="1" dirty="0"/>
              <a:t>you can guess</a:t>
            </a:r>
          </a:p>
          <a:p>
            <a:r>
              <a:rPr lang="en-GB" dirty="0"/>
              <a:t>Take the normal value at each vertex, then calculate the colour at that point</a:t>
            </a:r>
          </a:p>
          <a:p>
            <a:r>
              <a:rPr lang="en-GB" dirty="0"/>
              <a:t>Linearly interpolate from one end to the other as we draw</a:t>
            </a:r>
          </a:p>
          <a:p>
            <a:r>
              <a:rPr lang="en-GB" dirty="0"/>
              <a:t>Pro: Looks better, not too bad on CPU/GPU</a:t>
            </a:r>
          </a:p>
          <a:p>
            <a:r>
              <a:rPr lang="en-GB" dirty="0"/>
              <a:t>Con: Low poly count = missed highlights</a:t>
            </a:r>
          </a:p>
          <a:p>
            <a:r>
              <a:rPr lang="en-GB" dirty="0"/>
              <a:t>Note: </a:t>
            </a:r>
            <a:r>
              <a:rPr lang="en-GB" dirty="0" err="1"/>
              <a:t>Gouraud</a:t>
            </a:r>
            <a:r>
              <a:rPr lang="en-GB" dirty="0"/>
              <a:t> is still used for interpolation across the primitive surface (even now in OpenGL 4.5!)</a:t>
            </a:r>
          </a:p>
        </p:txBody>
      </p:sp>
      <p:sp>
        <p:nvSpPr>
          <p:cNvPr id="346116"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6115">
                                            <p:txEl>
                                              <p:pRg st="0" end="0"/>
                                            </p:txEl>
                                          </p:spTgt>
                                        </p:tgtEl>
                                        <p:attrNameLst>
                                          <p:attrName>style.visibility</p:attrName>
                                        </p:attrNameLst>
                                      </p:cBhvr>
                                      <p:to>
                                        <p:strVal val="visible"/>
                                      </p:to>
                                    </p:set>
                                    <p:anim calcmode="discrete" valueType="clr">
                                      <p:cBhvr override="childStyle">
                                        <p:cTn id="7" dur="80"/>
                                        <p:tgtEl>
                                          <p:spTgt spid="34611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611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611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6115">
                                            <p:txEl>
                                              <p:pRg st="1" end="1"/>
                                            </p:txEl>
                                          </p:spTgt>
                                        </p:tgtEl>
                                        <p:attrNameLst>
                                          <p:attrName>style.visibility</p:attrName>
                                        </p:attrNameLst>
                                      </p:cBhvr>
                                      <p:to>
                                        <p:strVal val="visible"/>
                                      </p:to>
                                    </p:set>
                                    <p:anim calcmode="discrete" valueType="clr">
                                      <p:cBhvr override="childStyle">
                                        <p:cTn id="14" dur="80"/>
                                        <p:tgtEl>
                                          <p:spTgt spid="34611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611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6115">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46115">
                                            <p:txEl>
                                              <p:pRg st="2" end="2"/>
                                            </p:txEl>
                                          </p:spTgt>
                                        </p:tgtEl>
                                        <p:attrNameLst>
                                          <p:attrName>style.visibility</p:attrName>
                                        </p:attrNameLst>
                                      </p:cBhvr>
                                      <p:to>
                                        <p:strVal val="visible"/>
                                      </p:to>
                                    </p:set>
                                    <p:anim calcmode="discrete" valueType="clr">
                                      <p:cBhvr override="childStyle">
                                        <p:cTn id="21" dur="80"/>
                                        <p:tgtEl>
                                          <p:spTgt spid="34611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46115">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46115">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346115">
                                            <p:txEl>
                                              <p:pRg st="3" end="3"/>
                                            </p:txEl>
                                          </p:spTgt>
                                        </p:tgtEl>
                                        <p:attrNameLst>
                                          <p:attrName>style.visibility</p:attrName>
                                        </p:attrNameLst>
                                      </p:cBhvr>
                                      <p:to>
                                        <p:strVal val="visible"/>
                                      </p:to>
                                    </p:set>
                                    <p:anim calcmode="discrete" valueType="clr">
                                      <p:cBhvr override="childStyle">
                                        <p:cTn id="28" dur="80"/>
                                        <p:tgtEl>
                                          <p:spTgt spid="34611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46115">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346115">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346115">
                                            <p:txEl>
                                              <p:pRg st="4" end="4"/>
                                            </p:txEl>
                                          </p:spTgt>
                                        </p:tgtEl>
                                        <p:attrNameLst>
                                          <p:attrName>style.visibility</p:attrName>
                                        </p:attrNameLst>
                                      </p:cBhvr>
                                      <p:to>
                                        <p:strVal val="visible"/>
                                      </p:to>
                                    </p:set>
                                    <p:anim calcmode="discrete" valueType="clr">
                                      <p:cBhvr override="childStyle">
                                        <p:cTn id="35" dur="80"/>
                                        <p:tgtEl>
                                          <p:spTgt spid="34611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346115">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346115">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346115">
                                            <p:txEl>
                                              <p:pRg st="5" end="5"/>
                                            </p:txEl>
                                          </p:spTgt>
                                        </p:tgtEl>
                                        <p:attrNameLst>
                                          <p:attrName>style.visibility</p:attrName>
                                        </p:attrNameLst>
                                      </p:cBhvr>
                                      <p:to>
                                        <p:strVal val="visible"/>
                                      </p:to>
                                    </p:set>
                                    <p:anim calcmode="discrete" valueType="clr">
                                      <p:cBhvr override="childStyle">
                                        <p:cTn id="42" dur="80"/>
                                        <p:tgtEl>
                                          <p:spTgt spid="346115">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346115">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346115">
                                            <p:txEl>
                                              <p:pRg st="5" end="5"/>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46116"/>
                                        </p:tgtEl>
                                        <p:attrNameLst>
                                          <p:attrName>style.visibility</p:attrName>
                                        </p:attrNameLst>
                                      </p:cBhvr>
                                      <p:to>
                                        <p:strVal val="visible"/>
                                      </p:to>
                                    </p:set>
                                    <p:animEffect transition="in" filter="fade">
                                      <p:cBhvr>
                                        <p:cTn id="49" dur="500"/>
                                        <p:tgtEl>
                                          <p:spTgt spid="346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p:bldP spid="34611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GB"/>
              <a:t>Phong</a:t>
            </a:r>
          </a:p>
        </p:txBody>
      </p:sp>
      <p:sp>
        <p:nvSpPr>
          <p:cNvPr id="347139" name="Rectangle 3"/>
          <p:cNvSpPr>
            <a:spLocks noGrp="1" noChangeArrowheads="1"/>
          </p:cNvSpPr>
          <p:nvPr>
            <p:ph type="body" idx="1"/>
          </p:nvPr>
        </p:nvSpPr>
        <p:spPr>
          <a:xfrm>
            <a:off x="542925" y="1356123"/>
            <a:ext cx="8401050" cy="3225403"/>
          </a:xfrm>
        </p:spPr>
        <p:txBody>
          <a:bodyPr>
            <a:normAutofit fontScale="92500" lnSpcReduction="20000"/>
          </a:bodyPr>
          <a:lstStyle/>
          <a:p>
            <a:r>
              <a:rPr lang="en-GB" dirty="0"/>
              <a:t>Discovered by Mr. … </a:t>
            </a:r>
            <a:r>
              <a:rPr lang="en-GB" i="1" dirty="0"/>
              <a:t>you can guess</a:t>
            </a:r>
          </a:p>
          <a:p>
            <a:r>
              <a:rPr lang="en-GB" dirty="0"/>
              <a:t>Like </a:t>
            </a:r>
            <a:r>
              <a:rPr lang="en-GB" dirty="0" err="1"/>
              <a:t>Gouraud</a:t>
            </a:r>
            <a:r>
              <a:rPr lang="en-GB" dirty="0"/>
              <a:t>, but instead of interpolating the calculated colour, interpolate the actual normal, then calculate the colour</a:t>
            </a:r>
          </a:p>
          <a:p>
            <a:r>
              <a:rPr lang="en-GB" dirty="0"/>
              <a:t>Pro: Looks much better than </a:t>
            </a:r>
            <a:r>
              <a:rPr lang="en-GB" dirty="0" err="1"/>
              <a:t>Gouraud</a:t>
            </a:r>
            <a:endParaRPr lang="en-GB" dirty="0"/>
          </a:p>
          <a:p>
            <a:r>
              <a:rPr lang="en-GB" dirty="0"/>
              <a:t>Con: Expensive (</a:t>
            </a:r>
            <a:r>
              <a:rPr lang="en-GB" b="1" i="1" dirty="0"/>
              <a:t>not </a:t>
            </a:r>
            <a:r>
              <a:rPr lang="en-GB" dirty="0"/>
              <a:t>implemented in the fixed function </a:t>
            </a:r>
            <a:r>
              <a:rPr lang="en-GB" dirty="0" err="1"/>
              <a:t>shader</a:t>
            </a:r>
            <a:r>
              <a:rPr lang="en-GB" dirty="0"/>
              <a:t>, for example, but commonplace in </a:t>
            </a:r>
            <a:r>
              <a:rPr lang="en-GB" dirty="0" err="1"/>
              <a:t>shader</a:t>
            </a:r>
            <a:r>
              <a:rPr lang="en-GB" dirty="0"/>
              <a:t> based lighting)</a:t>
            </a:r>
          </a:p>
        </p:txBody>
      </p:sp>
      <p:sp>
        <p:nvSpPr>
          <p:cNvPr id="34714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7139">
                                            <p:txEl>
                                              <p:pRg st="0" end="0"/>
                                            </p:txEl>
                                          </p:spTgt>
                                        </p:tgtEl>
                                        <p:attrNameLst>
                                          <p:attrName>style.visibility</p:attrName>
                                        </p:attrNameLst>
                                      </p:cBhvr>
                                      <p:to>
                                        <p:strVal val="visible"/>
                                      </p:to>
                                    </p:set>
                                    <p:anim calcmode="discrete" valueType="clr">
                                      <p:cBhvr override="childStyle">
                                        <p:cTn id="7" dur="80"/>
                                        <p:tgtEl>
                                          <p:spTgt spid="34713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713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7139">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7139">
                                            <p:txEl>
                                              <p:pRg st="1" end="1"/>
                                            </p:txEl>
                                          </p:spTgt>
                                        </p:tgtEl>
                                        <p:attrNameLst>
                                          <p:attrName>style.visibility</p:attrName>
                                        </p:attrNameLst>
                                      </p:cBhvr>
                                      <p:to>
                                        <p:strVal val="visible"/>
                                      </p:to>
                                    </p:set>
                                    <p:anim calcmode="discrete" valueType="clr">
                                      <p:cBhvr override="childStyle">
                                        <p:cTn id="14" dur="80"/>
                                        <p:tgtEl>
                                          <p:spTgt spid="34713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7139">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7139">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47139">
                                            <p:txEl>
                                              <p:pRg st="2" end="2"/>
                                            </p:txEl>
                                          </p:spTgt>
                                        </p:tgtEl>
                                        <p:attrNameLst>
                                          <p:attrName>style.visibility</p:attrName>
                                        </p:attrNameLst>
                                      </p:cBhvr>
                                      <p:to>
                                        <p:strVal val="visible"/>
                                      </p:to>
                                    </p:set>
                                    <p:anim calcmode="discrete" valueType="clr">
                                      <p:cBhvr override="childStyle">
                                        <p:cTn id="21" dur="80"/>
                                        <p:tgtEl>
                                          <p:spTgt spid="34713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47139">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47139">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347139">
                                            <p:txEl>
                                              <p:pRg st="3" end="3"/>
                                            </p:txEl>
                                          </p:spTgt>
                                        </p:tgtEl>
                                        <p:attrNameLst>
                                          <p:attrName>style.visibility</p:attrName>
                                        </p:attrNameLst>
                                      </p:cBhvr>
                                      <p:to>
                                        <p:strVal val="visible"/>
                                      </p:to>
                                    </p:set>
                                    <p:anim calcmode="discrete" valueType="clr">
                                      <p:cBhvr override="childStyle">
                                        <p:cTn id="28" dur="80"/>
                                        <p:tgtEl>
                                          <p:spTgt spid="34713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47139">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347139">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47140"/>
                                        </p:tgtEl>
                                        <p:attrNameLst>
                                          <p:attrName>style.visibility</p:attrName>
                                        </p:attrNameLst>
                                      </p:cBhvr>
                                      <p:to>
                                        <p:strVal val="visible"/>
                                      </p:to>
                                    </p:set>
                                    <p:animEffect transition="in" filter="fade">
                                      <p:cBhvr>
                                        <p:cTn id="35" dur="500"/>
                                        <p:tgtEl>
                                          <p:spTgt spid="347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p:bldP spid="34714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GB" dirty="0" err="1"/>
              <a:t>Blinn-Phong</a:t>
            </a:r>
            <a:endParaRPr lang="en-GB" dirty="0"/>
          </a:p>
        </p:txBody>
      </p:sp>
      <p:sp>
        <p:nvSpPr>
          <p:cNvPr id="347139" name="Rectangle 3"/>
          <p:cNvSpPr>
            <a:spLocks noGrp="1" noChangeArrowheads="1"/>
          </p:cNvSpPr>
          <p:nvPr>
            <p:ph type="body" idx="1"/>
          </p:nvPr>
        </p:nvSpPr>
        <p:spPr>
          <a:xfrm>
            <a:off x="542925" y="1356123"/>
            <a:ext cx="8401050" cy="3225403"/>
          </a:xfrm>
        </p:spPr>
        <p:txBody>
          <a:bodyPr>
            <a:normAutofit/>
          </a:bodyPr>
          <a:lstStyle/>
          <a:p>
            <a:r>
              <a:rPr lang="en-GB" dirty="0"/>
              <a:t>An optimization of </a:t>
            </a:r>
            <a:r>
              <a:rPr lang="en-GB" dirty="0" err="1"/>
              <a:t>Phong</a:t>
            </a:r>
            <a:r>
              <a:rPr lang="en-GB" dirty="0"/>
              <a:t>, where part of the calculation is reused or interpolated (rather than calculated per pixel fragment)</a:t>
            </a:r>
          </a:p>
          <a:p>
            <a:r>
              <a:rPr lang="en-GB" dirty="0"/>
              <a:t>Can be faster</a:t>
            </a:r>
          </a:p>
          <a:p>
            <a:r>
              <a:rPr lang="en-GB" dirty="0"/>
              <a:t>Almost the same look, but may have to increase the </a:t>
            </a:r>
            <a:r>
              <a:rPr lang="en-GB" dirty="0" err="1"/>
              <a:t>specular</a:t>
            </a:r>
            <a:r>
              <a:rPr lang="en-GB" dirty="0"/>
              <a:t> value to get similar looking results</a:t>
            </a:r>
          </a:p>
        </p:txBody>
      </p:sp>
      <p:sp>
        <p:nvSpPr>
          <p:cNvPr id="347140"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7139">
                                            <p:txEl>
                                              <p:pRg st="0" end="0"/>
                                            </p:txEl>
                                          </p:spTgt>
                                        </p:tgtEl>
                                        <p:attrNameLst>
                                          <p:attrName>style.visibility</p:attrName>
                                        </p:attrNameLst>
                                      </p:cBhvr>
                                      <p:to>
                                        <p:strVal val="visible"/>
                                      </p:to>
                                    </p:set>
                                    <p:anim calcmode="discrete" valueType="clr">
                                      <p:cBhvr override="childStyle">
                                        <p:cTn id="7" dur="80"/>
                                        <p:tgtEl>
                                          <p:spTgt spid="34713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713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7139">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7139">
                                            <p:txEl>
                                              <p:pRg st="1" end="1"/>
                                            </p:txEl>
                                          </p:spTgt>
                                        </p:tgtEl>
                                        <p:attrNameLst>
                                          <p:attrName>style.visibility</p:attrName>
                                        </p:attrNameLst>
                                      </p:cBhvr>
                                      <p:to>
                                        <p:strVal val="visible"/>
                                      </p:to>
                                    </p:set>
                                    <p:anim calcmode="discrete" valueType="clr">
                                      <p:cBhvr override="childStyle">
                                        <p:cTn id="14" dur="80"/>
                                        <p:tgtEl>
                                          <p:spTgt spid="34713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7139">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7139">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47139">
                                            <p:txEl>
                                              <p:pRg st="2" end="2"/>
                                            </p:txEl>
                                          </p:spTgt>
                                        </p:tgtEl>
                                        <p:attrNameLst>
                                          <p:attrName>style.visibility</p:attrName>
                                        </p:attrNameLst>
                                      </p:cBhvr>
                                      <p:to>
                                        <p:strVal val="visible"/>
                                      </p:to>
                                    </p:set>
                                    <p:anim calcmode="discrete" valueType="clr">
                                      <p:cBhvr override="childStyle">
                                        <p:cTn id="21" dur="80"/>
                                        <p:tgtEl>
                                          <p:spTgt spid="34713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47139">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47139">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47140"/>
                                        </p:tgtEl>
                                        <p:attrNameLst>
                                          <p:attrName>style.visibility</p:attrName>
                                        </p:attrNameLst>
                                      </p:cBhvr>
                                      <p:to>
                                        <p:strVal val="visible"/>
                                      </p:to>
                                    </p:set>
                                    <p:animEffect transition="in" filter="fade">
                                      <p:cBhvr>
                                        <p:cTn id="28" dur="500"/>
                                        <p:tgtEl>
                                          <p:spTgt spid="347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p:bldP spid="34714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r>
              <a:rPr lang="en-GB" dirty="0"/>
              <a:t>Z/depth buffer</a:t>
            </a:r>
          </a:p>
        </p:txBody>
      </p:sp>
      <p:sp>
        <p:nvSpPr>
          <p:cNvPr id="348163" name="Rectangle 3"/>
          <p:cNvSpPr>
            <a:spLocks noGrp="1" noChangeArrowheads="1"/>
          </p:cNvSpPr>
          <p:nvPr>
            <p:ph type="body" idx="1"/>
          </p:nvPr>
        </p:nvSpPr>
        <p:spPr>
          <a:xfrm>
            <a:off x="511175" y="1356123"/>
            <a:ext cx="8504238" cy="3225403"/>
          </a:xfrm>
        </p:spPr>
        <p:txBody>
          <a:bodyPr>
            <a:normAutofit fontScale="92500" lnSpcReduction="20000"/>
          </a:bodyPr>
          <a:lstStyle/>
          <a:p>
            <a:r>
              <a:rPr lang="en-GB" sz="2800" dirty="0"/>
              <a:t>As the triangles are drawn, the render needs to determine which triangles are in front of other ones. </a:t>
            </a:r>
          </a:p>
          <a:p>
            <a:r>
              <a:rPr lang="en-GB" sz="2800" dirty="0"/>
              <a:t>This is quite complex. </a:t>
            </a:r>
          </a:p>
          <a:p>
            <a:r>
              <a:rPr lang="en-GB" sz="2800" dirty="0"/>
              <a:t>We could draw from back to front</a:t>
            </a:r>
          </a:p>
          <a:p>
            <a:pPr lvl="1"/>
            <a:r>
              <a:rPr lang="en-GB" sz="2400" dirty="0"/>
              <a:t>But this is quite complex, too (see above)</a:t>
            </a:r>
          </a:p>
          <a:p>
            <a:r>
              <a:rPr lang="en-GB" sz="2800" dirty="0"/>
              <a:t>Or we could store the </a:t>
            </a:r>
            <a:r>
              <a:rPr lang="en-GB" sz="2800" b="1" i="1" dirty="0"/>
              <a:t>Z location</a:t>
            </a:r>
            <a:r>
              <a:rPr lang="en-GB" sz="2800" dirty="0"/>
              <a:t> (depth) for each </a:t>
            </a:r>
            <a:r>
              <a:rPr lang="en-GB" sz="2800" b="1" i="1" dirty="0"/>
              <a:t>pixel</a:t>
            </a:r>
            <a:r>
              <a:rPr lang="en-GB" sz="2800" dirty="0"/>
              <a:t> and only overwrite if the </a:t>
            </a:r>
            <a:r>
              <a:rPr lang="en-GB" sz="2800" b="1" i="1" dirty="0"/>
              <a:t>pixel</a:t>
            </a:r>
            <a:r>
              <a:rPr lang="en-GB" sz="2800" dirty="0"/>
              <a:t> is closer</a:t>
            </a:r>
          </a:p>
          <a:p>
            <a:r>
              <a:rPr lang="en-GB" sz="2800" dirty="0"/>
              <a:t>This is a Z-buffer</a:t>
            </a:r>
          </a:p>
        </p:txBody>
      </p:sp>
      <p:sp>
        <p:nvSpPr>
          <p:cNvPr id="348164" name="AutoShape 4"/>
          <p:cNvSpPr>
            <a:spLocks noChangeArrowheads="1"/>
          </p:cNvSpPr>
          <p:nvPr/>
        </p:nvSpPr>
        <p:spPr bwMode="auto">
          <a:xfrm>
            <a:off x="8534400" y="4800600"/>
            <a:ext cx="609600" cy="342900"/>
          </a:xfrm>
          <a:prstGeom prst="rightArrow">
            <a:avLst>
              <a:gd name="adj1" fmla="val 50000"/>
              <a:gd name="adj2" fmla="val 33333"/>
            </a:avLst>
          </a:prstGeom>
          <a:noFill/>
          <a:ln w="19050">
            <a:solidFill>
              <a:srgbClr val="969696"/>
            </a:solidFill>
            <a:miter lim="800000"/>
            <a:headEnd/>
            <a:tailEnd/>
          </a:ln>
          <a:effectLst/>
        </p:spPr>
        <p:txBody>
          <a:bodyPr wrap="none" anchor="ctr"/>
          <a:lstStyle/>
          <a:p>
            <a:endParaRPr lang="en-CA"/>
          </a:p>
        </p:txBody>
      </p:sp>
      <p:sp>
        <p:nvSpPr>
          <p:cNvPr id="348165" name="AutoShape 5"/>
          <p:cNvSpPr>
            <a:spLocks noChangeArrowheads="1"/>
          </p:cNvSpPr>
          <p:nvPr/>
        </p:nvSpPr>
        <p:spPr bwMode="auto">
          <a:xfrm>
            <a:off x="5270500" y="325041"/>
            <a:ext cx="1684338" cy="878681"/>
          </a:xfrm>
          <a:prstGeom prst="triangle">
            <a:avLst>
              <a:gd name="adj" fmla="val 50000"/>
            </a:avLst>
          </a:prstGeom>
          <a:solidFill>
            <a:srgbClr val="FF0000"/>
          </a:solidFill>
          <a:ln w="9525">
            <a:solidFill>
              <a:schemeClr val="tx1"/>
            </a:solidFill>
            <a:miter lim="800000"/>
            <a:headEnd/>
            <a:tailEnd/>
          </a:ln>
          <a:effectLst/>
        </p:spPr>
        <p:txBody>
          <a:bodyPr wrap="none" anchor="ctr"/>
          <a:lstStyle/>
          <a:p>
            <a:endParaRPr lang="en-CA"/>
          </a:p>
        </p:txBody>
      </p:sp>
      <p:sp>
        <p:nvSpPr>
          <p:cNvPr id="348166" name="AutoShape 6"/>
          <p:cNvSpPr>
            <a:spLocks noChangeArrowheads="1"/>
          </p:cNvSpPr>
          <p:nvPr/>
        </p:nvSpPr>
        <p:spPr bwMode="auto">
          <a:xfrm rot="-2588695">
            <a:off x="6072188" y="198835"/>
            <a:ext cx="1466850" cy="829865"/>
          </a:xfrm>
          <a:prstGeom prst="triangle">
            <a:avLst>
              <a:gd name="adj" fmla="val 50000"/>
            </a:avLst>
          </a:prstGeom>
          <a:solidFill>
            <a:srgbClr val="FFFF00"/>
          </a:solidFill>
          <a:ln w="9525">
            <a:solidFill>
              <a:schemeClr val="tx1"/>
            </a:solidFill>
            <a:miter lim="800000"/>
            <a:headEnd/>
            <a:tailEnd/>
          </a:ln>
          <a:effectLst/>
        </p:spPr>
        <p:txBody>
          <a:bodyPr wrap="none" anchor="ctr"/>
          <a:lstStyle/>
          <a:p>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48163">
                                            <p:txEl>
                                              <p:pRg st="0" end="0"/>
                                            </p:txEl>
                                          </p:spTgt>
                                        </p:tgtEl>
                                        <p:attrNameLst>
                                          <p:attrName>style.visibility</p:attrName>
                                        </p:attrNameLst>
                                      </p:cBhvr>
                                      <p:to>
                                        <p:strVal val="visible"/>
                                      </p:to>
                                    </p:set>
                                    <p:anim calcmode="discrete" valueType="clr">
                                      <p:cBhvr override="childStyle">
                                        <p:cTn id="7" dur="80"/>
                                        <p:tgtEl>
                                          <p:spTgt spid="34816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4816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4816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8163">
                                            <p:txEl>
                                              <p:pRg st="1" end="1"/>
                                            </p:txEl>
                                          </p:spTgt>
                                        </p:tgtEl>
                                        <p:attrNameLst>
                                          <p:attrName>style.visibility</p:attrName>
                                        </p:attrNameLst>
                                      </p:cBhvr>
                                      <p:to>
                                        <p:strVal val="visible"/>
                                      </p:to>
                                    </p:set>
                                    <p:anim calcmode="discrete" valueType="clr">
                                      <p:cBhvr override="childStyle">
                                        <p:cTn id="14" dur="80"/>
                                        <p:tgtEl>
                                          <p:spTgt spid="34816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48163">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48163">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48165"/>
                                        </p:tgtEl>
                                        <p:attrNameLst>
                                          <p:attrName>style.visibility</p:attrName>
                                        </p:attrNameLst>
                                      </p:cBhvr>
                                      <p:to>
                                        <p:strVal val="visible"/>
                                      </p:to>
                                    </p:set>
                                    <p:animEffect transition="in" filter="checkerboard(across)">
                                      <p:cBhvr>
                                        <p:cTn id="21" dur="500"/>
                                        <p:tgtEl>
                                          <p:spTgt spid="348165"/>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48166"/>
                                        </p:tgtEl>
                                        <p:attrNameLst>
                                          <p:attrName>style.visibility</p:attrName>
                                        </p:attrNameLst>
                                      </p:cBhvr>
                                      <p:to>
                                        <p:strVal val="visible"/>
                                      </p:to>
                                    </p:set>
                                    <p:animEffect transition="in" filter="checkerboard(across)">
                                      <p:cBhvr>
                                        <p:cTn id="24" dur="500"/>
                                        <p:tgtEl>
                                          <p:spTgt spid="348166"/>
                                        </p:tgtEl>
                                      </p:cBhvr>
                                    </p:animEffec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348163">
                                            <p:txEl>
                                              <p:pRg st="2" end="2"/>
                                            </p:txEl>
                                          </p:spTgt>
                                        </p:tgtEl>
                                        <p:attrNameLst>
                                          <p:attrName>style.visibility</p:attrName>
                                        </p:attrNameLst>
                                      </p:cBhvr>
                                      <p:to>
                                        <p:strVal val="visible"/>
                                      </p:to>
                                    </p:set>
                                    <p:anim calcmode="discrete" valueType="clr">
                                      <p:cBhvr override="childStyle">
                                        <p:cTn id="29" dur="80"/>
                                        <p:tgtEl>
                                          <p:spTgt spid="34816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348163">
                                            <p:txEl>
                                              <p:pRg st="2" end="2"/>
                                            </p:txEl>
                                          </p:spTgt>
                                        </p:tgtEl>
                                        <p:attrNameLst>
                                          <p:attrName>fillcolor</p:attrName>
                                        </p:attrNameLst>
                                      </p:cBhvr>
                                      <p:tavLst>
                                        <p:tav tm="0">
                                          <p:val>
                                            <p:clrVal>
                                              <a:schemeClr val="accent2"/>
                                            </p:clrVal>
                                          </p:val>
                                        </p:tav>
                                        <p:tav tm="50000">
                                          <p:val>
                                            <p:clrVal>
                                              <a:schemeClr val="hlink"/>
                                            </p:clrVal>
                                          </p:val>
                                        </p:tav>
                                      </p:tavLst>
                                    </p:anim>
                                    <p:set>
                                      <p:cBhvr>
                                        <p:cTn id="31" dur="80"/>
                                        <p:tgtEl>
                                          <p:spTgt spid="348163">
                                            <p:txEl>
                                              <p:pRg st="2" end="2"/>
                                            </p:txEl>
                                          </p:spTgt>
                                        </p:tgtEl>
                                        <p:attrNameLst>
                                          <p:attrName>fill.type</p:attrName>
                                        </p:attrNameLst>
                                      </p:cBhvr>
                                      <p:to>
                                        <p:strVal val="solid"/>
                                      </p:to>
                                    </p:se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348163">
                                            <p:txEl>
                                              <p:pRg st="3" end="3"/>
                                            </p:txEl>
                                          </p:spTgt>
                                        </p:tgtEl>
                                        <p:attrNameLst>
                                          <p:attrName>style.visibility</p:attrName>
                                        </p:attrNameLst>
                                      </p:cBhvr>
                                      <p:to>
                                        <p:strVal val="visible"/>
                                      </p:to>
                                    </p:set>
                                    <p:anim calcmode="discrete" valueType="clr">
                                      <p:cBhvr override="childStyle">
                                        <p:cTn id="36" dur="80"/>
                                        <p:tgtEl>
                                          <p:spTgt spid="34816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348163">
                                            <p:txEl>
                                              <p:pRg st="3" end="3"/>
                                            </p:txEl>
                                          </p:spTgt>
                                        </p:tgtEl>
                                        <p:attrNameLst>
                                          <p:attrName>fillcolor</p:attrName>
                                        </p:attrNameLst>
                                      </p:cBhvr>
                                      <p:tavLst>
                                        <p:tav tm="0">
                                          <p:val>
                                            <p:clrVal>
                                              <a:schemeClr val="accent2"/>
                                            </p:clrVal>
                                          </p:val>
                                        </p:tav>
                                        <p:tav tm="50000">
                                          <p:val>
                                            <p:clrVal>
                                              <a:schemeClr val="hlink"/>
                                            </p:clrVal>
                                          </p:val>
                                        </p:tav>
                                      </p:tavLst>
                                    </p:anim>
                                    <p:set>
                                      <p:cBhvr>
                                        <p:cTn id="38" dur="80"/>
                                        <p:tgtEl>
                                          <p:spTgt spid="348163">
                                            <p:txEl>
                                              <p:pRg st="3" end="3"/>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grpId="0" nodeType="clickEffect">
                                  <p:stCondLst>
                                    <p:cond delay="0"/>
                                  </p:stCondLst>
                                  <p:iterate type="lt">
                                    <p:tmPct val="50000"/>
                                  </p:iterate>
                                  <p:childTnLst>
                                    <p:set>
                                      <p:cBhvr>
                                        <p:cTn id="42" dur="1" fill="hold">
                                          <p:stCondLst>
                                            <p:cond delay="0"/>
                                          </p:stCondLst>
                                        </p:cTn>
                                        <p:tgtEl>
                                          <p:spTgt spid="348163">
                                            <p:txEl>
                                              <p:pRg st="4" end="4"/>
                                            </p:txEl>
                                          </p:spTgt>
                                        </p:tgtEl>
                                        <p:attrNameLst>
                                          <p:attrName>style.visibility</p:attrName>
                                        </p:attrNameLst>
                                      </p:cBhvr>
                                      <p:to>
                                        <p:strVal val="visible"/>
                                      </p:to>
                                    </p:set>
                                    <p:anim calcmode="discrete" valueType="clr">
                                      <p:cBhvr override="childStyle">
                                        <p:cTn id="43" dur="80"/>
                                        <p:tgtEl>
                                          <p:spTgt spid="34816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348163">
                                            <p:txEl>
                                              <p:pRg st="4" end="4"/>
                                            </p:txEl>
                                          </p:spTgt>
                                        </p:tgtEl>
                                        <p:attrNameLst>
                                          <p:attrName>fillcolor</p:attrName>
                                        </p:attrNameLst>
                                      </p:cBhvr>
                                      <p:tavLst>
                                        <p:tav tm="0">
                                          <p:val>
                                            <p:clrVal>
                                              <a:schemeClr val="accent2"/>
                                            </p:clrVal>
                                          </p:val>
                                        </p:tav>
                                        <p:tav tm="50000">
                                          <p:val>
                                            <p:clrVal>
                                              <a:schemeClr val="hlink"/>
                                            </p:clrVal>
                                          </p:val>
                                        </p:tav>
                                      </p:tavLst>
                                    </p:anim>
                                    <p:set>
                                      <p:cBhvr>
                                        <p:cTn id="45" dur="80"/>
                                        <p:tgtEl>
                                          <p:spTgt spid="348163">
                                            <p:txEl>
                                              <p:pRg st="4" end="4"/>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27" presetClass="entr" presetSubtype="0" fill="hold" grpId="0" nodeType="clickEffect">
                                  <p:stCondLst>
                                    <p:cond delay="0"/>
                                  </p:stCondLst>
                                  <p:iterate type="lt">
                                    <p:tmPct val="50000"/>
                                  </p:iterate>
                                  <p:childTnLst>
                                    <p:set>
                                      <p:cBhvr>
                                        <p:cTn id="49" dur="1" fill="hold">
                                          <p:stCondLst>
                                            <p:cond delay="0"/>
                                          </p:stCondLst>
                                        </p:cTn>
                                        <p:tgtEl>
                                          <p:spTgt spid="348163">
                                            <p:txEl>
                                              <p:pRg st="5" end="5"/>
                                            </p:txEl>
                                          </p:spTgt>
                                        </p:tgtEl>
                                        <p:attrNameLst>
                                          <p:attrName>style.visibility</p:attrName>
                                        </p:attrNameLst>
                                      </p:cBhvr>
                                      <p:to>
                                        <p:strVal val="visible"/>
                                      </p:to>
                                    </p:set>
                                    <p:anim calcmode="discrete" valueType="clr">
                                      <p:cBhvr override="childStyle">
                                        <p:cTn id="50" dur="80"/>
                                        <p:tgtEl>
                                          <p:spTgt spid="348163">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348163">
                                            <p:txEl>
                                              <p:pRg st="5" end="5"/>
                                            </p:txEl>
                                          </p:spTgt>
                                        </p:tgtEl>
                                        <p:attrNameLst>
                                          <p:attrName>fillcolor</p:attrName>
                                        </p:attrNameLst>
                                      </p:cBhvr>
                                      <p:tavLst>
                                        <p:tav tm="0">
                                          <p:val>
                                            <p:clrVal>
                                              <a:schemeClr val="accent2"/>
                                            </p:clrVal>
                                          </p:val>
                                        </p:tav>
                                        <p:tav tm="50000">
                                          <p:val>
                                            <p:clrVal>
                                              <a:schemeClr val="hlink"/>
                                            </p:clrVal>
                                          </p:val>
                                        </p:tav>
                                      </p:tavLst>
                                    </p:anim>
                                    <p:set>
                                      <p:cBhvr>
                                        <p:cTn id="52" dur="80"/>
                                        <p:tgtEl>
                                          <p:spTgt spid="348163">
                                            <p:txEl>
                                              <p:pRg st="5" end="5"/>
                                            </p:txEl>
                                          </p:spTgt>
                                        </p:tgtEl>
                                        <p:attrNameLst>
                                          <p:attrName>fill.type</p:attrName>
                                        </p:attrNameLst>
                                      </p:cBhvr>
                                      <p:to>
                                        <p:strVal val="solid"/>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48164"/>
                                        </p:tgtEl>
                                        <p:attrNameLst>
                                          <p:attrName>style.visibility</p:attrName>
                                        </p:attrNameLst>
                                      </p:cBhvr>
                                      <p:to>
                                        <p:strVal val="visible"/>
                                      </p:to>
                                    </p:set>
                                    <p:animEffect transition="in" filter="fade">
                                      <p:cBhvr>
                                        <p:cTn id="57" dur="500"/>
                                        <p:tgtEl>
                                          <p:spTgt spid="348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p:bldP spid="348164" grpId="0" animBg="1"/>
      <p:bldP spid="348165" grpId="0" animBg="1"/>
      <p:bldP spid="34816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275856" y="4227934"/>
            <a:ext cx="5688632" cy="774192"/>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CA" sz="4000" b="0" i="0" u="none" strike="noStrike" kern="1200" cap="none" spc="-150" normalizeH="0" baseline="0" noProof="0" dirty="0">
                <a:ln>
                  <a:noFill/>
                </a:ln>
                <a:solidFill>
                  <a:schemeClr val="tx2">
                    <a:satMod val="200000"/>
                  </a:schemeClr>
                </a:solidFill>
                <a:effectLst>
                  <a:outerShdw blurRad="50800" dist="50800" dir="2700000" algn="tl" rotWithShape="0">
                    <a:srgbClr val="000000">
                      <a:alpha val="43137"/>
                    </a:srgbClr>
                  </a:outerShdw>
                </a:effectLst>
                <a:uLnTx/>
                <a:uFillTx/>
                <a:latin typeface="+mj-lt"/>
                <a:ea typeface="+mj-ea"/>
                <a:cs typeface="+mj-cs"/>
              </a:rPr>
              <a:t>The adventure continues...</a:t>
            </a:r>
          </a:p>
        </p:txBody>
      </p:sp>
      <p:pic>
        <p:nvPicPr>
          <p:cNvPr id="6" name="Picture 2" descr="http://www.inquirelive.co.uk/wp-content/uploads/2014/07/adventure-time.png"/>
          <p:cNvPicPr>
            <a:picLocks noChangeAspect="1" noChangeArrowheads="1"/>
          </p:cNvPicPr>
          <p:nvPr/>
        </p:nvPicPr>
        <p:blipFill>
          <a:blip r:embed="rId2" cstate="print"/>
          <a:srcRect/>
          <a:stretch>
            <a:fillRect/>
          </a:stretch>
        </p:blipFill>
        <p:spPr bwMode="auto">
          <a:xfrm>
            <a:off x="2123728" y="123478"/>
            <a:ext cx="4968552" cy="4083873"/>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roducingPowerPoint2007">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53000"/>
                <a:satMod val="200000"/>
              </a:schemeClr>
              <a:schemeClr val="phClr">
                <a:tint val="78000"/>
                <a:satMod val="230000"/>
              </a:schemeClr>
            </a:duotone>
          </a:blip>
          <a:tile tx="0" ty="0" sx="90000" sy="9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IntroducingPowerPoint2007</Template>
  <TotalTime>0</TotalTime>
  <Words>3291</Words>
  <Application>Microsoft Office PowerPoint</Application>
  <PresentationFormat>On-screen Show (16:9)</PresentationFormat>
  <Paragraphs>525</Paragraphs>
  <Slides>79</Slides>
  <Notes>27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79</vt:i4>
      </vt:variant>
    </vt:vector>
  </HeadingPairs>
  <TitlesOfParts>
    <vt:vector size="91" baseType="lpstr">
      <vt:lpstr>Arial</vt:lpstr>
      <vt:lpstr>Arial Black</vt:lpstr>
      <vt:lpstr>Calibri</vt:lpstr>
      <vt:lpstr>Corbel</vt:lpstr>
      <vt:lpstr>Courier New</vt:lpstr>
      <vt:lpstr>Impact</vt:lpstr>
      <vt:lpstr>Tahoma</vt:lpstr>
      <vt:lpstr>Times New Roman</vt:lpstr>
      <vt:lpstr>Wingdings</vt:lpstr>
      <vt:lpstr>Wingdings 2</vt:lpstr>
      <vt:lpstr>Wingdings 3</vt:lpstr>
      <vt:lpstr>IntroducingPowerPoint2007</vt:lpstr>
      <vt:lpstr>INFO3111: C++ Graphics</vt:lpstr>
      <vt:lpstr>PowerPoint Presentation</vt:lpstr>
      <vt:lpstr>Something to remember:</vt:lpstr>
      <vt:lpstr>PowerPoint Presentation</vt:lpstr>
      <vt:lpstr>4 Types of lights*</vt:lpstr>
      <vt:lpstr>PowerPoint Presentation</vt:lpstr>
      <vt:lpstr>Ambient (reflection)</vt:lpstr>
      <vt:lpstr>Ambient</vt:lpstr>
      <vt:lpstr>Ambient</vt:lpstr>
      <vt:lpstr>Ambient</vt:lpstr>
      <vt:lpstr>Ambient light in graphics</vt:lpstr>
      <vt:lpstr>Diffuse (reflection)</vt:lpstr>
      <vt:lpstr>Diffuse (reflection)</vt:lpstr>
      <vt:lpstr>Diffuse and Ambient</vt:lpstr>
      <vt:lpstr>Specular</vt:lpstr>
      <vt:lpstr>Extreme case: Jerk kid with LASER*</vt:lpstr>
      <vt:lpstr>Extreme case: Jerk kid with LASER*</vt:lpstr>
      <vt:lpstr>Extreme case: Jerk kid with LASER</vt:lpstr>
      <vt:lpstr>Now, instead of LASER, is flashlight...</vt:lpstr>
      <vt:lpstr>PowerPoint Presentation</vt:lpstr>
      <vt:lpstr>Now, instead of LASER, is flashlight...</vt:lpstr>
      <vt:lpstr>LASER v Flashlight: what’s the difference???</vt:lpstr>
      <vt:lpstr>PowerPoint Presentation</vt:lpstr>
      <vt:lpstr>PowerPoint Presentation</vt:lpstr>
      <vt:lpstr>PowerPoint Presentation</vt:lpstr>
      <vt:lpstr>Normal</vt:lpstr>
      <vt:lpstr>Specular</vt:lpstr>
      <vt:lpstr>Specular</vt:lpstr>
      <vt:lpstr>Emissive</vt:lpstr>
      <vt:lpstr>Emissive</vt:lpstr>
      <vt:lpstr>PowerPoint Presentation</vt:lpstr>
      <vt:lpstr>PowerPoint Presentation</vt:lpstr>
      <vt:lpstr>PowerPoint Presentation</vt:lpstr>
      <vt:lpstr>PowerPoint Presentation</vt:lpstr>
      <vt:lpstr>PowerPoint Presentation</vt:lpstr>
      <vt:lpstr>Now, OpenGL (or DirectX)</vt:lpstr>
      <vt:lpstr>Ambient:</vt:lpstr>
      <vt:lpstr>Basic lights: Directional:</vt:lpstr>
      <vt:lpstr>Basic lights: Point:</vt:lpstr>
      <vt:lpstr>Basic lights: Spot:</vt:lpstr>
      <vt:lpstr>Material (aka “fancy colour”):</vt:lpstr>
      <vt:lpstr>Cross and dot product</vt:lpstr>
      <vt:lpstr>Cross Product</vt:lpstr>
      <vt:lpstr>Cross Product</vt:lpstr>
      <vt:lpstr>Cross Product</vt:lpstr>
      <vt:lpstr>Dot product</vt:lpstr>
      <vt:lpstr>Dot product</vt:lpstr>
      <vt:lpstr>Dot product</vt:lpstr>
      <vt:lpstr>The bunny</vt:lpstr>
      <vt:lpstr>The bunny</vt:lpstr>
      <vt:lpstr>The bunny: correct</vt:lpstr>
      <vt:lpstr>PowerPoint Presentation</vt:lpstr>
      <vt:lpstr>Turning on lighting</vt:lpstr>
      <vt:lpstr>PowerPoint Presentation</vt:lpstr>
      <vt:lpstr>What’s wrong?</vt:lpstr>
      <vt:lpstr>How to calculate?</vt:lpstr>
      <vt:lpstr>How to calculate?</vt:lpstr>
      <vt:lpstr>“Identity” matrix and “normalization”</vt:lpstr>
      <vt:lpstr>“Identity” matrix and “normalization”</vt:lpstr>
      <vt:lpstr>“Identity” matrix and “normalization”</vt:lpstr>
      <vt:lpstr>Vertex normal</vt:lpstr>
      <vt:lpstr>PowerPoint Presentation</vt:lpstr>
      <vt:lpstr>Normal calculation  (good enough for rock-n-roll)</vt:lpstr>
      <vt:lpstr>Normal calculation  (good enough for rock-n-roll)</vt:lpstr>
      <vt:lpstr>PowerPoint Presentation</vt:lpstr>
      <vt:lpstr>Vector math</vt:lpstr>
      <vt:lpstr>PowerPoint Presentation</vt:lpstr>
      <vt:lpstr>PowerPoint Presentation</vt:lpstr>
      <vt:lpstr>Vector math</vt:lpstr>
      <vt:lpstr>Vector math</vt:lpstr>
      <vt:lpstr>Normal calculation (A better way)</vt:lpstr>
      <vt:lpstr>PowerPoint Presentation</vt:lpstr>
      <vt:lpstr>Shading</vt:lpstr>
      <vt:lpstr>Flat</vt:lpstr>
      <vt:lpstr>Gouraud</vt:lpstr>
      <vt:lpstr>Phong</vt:lpstr>
      <vt:lpstr>Blinn-Phong</vt:lpstr>
      <vt:lpstr>Z/depth buffer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2011-05-11T12:50:12Z</dcterms:created>
  <dcterms:modified xsi:type="dcterms:W3CDTF">2025-07-10T20:42:04Z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